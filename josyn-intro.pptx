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3" r:id="rId2"/>
    <p:sldId id="271" r:id="rId3"/>
    <p:sldId id="272" r:id="rId4"/>
    <p:sldId id="260" r:id="rId5"/>
    <p:sldId id="274" r:id="rId6"/>
    <p:sldId id="275" r:id="rId7"/>
    <p:sldId id="276" r:id="rId8"/>
    <p:sldId id="278" r:id="rId9"/>
    <p:sldId id="270" r:id="rId10"/>
    <p:sldId id="277" r:id="rId11"/>
    <p:sldId id="269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07D"/>
    <a:srgbClr val="FF99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24" y="13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D503C-CB4E-47D2-854F-034286D1EDEF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F3282-AC7F-4F04-970A-9596745FD5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25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F3282-AC7F-4F04-970A-9596745FD58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260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29D7C-19A8-F8B9-9B82-D782E1A3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1C1C68-C6E4-A750-7F54-AC26A8A23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592884-356A-4F7F-C37A-7000A8D8D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199996-2A3F-6F5D-5B5A-F5FAFC13C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F3282-AC7F-4F04-970A-9596745FD581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226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F3282-AC7F-4F04-970A-9596745FD581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821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9E8556-CEDF-6E85-1209-E26910ADA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9B06F67-693F-3456-3000-FA4A7C04F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6C4C30-2745-AF58-DEEE-9998239A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F84B49-43C3-0565-A5C0-36B688017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BEFED2-3740-C648-B7C1-B196A91F2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42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0912F0-9A14-A7C2-3421-7FA9F468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3E9CDC-9A1E-CD7D-D76D-0C42D5E89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7677BC-6467-CF8C-138F-5AB989515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ACA1F2-639E-9DCC-7B7C-8B8EC8361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23F841-CB89-2B6A-1FDB-68D91549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336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3935B-0869-084B-4E0E-73080753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BE32A2-FFCD-A937-3C78-F47529F02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01B903-E830-DBC7-A5FC-6E1AD098C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06ED81-8B2E-1CEA-B6CC-82F1B6C3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C6308F-36FC-147C-AEC5-351EA5FA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04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A2D5C5-FFF0-0DED-8017-514F6E06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B2E069-1DD0-E869-42E8-A7ADFFBE08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482492-114C-EB64-BEA9-9EF8A31DE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650B7C-83C7-7040-6B5B-8EBBEA64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C71A44-134D-2192-459A-15FF4B35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93EC20-E122-7DC7-F82B-3C275DE2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85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0C6B7-0608-848A-77DD-9A6FCCBB3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EFE44F-5601-F366-9953-72DDC98D9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94C6F5B-EF59-399C-630A-7A9006B57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5E75358-07BE-05A7-B28E-F897A978D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F84FAFA-8755-A893-4BE5-7C130C7AD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B506197-E217-FD11-B296-F7225813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2C061A5-CA63-53AE-5518-5F5EAD21C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5B6607-BD51-9EF9-F83E-3AE98817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051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7A293-FAB9-5F48-2282-A3DB3135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045FEAB-4047-340C-CF7D-FEDC8698E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03252D-17E1-1AF9-1CAE-6029A5F2A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B9923E-BCAC-86C0-3401-C48CBED4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694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3CC9A1-F74D-1BF2-84BD-CB981DF5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064000-2527-2563-2780-A3605AFA2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9C04D5-D844-AE86-B167-969D5B1C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205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2E988-7EFA-46BF-C6BE-099341AF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AECDE1-6313-9BE9-BBD6-C9D8D3296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EDCAA5-1153-4DDC-7741-6D839A194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3D29A69-4C17-8D66-FBFB-0E1FEE84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673561-1FA7-88E4-A7D6-794D763D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331C6A-3CBD-BB16-B31E-7E4940B56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3708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F43252-2DC8-8B4B-CF11-B25AB2D65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73FA36-A71D-1FA3-1D90-476CCCD7A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D30C56-09E2-9600-3F6B-EE6A8C1E4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8ECE6C-7EEE-0EDE-15D1-04FB1D6A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5C0C80-BD45-ED7B-C0C7-4CEFAF6B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C094E5-9C3F-6D5B-E42A-BC99A2E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563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6BAE3-DA3A-D6DE-1613-61CF46B1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C7DBEA0-6E2C-E8D6-EB31-AF9A25F44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5F27F6-8128-4D7A-96BB-61D9C012A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6DD152-364C-A3B9-3F5D-A24611BB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D0688A-D0BA-78FB-86A6-DFF45B6E4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966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229F485-DBFC-EAF0-44DF-32FC2BDC4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7931E8-74A4-95F6-49C0-E975D823B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862C8E-7E2D-57FF-D7A4-2C3C09AA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AA7194-2F46-D625-AAFD-456AACBF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FDDDC3-F58C-140A-9ADA-462F3F97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786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64122CC-2A80-8D1F-8CEF-C08D9B13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D454CC-41FE-261A-D7B2-4797BD545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581FE0-D4F0-F45A-2AC0-EE6C8CFFB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0F5CD-5655-45E5-8E7F-D706B3048717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842928-04F1-CE5F-DC9C-26996DF3E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D95828-11C8-6AC3-22D7-81B644DEF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C1180-5C98-4A46-8839-6DF5235DA4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34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EBAFF94-F916-7320-0CAC-2786FED692F9}"/>
              </a:ext>
            </a:extLst>
          </p:cNvPr>
          <p:cNvSpPr txBox="1"/>
          <p:nvPr/>
        </p:nvSpPr>
        <p:spPr>
          <a:xfrm>
            <a:off x="1581411" y="885825"/>
            <a:ext cx="872758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4400" i="1">
                <a:solidFill>
                  <a:srgbClr val="00B050"/>
                </a:solidFill>
              </a:rPr>
              <a:t>Nach </a:t>
            </a:r>
            <a:r>
              <a:rPr lang="de-DE" sz="4400" b="1" i="1">
                <a:solidFill>
                  <a:srgbClr val="00B050"/>
                </a:solidFill>
              </a:rPr>
              <a:t>10</a:t>
            </a:r>
            <a:r>
              <a:rPr lang="de-DE" sz="4400" i="1">
                <a:solidFill>
                  <a:srgbClr val="00B050"/>
                </a:solidFill>
              </a:rPr>
              <a:t> erfolgreichen Jahren </a:t>
            </a:r>
          </a:p>
          <a:p>
            <a:pPr algn="ctr"/>
            <a:r>
              <a:rPr lang="de-DE" sz="7200" b="1">
                <a:solidFill>
                  <a:srgbClr val="0070C0"/>
                </a:solidFill>
              </a:rPr>
              <a:t>HaevgRZ.JobSystem</a:t>
            </a:r>
          </a:p>
          <a:p>
            <a:pPr algn="ctr"/>
            <a:endParaRPr lang="de-DE" sz="1400" i="1"/>
          </a:p>
          <a:p>
            <a:pPr algn="ctr"/>
            <a:r>
              <a:rPr lang="de-DE" sz="4400" i="1"/>
              <a:t>Noch fit für die Zukunft?</a:t>
            </a:r>
          </a:p>
          <a:p>
            <a:pPr algn="ctr"/>
            <a:endParaRPr lang="de-DE" i="1"/>
          </a:p>
          <a:p>
            <a:pPr algn="ctr"/>
            <a:r>
              <a:rPr lang="de-DE" sz="4400">
                <a:solidFill>
                  <a:srgbClr val="FF0000"/>
                </a:solidFill>
              </a:rPr>
              <a:t>Zeit für die Rente?...</a:t>
            </a:r>
          </a:p>
          <a:p>
            <a:pPr algn="ctr"/>
            <a:endParaRPr lang="de-DE" sz="1200">
              <a:solidFill>
                <a:srgbClr val="FF0000"/>
              </a:solidFill>
            </a:endParaRPr>
          </a:p>
          <a:p>
            <a:pPr algn="ctr"/>
            <a:r>
              <a:rPr lang="de-DE" sz="4400" b="1" i="1"/>
              <a:t>=&gt; …was käme danach?</a:t>
            </a:r>
          </a:p>
          <a:p>
            <a:pPr algn="ctr"/>
            <a:endParaRPr lang="de-DE" sz="4400" b="1"/>
          </a:p>
        </p:txBody>
      </p:sp>
    </p:spTree>
    <p:extLst>
      <p:ext uri="{BB962C8B-B14F-4D97-AF65-F5344CB8AC3E}">
        <p14:creationId xmlns:p14="http://schemas.microsoft.com/office/powerpoint/2010/main" val="291876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C0AA4FAB-0D79-E663-08EC-77AEA5A3925C}"/>
              </a:ext>
            </a:extLst>
          </p:cNvPr>
          <p:cNvSpPr txBox="1"/>
          <p:nvPr/>
        </p:nvSpPr>
        <p:spPr>
          <a:xfrm>
            <a:off x="1421765" y="721895"/>
            <a:ext cx="100711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/>
              <a:t>some random flaws…</a:t>
            </a:r>
            <a:endParaRPr lang="de-DE" sz="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Hohe </a:t>
            </a:r>
            <a:r>
              <a:rPr lang="de-DE" i="1">
                <a:solidFill>
                  <a:srgbClr val="FF0000"/>
                </a:solidFill>
              </a:rPr>
              <a:t>Expertenabhängigkeit</a:t>
            </a:r>
            <a:r>
              <a:rPr lang="de-DE"/>
              <a:t> -&gt; </a:t>
            </a:r>
            <a:r>
              <a:rPr lang="de-DE" b="1">
                <a:solidFill>
                  <a:srgbClr val="FF0000"/>
                </a:solidFill>
              </a:rPr>
              <a:t>„nicht nachwuchsfähig…“!</a:t>
            </a:r>
            <a:endParaRPr lang="de-DE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rgbClr val="FF0000"/>
                </a:solidFill>
              </a:rPr>
              <a:t>.Net48 </a:t>
            </a:r>
            <a:r>
              <a:rPr lang="de-DE"/>
              <a:t>/ .Net10 =&gt; gedoppelte Codebase mit *.cs-Links und bedingter Kompilierung.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Dieser .Net48 </a:t>
            </a:r>
            <a:r>
              <a:rPr lang="de-DE" b="1">
                <a:solidFill>
                  <a:srgbClr val="FF0000"/>
                </a:solidFill>
              </a:rPr>
              <a:t>WCF</a:t>
            </a:r>
            <a:r>
              <a:rPr lang="de-DE" b="1"/>
              <a:t>-Server</a:t>
            </a:r>
            <a:r>
              <a:rPr lang="de-DE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Codedom! inside - nagelt auf .Net48 fest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rgbClr val="FF0000"/>
                </a:solidFill>
              </a:rPr>
              <a:t>Der ewige Assembly-Resolve-“pain-in-the-ass“….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Das Scheduling =&gt; als ewiges Provisorium als XML auf den einzelnen Servern -&gt; </a:t>
            </a:r>
            <a:r>
              <a:rPr lang="de-DE">
                <a:solidFill>
                  <a:srgbClr val="FF0000"/>
                </a:solidFill>
              </a:rPr>
              <a:t>headless-blocker</a:t>
            </a:r>
            <a:r>
              <a:rPr lang="de-DE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Das proprietäre </a:t>
            </a:r>
            <a:r>
              <a:rPr lang="de-DE" i="1"/>
              <a:t>Job-Package-Installer-</a:t>
            </a:r>
            <a:r>
              <a:rPr lang="de-DE" i="1">
                <a:solidFill>
                  <a:srgbClr val="FF0000"/>
                </a:solidFill>
              </a:rPr>
              <a:t>Job-Deployment</a:t>
            </a:r>
            <a:r>
              <a:rPr lang="de-DE"/>
              <a:t> wurde immerhin mit einem </a:t>
            </a:r>
            <a:r>
              <a:rPr lang="de-DE" i="1"/>
              <a:t>Hack</a:t>
            </a:r>
            <a:r>
              <a:rPr lang="de-DE"/>
              <a:t> </a:t>
            </a:r>
            <a:r>
              <a:rPr lang="de-DE" b="1">
                <a:solidFill>
                  <a:srgbClr val="FF0000"/>
                </a:solidFill>
              </a:rPr>
              <a:t>pipelinefähig</a:t>
            </a:r>
            <a:r>
              <a:rPr lang="de-DE"/>
              <a:t> gemacht; mit dem holistischen Gesamtsystem („Backend“) (fettes LINQPad-Script) ist das so gar nicht möglich…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Inkonsistente coding-principles (OOP vs.  Functional… -  man merkt die Reise durch die Zeit…)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Schwache Testabdeckung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Wenig Contracts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Ungewollte „exposures“ – (Finger weg von den undokumentierten publics wie „GlobalConfig“)…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Hoher </a:t>
            </a:r>
            <a:r>
              <a:rPr lang="de-DE">
                <a:solidFill>
                  <a:srgbClr val="FF0000"/>
                </a:solidFill>
              </a:rPr>
              <a:t>Schulungsaufwand</a:t>
            </a:r>
            <a:r>
              <a:rPr lang="de-DE"/>
              <a:t> für Job-Entwicklung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Hoher </a:t>
            </a:r>
            <a:r>
              <a:rPr lang="de-DE">
                <a:solidFill>
                  <a:srgbClr val="FF0000"/>
                </a:solidFill>
              </a:rPr>
              <a:t>Scaffolding-Aufwand</a:t>
            </a:r>
            <a:r>
              <a:rPr lang="de-DE"/>
              <a:t> für Job-Entwicklung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Immerhin sehr viel, immer wieder mühsam nachgezogene, </a:t>
            </a:r>
            <a:r>
              <a:rPr lang="de-DE">
                <a:solidFill>
                  <a:srgbClr val="FF0000"/>
                </a:solidFill>
              </a:rPr>
              <a:t>Dokumentation</a:t>
            </a:r>
            <a:r>
              <a:rPr lang="de-DE"/>
              <a:t> – aber immer in Teilen veraltet, unvollständig, nicht KI-fähig…: </a:t>
            </a:r>
            <a:r>
              <a:rPr lang="de-DE" i="1">
                <a:solidFill>
                  <a:srgbClr val="FF0000"/>
                </a:solidFill>
              </a:rPr>
              <a:t>„immer nicht gut genug“!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Sperrige und altmodische, in die Jahre gekommene Job-API (IBasejob)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rgbClr val="FF0000"/>
                </a:solidFill>
              </a:rPr>
              <a:t>Zukunft? </a:t>
            </a:r>
            <a:r>
              <a:rPr lang="de-DE"/>
              <a:t>Docker? Linux? =&gt; no way…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Und niemals wirklich</a:t>
            </a:r>
            <a:r>
              <a:rPr lang="de-DE">
                <a:solidFill>
                  <a:srgbClr val="FF0000"/>
                </a:solidFill>
              </a:rPr>
              <a:t> „</a:t>
            </a:r>
            <a:r>
              <a:rPr lang="de-DE" b="1">
                <a:solidFill>
                  <a:srgbClr val="FF0000"/>
                </a:solidFill>
              </a:rPr>
              <a:t>AI-ready“! </a:t>
            </a:r>
            <a:r>
              <a:rPr lang="de-DE"/>
              <a:t>…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7846052-5DFA-CFBB-F03B-4550BC9BB77A}"/>
              </a:ext>
            </a:extLst>
          </p:cNvPr>
          <p:cNvSpPr txBox="1"/>
          <p:nvPr/>
        </p:nvSpPr>
        <p:spPr>
          <a:xfrm>
            <a:off x="769741" y="260230"/>
            <a:ext cx="10621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/>
              <a:t>Die „</a:t>
            </a:r>
            <a:r>
              <a:rPr lang="de-DE" sz="2400" b="1" i="1">
                <a:solidFill>
                  <a:srgbClr val="002060"/>
                </a:solidFill>
              </a:rPr>
              <a:t>Diagnosen-Liste“</a:t>
            </a:r>
            <a:r>
              <a:rPr lang="de-DE" sz="2400" b="1"/>
              <a:t> ist lang</a:t>
            </a:r>
            <a:r>
              <a:rPr lang="de-DE" sz="2400"/>
              <a:t> (und hat keinen Anspruch auf Vollständigkeit…)</a:t>
            </a:r>
          </a:p>
        </p:txBody>
      </p:sp>
    </p:spTree>
    <p:extLst>
      <p:ext uri="{BB962C8B-B14F-4D97-AF65-F5344CB8AC3E}">
        <p14:creationId xmlns:p14="http://schemas.microsoft.com/office/powerpoint/2010/main" val="146467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64EB-C4A5-3EA1-1825-A7D95269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2D1E52D2-44F7-C9CD-33CF-E3C2DA4A72B6}"/>
              </a:ext>
            </a:extLst>
          </p:cNvPr>
          <p:cNvSpPr txBox="1"/>
          <p:nvPr/>
        </p:nvSpPr>
        <p:spPr>
          <a:xfrm>
            <a:off x="1349374" y="404753"/>
            <a:ext cx="9832975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/>
              <a:t>some more flaws…</a:t>
            </a:r>
          </a:p>
          <a:p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Im Laufe der Jahre wurden der Code mehrfach</a:t>
            </a:r>
            <a:r>
              <a:rPr lang="de-DE" i="1"/>
              <a:t> on-the-fly</a:t>
            </a:r>
            <a:r>
              <a:rPr lang="de-DE"/>
              <a:t> um komplizierte Patches und Ergänzungen erweitert (</a:t>
            </a:r>
            <a:r>
              <a:rPr lang="de-DE" i="1"/>
              <a:t>SessionStarter</a:t>
            </a:r>
            <a:r>
              <a:rPr lang="de-DE"/>
              <a:t> und </a:t>
            </a:r>
            <a:r>
              <a:rPr lang="de-DE" i="1"/>
              <a:t>WorkflowAdapter</a:t>
            </a:r>
            <a:r>
              <a:rPr lang="de-DE"/>
              <a:t>), die z.B. das anfänglich nicht adressierte „Concurrency-Problem“ betreffen. Aus „Pending“ wurde „Preparing goes to Pending“; abgesichert mit einem „Turnstile“: kaum dokumentiert, nicht durch Contracts oder Tests abgesichert; nur notdürftig durch Code-Kommentare eklärt:  das versteht die zukünftige Generation von Maintainern nicht mehr: wir haben hier </a:t>
            </a:r>
            <a:r>
              <a:rPr lang="de-DE" b="1">
                <a:solidFill>
                  <a:srgbClr val="FF0000"/>
                </a:solidFill>
              </a:rPr>
              <a:t>„Implementierungs-Magic“</a:t>
            </a:r>
            <a:r>
              <a:rPr lang="de-DE" b="1"/>
              <a:t> </a:t>
            </a:r>
            <a:r>
              <a:rPr lang="de-DE"/>
              <a:t>die den Status hat: </a:t>
            </a:r>
            <a:r>
              <a:rPr lang="de-DE">
                <a:solidFill>
                  <a:srgbClr val="FF0000"/>
                </a:solidFill>
              </a:rPr>
              <a:t>„läuft! never touch that shit!“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Inbesondere die </a:t>
            </a:r>
            <a:r>
              <a:rPr lang="de-DE" i="1"/>
              <a:t>WorkflowAdapter-Exe </a:t>
            </a:r>
            <a:r>
              <a:rPr lang="de-DE"/>
              <a:t>ist ein einziger riesiger </a:t>
            </a:r>
            <a:r>
              <a:rPr lang="de-DE" b="1">
                <a:solidFill>
                  <a:srgbClr val="FF0000"/>
                </a:solidFill>
              </a:rPr>
              <a:t>Magic-Hack</a:t>
            </a:r>
            <a:r>
              <a:rPr lang="de-DE">
                <a:solidFill>
                  <a:srgbClr val="FF0000"/>
                </a:solidFill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b="1">
                <a:solidFill>
                  <a:srgbClr val="FF0000"/>
                </a:solidFill>
              </a:rPr>
              <a:t>„company-fit“</a:t>
            </a:r>
            <a:r>
              <a:rPr lang="de-DE" sz="2000"/>
              <a:t>: das System ist z.B. nicht fit, eine zukünftige, härtere </a:t>
            </a:r>
            <a:r>
              <a:rPr lang="de-DE" sz="2000" b="1"/>
              <a:t>change-policy</a:t>
            </a:r>
            <a:r>
              <a:rPr lang="de-DE" sz="2000"/>
              <a:t> mitzugehen. Eine vollständige, saubere </a:t>
            </a:r>
            <a:r>
              <a:rPr lang="de-DE" sz="2000" b="1"/>
              <a:t>CI/CD-Integration</a:t>
            </a:r>
            <a:r>
              <a:rPr lang="de-DE" sz="2000"/>
              <a:t> und ein - im besten Fall automatisches – sauberes </a:t>
            </a:r>
            <a:r>
              <a:rPr lang="de-DE" sz="2000" b="1"/>
              <a:t>change-audit</a:t>
            </a:r>
            <a:r>
              <a:rPr lang="de-DE" sz="2000"/>
              <a:t> sind kaum machbar.  Schärfere Anforderungen wären nur durch „stunts“, „nervige handarbeit“ und „dont-ask-dont-tell“-Kompromisse mühsam mitzugehen…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…und so viele kleine „pains“ und „kompromisse“, für job-developer und job-system-maintainer, an die sich alle längst gewöhnt haben (vieles könnte so viel einfacher und </a:t>
            </a:r>
            <a:r>
              <a:rPr lang="de-DE" i="1"/>
              <a:t>cooler</a:t>
            </a:r>
            <a:r>
              <a:rPr lang="de-DE"/>
              <a:t> sein…)</a:t>
            </a:r>
          </a:p>
        </p:txBody>
      </p:sp>
    </p:spTree>
    <p:extLst>
      <p:ext uri="{BB962C8B-B14F-4D97-AF65-F5344CB8AC3E}">
        <p14:creationId xmlns:p14="http://schemas.microsoft.com/office/powerpoint/2010/main" val="230336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D891F-5205-3FC8-6924-7EF11EE53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45F580C5-8F3A-EDDB-125F-5CD169EFA36D}"/>
              </a:ext>
            </a:extLst>
          </p:cNvPr>
          <p:cNvGrpSpPr/>
          <p:nvPr/>
        </p:nvGrpSpPr>
        <p:grpSpPr>
          <a:xfrm>
            <a:off x="1713922" y="1439437"/>
            <a:ext cx="2992631" cy="2689384"/>
            <a:chOff x="6606124" y="632008"/>
            <a:chExt cx="1609958" cy="3976567"/>
          </a:xfrm>
          <a:solidFill>
            <a:schemeClr val="bg1">
              <a:lumMod val="95000"/>
            </a:schemeClr>
          </a:solidFill>
        </p:grpSpPr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91D6CEA9-DE63-5C3E-1FC1-F87CE5390BFE}"/>
                </a:ext>
              </a:extLst>
            </p:cNvPr>
            <p:cNvSpPr/>
            <p:nvPr/>
          </p:nvSpPr>
          <p:spPr>
            <a:xfrm>
              <a:off x="6606124" y="632008"/>
              <a:ext cx="1609958" cy="3976567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06971D2B-11F1-F847-86D5-A05053D8999A}"/>
                </a:ext>
              </a:extLst>
            </p:cNvPr>
            <p:cNvSpPr txBox="1"/>
            <p:nvPr/>
          </p:nvSpPr>
          <p:spPr>
            <a:xfrm>
              <a:off x="6607221" y="632143"/>
              <a:ext cx="1032705" cy="546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rgbClr val="7030A0"/>
                  </a:solidFill>
                </a:rPr>
                <a:t>Das Backend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20A8C9F-F57C-4D2B-2026-E1D2C374B37C}"/>
              </a:ext>
            </a:extLst>
          </p:cNvPr>
          <p:cNvGrpSpPr/>
          <p:nvPr/>
        </p:nvGrpSpPr>
        <p:grpSpPr>
          <a:xfrm>
            <a:off x="5583614" y="1463281"/>
            <a:ext cx="4423990" cy="2689384"/>
            <a:chOff x="6606125" y="632008"/>
            <a:chExt cx="1609958" cy="3976567"/>
          </a:xfrm>
          <a:solidFill>
            <a:schemeClr val="bg1">
              <a:lumMod val="95000"/>
            </a:schemeClr>
          </a:solidFill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921B3CE-E7A0-EC84-AE42-D587DB52C342}"/>
                </a:ext>
              </a:extLst>
            </p:cNvPr>
            <p:cNvSpPr/>
            <p:nvPr/>
          </p:nvSpPr>
          <p:spPr>
            <a:xfrm>
              <a:off x="6606125" y="632008"/>
              <a:ext cx="1609958" cy="3976567"/>
            </a:xfrm>
            <a:prstGeom prst="rect">
              <a:avLst/>
            </a:prstGeom>
            <a:grp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EC331E49-AA54-F3AD-0A2F-79D0B4B9BE38}"/>
                </a:ext>
              </a:extLst>
            </p:cNvPr>
            <p:cNvSpPr txBox="1"/>
            <p:nvPr/>
          </p:nvSpPr>
          <p:spPr>
            <a:xfrm>
              <a:off x="6607221" y="632142"/>
              <a:ext cx="899942" cy="659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Jobhost.exe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00681D04-726D-1F17-2FF4-63D66A1BAB7E}"/>
              </a:ext>
            </a:extLst>
          </p:cNvPr>
          <p:cNvGrpSpPr/>
          <p:nvPr/>
        </p:nvGrpSpPr>
        <p:grpSpPr>
          <a:xfrm>
            <a:off x="8005905" y="3082401"/>
            <a:ext cx="1822489" cy="765048"/>
            <a:chOff x="164209" y="1524953"/>
            <a:chExt cx="1822489" cy="765048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E7FD0AE-ABF6-2A9B-559B-9DECBD0D518D}"/>
                </a:ext>
              </a:extLst>
            </p:cNvPr>
            <p:cNvSpPr/>
            <p:nvPr/>
          </p:nvSpPr>
          <p:spPr>
            <a:xfrm>
              <a:off x="164209" y="1524953"/>
              <a:ext cx="1803699" cy="76504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6E59F33-9673-BF9A-2A76-B7ED8A290DEA}"/>
                </a:ext>
              </a:extLst>
            </p:cNvPr>
            <p:cNvSpPr txBox="1"/>
            <p:nvPr/>
          </p:nvSpPr>
          <p:spPr>
            <a:xfrm>
              <a:off x="182999" y="1686886"/>
              <a:ext cx="18036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job-assemblies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41C2E713-FEED-828B-784C-F67174EC88F8}"/>
              </a:ext>
            </a:extLst>
          </p:cNvPr>
          <p:cNvGrpSpPr/>
          <p:nvPr/>
        </p:nvGrpSpPr>
        <p:grpSpPr>
          <a:xfrm>
            <a:off x="5897322" y="1853741"/>
            <a:ext cx="3922316" cy="708234"/>
            <a:chOff x="164209" y="1516532"/>
            <a:chExt cx="1803699" cy="773469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F5734D98-A5B2-DFFF-01E1-0795FEF53E54}"/>
                </a:ext>
              </a:extLst>
            </p:cNvPr>
            <p:cNvSpPr/>
            <p:nvPr/>
          </p:nvSpPr>
          <p:spPr>
            <a:xfrm>
              <a:off x="164209" y="1524953"/>
              <a:ext cx="1803699" cy="76504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7201EE90-CEA3-3A25-B815-CBC87BEDB594}"/>
                </a:ext>
              </a:extLst>
            </p:cNvPr>
            <p:cNvSpPr txBox="1"/>
            <p:nvPr/>
          </p:nvSpPr>
          <p:spPr>
            <a:xfrm>
              <a:off x="198602" y="1516532"/>
              <a:ext cx="11095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Base-job</a:t>
              </a:r>
            </a:p>
          </p:txBody>
        </p: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AB395DAA-F396-28B1-E9C1-A745386E2EEB}"/>
              </a:ext>
            </a:extLst>
          </p:cNvPr>
          <p:cNvSpPr txBox="1"/>
          <p:nvPr/>
        </p:nvSpPr>
        <p:spPr>
          <a:xfrm>
            <a:off x="5124305" y="2724919"/>
            <a:ext cx="2472944" cy="1169551"/>
          </a:xfrm>
          <a:prstGeom prst="rect">
            <a:avLst/>
          </a:prstGeom>
          <a:solidFill>
            <a:srgbClr val="FF9999"/>
          </a:solidFill>
        </p:spPr>
        <p:txBody>
          <a:bodyPr wrap="square">
            <a:spAutoFit/>
          </a:bodyPr>
          <a:lstStyle/>
          <a:p>
            <a:r>
              <a:rPr lang="de-DE" sz="1000" b="1"/>
              <a:t>HaevgRZ.JobSystem.SessionStore.dll</a:t>
            </a:r>
          </a:p>
          <a:p>
            <a:r>
              <a:rPr lang="de-DE" sz="1000" b="1"/>
              <a:t>HaevgRZ.JobSystem.Core.dll</a:t>
            </a:r>
          </a:p>
          <a:p>
            <a:r>
              <a:rPr lang="de-DE" sz="1000" b="1"/>
              <a:t>HaevgRZ.JobSystem.Contracts.dll</a:t>
            </a:r>
          </a:p>
          <a:p>
            <a:r>
              <a:rPr lang="de-DE" sz="1000" b="1"/>
              <a:t>HaevgRZ.JobSystem.Lib.Core.dll</a:t>
            </a:r>
          </a:p>
          <a:p>
            <a:r>
              <a:rPr lang="de-DE" sz="1000" b="1"/>
              <a:t>HaevgRZ.JobSystem.Lib.Messaging.dll</a:t>
            </a:r>
          </a:p>
          <a:p>
            <a:r>
              <a:rPr lang="de-DE" sz="1000" b="1"/>
              <a:t>„GlobalConfig“</a:t>
            </a:r>
          </a:p>
          <a:p>
            <a:r>
              <a:rPr lang="de-DE" sz="1000" b="1"/>
              <a:t>…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35A56320-1BAA-14D4-257E-BC2DD55217FB}"/>
              </a:ext>
            </a:extLst>
          </p:cNvPr>
          <p:cNvSpPr txBox="1"/>
          <p:nvPr/>
        </p:nvSpPr>
        <p:spPr>
          <a:xfrm>
            <a:off x="7927182" y="2724919"/>
            <a:ext cx="1905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>
                <a:solidFill>
                  <a:srgbClr val="FF0000"/>
                </a:solidFill>
              </a:rPr>
              <a:t>AssemblyResolve: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840FE24B-8ABF-C58F-FA7B-285D8FF784A4}"/>
              </a:ext>
            </a:extLst>
          </p:cNvPr>
          <p:cNvGrpSpPr/>
          <p:nvPr/>
        </p:nvGrpSpPr>
        <p:grpSpPr>
          <a:xfrm>
            <a:off x="2898340" y="1918813"/>
            <a:ext cx="1803699" cy="643577"/>
            <a:chOff x="164209" y="1588453"/>
            <a:chExt cx="1803699" cy="643577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5339CB1C-0982-812A-5B00-A1C734F2D7B9}"/>
                </a:ext>
              </a:extLst>
            </p:cNvPr>
            <p:cNvSpPr/>
            <p:nvPr/>
          </p:nvSpPr>
          <p:spPr>
            <a:xfrm>
              <a:off x="164209" y="1588453"/>
              <a:ext cx="1803699" cy="64357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FDA82363-6616-3120-15F7-E15ADFD3A277}"/>
                </a:ext>
              </a:extLst>
            </p:cNvPr>
            <p:cNvSpPr txBox="1"/>
            <p:nvPr/>
          </p:nvSpPr>
          <p:spPr>
            <a:xfrm>
              <a:off x="216082" y="1606413"/>
              <a:ext cx="1741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SessionStarter</a:t>
              </a:r>
            </a:p>
          </p:txBody>
        </p:sp>
      </p:grpSp>
      <p:sp>
        <p:nvSpPr>
          <p:cNvPr id="60" name="Pfeil: nach rechts 59">
            <a:extLst>
              <a:ext uri="{FF2B5EF4-FFF2-40B4-BE49-F238E27FC236}">
                <a16:creationId xmlns:a16="http://schemas.microsoft.com/office/drawing/2014/main" id="{3E79FB88-779C-13F8-B2BF-A117237A18A3}"/>
              </a:ext>
            </a:extLst>
          </p:cNvPr>
          <p:cNvSpPr/>
          <p:nvPr/>
        </p:nvSpPr>
        <p:spPr>
          <a:xfrm>
            <a:off x="4723504" y="2146442"/>
            <a:ext cx="841320" cy="234258"/>
          </a:xfrm>
          <a:prstGeom prst="rightArrow">
            <a:avLst/>
          </a:prstGeom>
          <a:solidFill>
            <a:schemeClr val="accent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62C7E6E6-A5E4-68DB-279A-D74781522F4F}"/>
              </a:ext>
            </a:extLst>
          </p:cNvPr>
          <p:cNvSpPr txBox="1"/>
          <p:nvPr/>
        </p:nvSpPr>
        <p:spPr>
          <a:xfrm>
            <a:off x="4666437" y="1778023"/>
            <a:ext cx="955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spawns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B35DD60B-AF1C-018B-BD90-0C00BBA989B8}"/>
              </a:ext>
            </a:extLst>
          </p:cNvPr>
          <p:cNvSpPr txBox="1"/>
          <p:nvPr/>
        </p:nvSpPr>
        <p:spPr>
          <a:xfrm>
            <a:off x="1476358" y="238438"/>
            <a:ext cx="870328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b="1"/>
              <a:t>Der Elefant: das </a:t>
            </a:r>
            <a:r>
              <a:rPr lang="de-DE" sz="2800" b="1">
                <a:solidFill>
                  <a:srgbClr val="FF0000"/>
                </a:solidFill>
              </a:rPr>
              <a:t>Kernproblem</a:t>
            </a:r>
            <a:r>
              <a:rPr lang="de-DE" sz="2800" b="1"/>
              <a:t> des alten JobSystems.</a:t>
            </a:r>
            <a:endParaRPr lang="de-DE" b="1"/>
          </a:p>
          <a:p>
            <a:pPr algn="ctr"/>
            <a:r>
              <a:rPr lang="de-DE" b="1"/>
              <a:t>Der </a:t>
            </a:r>
            <a:r>
              <a:rPr lang="de-DE" b="1" i="1">
                <a:solidFill>
                  <a:srgbClr val="FF0000"/>
                </a:solidFill>
              </a:rPr>
              <a:t>gemeinsame</a:t>
            </a:r>
            <a:r>
              <a:rPr lang="de-DE" b="1">
                <a:solidFill>
                  <a:srgbClr val="FF0000"/>
                </a:solidFill>
              </a:rPr>
              <a:t> </a:t>
            </a:r>
            <a:r>
              <a:rPr lang="de-DE" b="1" i="1">
                <a:solidFill>
                  <a:srgbClr val="FF0000"/>
                </a:solidFill>
              </a:rPr>
              <a:t>Prozessraum</a:t>
            </a:r>
            <a:r>
              <a:rPr lang="de-DE" b="1">
                <a:solidFill>
                  <a:srgbClr val="FF0000"/>
                </a:solidFill>
              </a:rPr>
              <a:t> </a:t>
            </a:r>
            <a:r>
              <a:rPr lang="de-DE" b="1"/>
              <a:t>von System und Job in der </a:t>
            </a:r>
            <a:r>
              <a:rPr lang="de-DE" b="1" i="1"/>
              <a:t>JobHost.exe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976FAEE1-0BC5-44A3-25D9-3FA8E1410855}"/>
              </a:ext>
            </a:extLst>
          </p:cNvPr>
          <p:cNvSpPr txBox="1"/>
          <p:nvPr/>
        </p:nvSpPr>
        <p:spPr>
          <a:xfrm>
            <a:off x="1561522" y="4443472"/>
            <a:ext cx="9553817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/>
              <a:t>Fast</a:t>
            </a:r>
            <a:r>
              <a:rPr lang="de-DE"/>
              <a:t> alle Limitierungen und Hacks basieren direkt oder indirekt auf diesem „Ur-Fehler“</a:t>
            </a:r>
          </a:p>
          <a:p>
            <a:r>
              <a:rPr lang="de-DE" sz="2000" b="1">
                <a:solidFill>
                  <a:srgbClr val="FF0000"/>
                </a:solidFill>
              </a:rPr>
              <a:t>„Closed Dependency-Room“: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200"/>
              <a:t>Bsp.: festgenagelt auf eine proprietäre ADO-Komponente für den SessionStore-Sql-Access; EF-Core niemals möglich!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200"/>
              <a:t>Bsp.: eine ConfigReader-Code-Kopie (mit Disclaimer-Header) des alten HÄVG-Configmangers im JobSystem.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200"/>
              <a:t>Bsp.: Explizite Workflow-Adapter.exe, die mit dem JobHost per </a:t>
            </a:r>
            <a:r>
              <a:rPr lang="de-DE" sz="1200" i="1"/>
              <a:t>CLI-Calls</a:t>
            </a:r>
            <a:r>
              <a:rPr lang="de-DE" sz="1200"/>
              <a:t> kommuniziert.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600" b="1">
                <a:solidFill>
                  <a:srgbClr val="FF0000"/>
                </a:solidFill>
              </a:rPr>
              <a:t>Jede weitere technologische oder fachliche Evolution wird de facto verhindert. Nur noch interne Features - oder Erweiterungen durch </a:t>
            </a:r>
            <a:r>
              <a:rPr lang="de-DE" sz="1600" b="1" i="1">
                <a:solidFill>
                  <a:srgbClr val="FF0000"/>
                </a:solidFill>
              </a:rPr>
              <a:t>Hacks</a:t>
            </a:r>
            <a:r>
              <a:rPr lang="de-DE" sz="1600" b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0" name="Pfeil: nach links 69">
            <a:extLst>
              <a:ext uri="{FF2B5EF4-FFF2-40B4-BE49-F238E27FC236}">
                <a16:creationId xmlns:a16="http://schemas.microsoft.com/office/drawing/2014/main" id="{1536D43B-1E69-F7B8-4F87-A0FD5F362E85}"/>
              </a:ext>
            </a:extLst>
          </p:cNvPr>
          <p:cNvSpPr/>
          <p:nvPr/>
        </p:nvSpPr>
        <p:spPr>
          <a:xfrm>
            <a:off x="3799699" y="2969365"/>
            <a:ext cx="1311905" cy="707281"/>
          </a:xfrm>
          <a:prstGeom prst="leftArrow">
            <a:avLst/>
          </a:prstGeom>
          <a:solidFill>
            <a:srgbClr val="C0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3" name="Grafik 72">
            <a:extLst>
              <a:ext uri="{FF2B5EF4-FFF2-40B4-BE49-F238E27FC236}">
                <a16:creationId xmlns:a16="http://schemas.microsoft.com/office/drawing/2014/main" id="{16156912-CE86-DB36-D615-C741938FB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421" y="2428990"/>
            <a:ext cx="827913" cy="827913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FFFB93B2-C53C-4261-7D4C-71DCE8750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26" y="3208513"/>
            <a:ext cx="882650" cy="88265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C9A9F567-C88B-8C1F-9B5C-9AF7AF1B81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198" y="2658108"/>
            <a:ext cx="1066800" cy="1066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A00C80A-8D50-378A-0B7B-84DC8F8669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435" y="2842946"/>
            <a:ext cx="457200" cy="4572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73ECB46-C9A9-DAF5-D3DE-40D24C072F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569" y="2886721"/>
            <a:ext cx="842786" cy="84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6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EBCC34C-AEBD-5045-AACE-BCD0FD30F9DF}"/>
              </a:ext>
            </a:extLst>
          </p:cNvPr>
          <p:cNvSpPr txBox="1"/>
          <p:nvPr/>
        </p:nvSpPr>
        <p:spPr>
          <a:xfrm>
            <a:off x="787667" y="170347"/>
            <a:ext cx="1061666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/>
              <a:t>Zeit für was Neues?</a:t>
            </a:r>
          </a:p>
          <a:p>
            <a:pPr algn="ctr"/>
            <a:r>
              <a:rPr lang="de-DE" sz="4800" b="1">
                <a:solidFill>
                  <a:srgbClr val="0070C0"/>
                </a:solidFill>
              </a:rPr>
              <a:t>Zeit für die Zukunft?</a:t>
            </a:r>
          </a:p>
          <a:p>
            <a:pPr algn="ctr"/>
            <a:endParaRPr lang="de-DE" sz="2400"/>
          </a:p>
          <a:p>
            <a:pPr algn="ctr"/>
            <a:r>
              <a:rPr lang="de-DE" sz="2400" b="1"/>
              <a:t>Zeit für ein TPM-gesteuertes, technik-getriebenes </a:t>
            </a:r>
          </a:p>
          <a:p>
            <a:pPr algn="ctr"/>
            <a:r>
              <a:rPr lang="de-DE" sz="2400" b="1" strike="sngStrike"/>
              <a:t>Projekt</a:t>
            </a:r>
            <a:r>
              <a:rPr lang="de-DE" sz="2400" b="1"/>
              <a:t> – eine </a:t>
            </a:r>
            <a:r>
              <a:rPr lang="de-DE" sz="2400" b="1" i="1"/>
              <a:t>Initiative</a:t>
            </a:r>
            <a:r>
              <a:rPr lang="de-DE" sz="2400" b="1"/>
              <a:t> - für ein </a:t>
            </a:r>
            <a:r>
              <a:rPr lang="de-DE" sz="2400" b="1" i="1"/>
              <a:t>JobSystem-Next</a:t>
            </a:r>
            <a:r>
              <a:rPr lang="de-DE" sz="2400" b="1"/>
              <a:t>?</a:t>
            </a:r>
          </a:p>
          <a:p>
            <a:pPr algn="ctr"/>
            <a:r>
              <a:rPr lang="de-DE" sz="2400" b="1">
                <a:solidFill>
                  <a:srgbClr val="00B050"/>
                </a:solidFill>
              </a:rPr>
              <a:t>josyn?</a:t>
            </a:r>
            <a:endParaRPr lang="de-DE" sz="2400">
              <a:solidFill>
                <a:srgbClr val="00B050"/>
              </a:solidFill>
            </a:endParaRPr>
          </a:p>
          <a:p>
            <a:pPr algn="ctr"/>
            <a:endParaRPr lang="de-DE" sz="1200"/>
          </a:p>
          <a:p>
            <a:pPr algn="ctr"/>
            <a:r>
              <a:rPr lang="de-DE" sz="2400"/>
              <a:t>Früher: </a:t>
            </a:r>
            <a:r>
              <a:rPr lang="de-DE" sz="2400" b="1">
                <a:solidFill>
                  <a:srgbClr val="FF0000"/>
                </a:solidFill>
              </a:rPr>
              <a:t>oh no!</a:t>
            </a:r>
            <a:r>
              <a:rPr lang="de-DE" sz="2400">
                <a:solidFill>
                  <a:srgbClr val="FF0000"/>
                </a:solidFill>
              </a:rPr>
              <a:t>  </a:t>
            </a:r>
            <a:r>
              <a:rPr lang="de-DE" sz="2400"/>
              <a:t>- ein undenkbarer </a:t>
            </a:r>
            <a:r>
              <a:rPr lang="de-DE" sz="2400" b="1">
                <a:solidFill>
                  <a:srgbClr val="FF0000"/>
                </a:solidFill>
              </a:rPr>
              <a:t>Aufwand! </a:t>
            </a:r>
          </a:p>
          <a:p>
            <a:pPr algn="ctr"/>
            <a:r>
              <a:rPr lang="de-DE" sz="2400" b="1">
                <a:solidFill>
                  <a:srgbClr val="FF0000"/>
                </a:solidFill>
              </a:rPr>
              <a:t>Nicht machbar! Viel zu teuer!</a:t>
            </a:r>
          </a:p>
          <a:p>
            <a:pPr algn="ctr"/>
            <a:r>
              <a:rPr lang="de-DE" sz="1600"/>
              <a:t>(Lass uns lieber den Legacy-Opa so lange pflegen, beatmen und mit weiteren Prothesen ausrüsten, bis es ein Problem anderer Leute ist…)</a:t>
            </a:r>
          </a:p>
          <a:p>
            <a:pPr algn="ctr"/>
            <a:endParaRPr lang="de-DE" sz="2400"/>
          </a:p>
          <a:p>
            <a:pPr algn="ctr"/>
            <a:r>
              <a:rPr lang="de-DE" sz="2400"/>
              <a:t>Heute: </a:t>
            </a:r>
            <a:r>
              <a:rPr lang="de-DE" sz="2400" b="1">
                <a:solidFill>
                  <a:srgbClr val="00B050"/>
                </a:solidFill>
              </a:rPr>
              <a:t>machbar! </a:t>
            </a:r>
          </a:p>
          <a:p>
            <a:pPr algn="ctr"/>
            <a:r>
              <a:rPr lang="de-DE" sz="2400"/>
              <a:t>technologisch, resourcen-technisch, wirtschaftlich!</a:t>
            </a:r>
          </a:p>
          <a:p>
            <a:pPr algn="ctr"/>
            <a:r>
              <a:rPr lang="de-DE" sz="2400"/>
              <a:t>realistische </a:t>
            </a:r>
            <a:r>
              <a:rPr lang="de-DE" sz="2400" i="1"/>
              <a:t>time-to-market </a:t>
            </a:r>
          </a:p>
          <a:p>
            <a:pPr algn="ctr"/>
            <a:r>
              <a:rPr lang="de-DE" sz="2400"/>
              <a:t>realistischer </a:t>
            </a:r>
            <a:r>
              <a:rPr lang="de-DE" sz="2400" i="1"/>
              <a:t>migration-path</a:t>
            </a:r>
            <a:r>
              <a:rPr lang="de-DE" sz="2400"/>
              <a:t> für unsere &gt;100 aktuellen jobs…</a:t>
            </a:r>
          </a:p>
          <a:p>
            <a:pPr algn="ctr"/>
            <a:r>
              <a:rPr lang="de-DE" sz="2000" i="1"/>
              <a:t>(nicht nur – aber auch: dank KI…)</a:t>
            </a:r>
          </a:p>
        </p:txBody>
      </p:sp>
    </p:spTree>
    <p:extLst>
      <p:ext uri="{BB962C8B-B14F-4D97-AF65-F5344CB8AC3E}">
        <p14:creationId xmlns:p14="http://schemas.microsoft.com/office/powerpoint/2010/main" val="389674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>
            <a:extLst>
              <a:ext uri="{FF2B5EF4-FFF2-40B4-BE49-F238E27FC236}">
                <a16:creationId xmlns:a16="http://schemas.microsoft.com/office/drawing/2014/main" id="{56026DBA-04D4-3236-A19A-0D30046C56B7}"/>
              </a:ext>
            </a:extLst>
          </p:cNvPr>
          <p:cNvSpPr txBox="1"/>
          <p:nvPr/>
        </p:nvSpPr>
        <p:spPr>
          <a:xfrm>
            <a:off x="1696323" y="1158364"/>
            <a:ext cx="7021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b="1">
                <a:solidFill>
                  <a:srgbClr val="002060"/>
                </a:solidFill>
              </a:rPr>
              <a:t>Ziel 1. dieser Besprechung: </a:t>
            </a:r>
            <a:endParaRPr lang="de-DE" sz="3200" b="1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738819B-22CE-4121-9E5B-D9C2C89E521D}"/>
              </a:ext>
            </a:extLst>
          </p:cNvPr>
          <p:cNvSpPr txBox="1"/>
          <p:nvPr/>
        </p:nvSpPr>
        <p:spPr>
          <a:xfrm>
            <a:off x="1696323" y="3062776"/>
            <a:ext cx="8345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b="1">
                <a:solidFill>
                  <a:srgbClr val="002060"/>
                </a:solidFill>
              </a:rPr>
              <a:t>Ziel 2. (</a:t>
            </a:r>
            <a:r>
              <a:rPr lang="de-DE" sz="3200" b="1" i="1">
                <a:solidFill>
                  <a:srgbClr val="002060"/>
                </a:solidFill>
              </a:rPr>
              <a:t>falls</a:t>
            </a:r>
            <a:r>
              <a:rPr lang="de-DE" sz="3200" b="1">
                <a:solidFill>
                  <a:srgbClr val="002060"/>
                </a:solidFill>
              </a:rPr>
              <a:t> TPM-Initiative):</a:t>
            </a:r>
            <a:endParaRPr lang="de-DE" sz="3200" b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CE567E6-9EB7-0498-6E3D-3730A0B19D17}"/>
              </a:ext>
            </a:extLst>
          </p:cNvPr>
          <p:cNvSpPr txBox="1"/>
          <p:nvPr/>
        </p:nvSpPr>
        <p:spPr>
          <a:xfrm>
            <a:off x="2150639" y="1716972"/>
            <a:ext cx="94603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i="1">
                <a:solidFill>
                  <a:srgbClr val="0070C0"/>
                </a:solidFill>
              </a:rPr>
              <a:t>TPM-Initiative? </a:t>
            </a:r>
            <a:r>
              <a:rPr lang="de-DE" sz="2400" i="1"/>
              <a:t>(oder reicht eine gute „Pflegestation“?)</a:t>
            </a:r>
          </a:p>
          <a:p>
            <a:r>
              <a:rPr lang="de-DE" sz="2400" i="1"/>
              <a:t>ja! | nein! | ja, aber nur wenn…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2DEDCB4-4788-BA55-C9B1-36B95D5CDD69}"/>
              </a:ext>
            </a:extLst>
          </p:cNvPr>
          <p:cNvSpPr txBox="1"/>
          <p:nvPr/>
        </p:nvSpPr>
        <p:spPr>
          <a:xfrm>
            <a:off x="2150640" y="3855643"/>
            <a:ext cx="856612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i="1">
                <a:solidFill>
                  <a:srgbClr val="0070C0"/>
                </a:solidFill>
              </a:rPr>
              <a:t>Setup TPM-Initiative</a:t>
            </a:r>
            <a:r>
              <a:rPr lang="de-DE" sz="3200" i="1">
                <a:solidFill>
                  <a:srgbClr val="0070C0"/>
                </a:solidFill>
              </a:rPr>
              <a:t>: Wie, Wer, Was…. </a:t>
            </a:r>
          </a:p>
          <a:p>
            <a:r>
              <a:rPr lang="de-DE" sz="2000" i="1">
                <a:solidFill>
                  <a:srgbClr val="0070C0"/>
                </a:solidFill>
              </a:rPr>
              <a:t>Constraints / Rules / Rahmenbedingungen / People / Methodik / Risiken / Kommunikation / Evaluation / Kosten / Time-Line / Exit-Strategie / …</a:t>
            </a:r>
          </a:p>
          <a:p>
            <a:r>
              <a:rPr lang="de-DE" sz="2000"/>
              <a:t>=&gt;</a:t>
            </a:r>
            <a:r>
              <a:rPr lang="de-DE" sz="2000" b="1"/>
              <a:t> Hausaufgaben!</a:t>
            </a:r>
            <a:r>
              <a:rPr lang="de-DE" sz="2000"/>
              <a:t> - für den Owner dieses Termins, oder andere Leute…</a:t>
            </a:r>
            <a:r>
              <a:rPr lang="de-DE" sz="3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903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  <p:bldP spid="14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feld 37">
            <a:extLst>
              <a:ext uri="{FF2B5EF4-FFF2-40B4-BE49-F238E27FC236}">
                <a16:creationId xmlns:a16="http://schemas.microsoft.com/office/drawing/2014/main" id="{FBC140C3-B69A-6DF7-DC95-F18D22675BAA}"/>
              </a:ext>
            </a:extLst>
          </p:cNvPr>
          <p:cNvSpPr txBox="1"/>
          <p:nvPr/>
        </p:nvSpPr>
        <p:spPr>
          <a:xfrm>
            <a:off x="146742" y="90250"/>
            <a:ext cx="12110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/>
              <a:t>Vorschlag für einen effizienten </a:t>
            </a:r>
            <a:r>
              <a:rPr lang="de-DE" sz="2000" b="1">
                <a:solidFill>
                  <a:srgbClr val="0070C0"/>
                </a:solidFill>
              </a:rPr>
              <a:t>Arbeitsmodus</a:t>
            </a:r>
            <a:r>
              <a:rPr lang="de-DE" sz="2000" b="1"/>
              <a:t> einer potentiellen </a:t>
            </a:r>
            <a:r>
              <a:rPr lang="de-DE" sz="2000" b="1">
                <a:solidFill>
                  <a:srgbClr val="0070C0"/>
                </a:solidFill>
              </a:rPr>
              <a:t>TPM-Initiative</a:t>
            </a:r>
            <a:r>
              <a:rPr lang="de-DE" sz="2000" b="1"/>
              <a:t>. </a:t>
            </a:r>
            <a:r>
              <a:rPr lang="de-DE" sz="2000"/>
              <a:t>(ein „logisches </a:t>
            </a:r>
            <a:r>
              <a:rPr lang="de-DE" sz="2000" b="1"/>
              <a:t>Modell</a:t>
            </a:r>
            <a:r>
              <a:rPr lang="de-DE" sz="2000"/>
              <a:t>“)</a:t>
            </a:r>
            <a:endParaRPr lang="de-DE" sz="2000" b="1"/>
          </a:p>
          <a:p>
            <a:r>
              <a:rPr lang="de-DE" sz="2000"/>
              <a:t>Cave!: nur für die </a:t>
            </a:r>
            <a:r>
              <a:rPr lang="de-DE" sz="2000" i="1"/>
              <a:t>ersten Milestones</a:t>
            </a:r>
            <a:r>
              <a:rPr lang="de-DE" sz="2000"/>
              <a:t> - bis zu einem </a:t>
            </a:r>
            <a:r>
              <a:rPr lang="de-DE" sz="2000" i="1"/>
              <a:t>expliziten Moduswechsel!</a:t>
            </a:r>
            <a:r>
              <a:rPr lang="de-DE" sz="2000"/>
              <a:t>  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A74BB45E-3158-1249-3703-8DC8394305B5}"/>
              </a:ext>
            </a:extLst>
          </p:cNvPr>
          <p:cNvGrpSpPr/>
          <p:nvPr/>
        </p:nvGrpSpPr>
        <p:grpSpPr>
          <a:xfrm>
            <a:off x="750351" y="1055811"/>
            <a:ext cx="10958734" cy="5643219"/>
            <a:chOff x="750351" y="1055811"/>
            <a:chExt cx="10958734" cy="5643219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8C7CC583-04A8-1711-7267-440E9B8274EE}"/>
                </a:ext>
              </a:extLst>
            </p:cNvPr>
            <p:cNvGrpSpPr/>
            <p:nvPr/>
          </p:nvGrpSpPr>
          <p:grpSpPr>
            <a:xfrm>
              <a:off x="750351" y="1055811"/>
              <a:ext cx="10958734" cy="5643219"/>
              <a:chOff x="750351" y="1055811"/>
              <a:chExt cx="10958734" cy="5643219"/>
            </a:xfrm>
          </p:grpSpPr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829AD25F-9114-B332-4496-32AA66FB9099}"/>
                  </a:ext>
                </a:extLst>
              </p:cNvPr>
              <p:cNvGrpSpPr/>
              <p:nvPr/>
            </p:nvGrpSpPr>
            <p:grpSpPr>
              <a:xfrm>
                <a:off x="750351" y="1055811"/>
                <a:ext cx="10437021" cy="5643219"/>
                <a:chOff x="750351" y="1055811"/>
                <a:chExt cx="10437021" cy="5643219"/>
              </a:xfrm>
            </p:grpSpPr>
            <p:grpSp>
              <p:nvGrpSpPr>
                <p:cNvPr id="11" name="Gruppieren 10">
                  <a:extLst>
                    <a:ext uri="{FF2B5EF4-FFF2-40B4-BE49-F238E27FC236}">
                      <a16:creationId xmlns:a16="http://schemas.microsoft.com/office/drawing/2014/main" id="{F9DF1980-87A5-DF9B-4C35-F25E1B10BBE9}"/>
                    </a:ext>
                  </a:extLst>
                </p:cNvPr>
                <p:cNvGrpSpPr/>
                <p:nvPr/>
              </p:nvGrpSpPr>
              <p:grpSpPr>
                <a:xfrm>
                  <a:off x="750351" y="1082344"/>
                  <a:ext cx="10437021" cy="5616686"/>
                  <a:chOff x="655101" y="996619"/>
                  <a:chExt cx="10437021" cy="5616686"/>
                </a:xfrm>
              </p:grpSpPr>
              <p:graphicFrame>
                <p:nvGraphicFramePr>
                  <p:cNvPr id="2" name="Objekt 1">
                    <a:extLst>
                      <a:ext uri="{FF2B5EF4-FFF2-40B4-BE49-F238E27FC236}">
                        <a16:creationId xmlns:a16="http://schemas.microsoft.com/office/drawing/2014/main" id="{D5ECA142-B412-E0D5-06F1-656EF56CD978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700902092"/>
                      </p:ext>
                    </p:extLst>
                  </p:nvPr>
                </p:nvGraphicFramePr>
                <p:xfrm>
                  <a:off x="3268342" y="1099149"/>
                  <a:ext cx="1009391" cy="49076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Image" r:id="rId3" imgW="10638619" imgH="5172693" progId="Photoshop.Image.7">
                          <p:embed/>
                        </p:oleObj>
                      </mc:Choice>
                      <mc:Fallback>
                        <p:oleObj name="Image" r:id="rId3" imgW="10638619" imgH="5172693" progId="Photoshop.Image.7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68342" y="1099149"/>
                                <a:ext cx="1009391" cy="490762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cxnSp>
                <p:nvCxnSpPr>
                  <p:cNvPr id="6" name="Gerader Verbinder 5">
                    <a:extLst>
                      <a:ext uri="{FF2B5EF4-FFF2-40B4-BE49-F238E27FC236}">
                        <a16:creationId xmlns:a16="http://schemas.microsoft.com/office/drawing/2014/main" id="{4F1D6A53-778D-D4CA-DF28-B32614F2BC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27643" y="1378047"/>
                    <a:ext cx="34835" cy="4038599"/>
                  </a:xfrm>
                  <a:prstGeom prst="line">
                    <a:avLst/>
                  </a:prstGeom>
                  <a:ln w="28575"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7BD7EA1E-C351-FA16-597F-C8904AEE55E8}"/>
                      </a:ext>
                    </a:extLst>
                  </p:cNvPr>
                  <p:cNvSpPr txBox="1"/>
                  <p:nvPr/>
                </p:nvSpPr>
                <p:spPr>
                  <a:xfrm>
                    <a:off x="655101" y="996619"/>
                    <a:ext cx="2774734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2400" b="1">
                        <a:solidFill>
                          <a:srgbClr val="002060"/>
                        </a:solidFill>
                      </a:rPr>
                      <a:t>„speedboat-lane“ </a:t>
                    </a:r>
                  </a:p>
                  <a:p>
                    <a:pPr algn="ctr"/>
                    <a:r>
                      <a:rPr lang="de-DE" sz="1600">
                        <a:solidFill>
                          <a:srgbClr val="002060"/>
                        </a:solidFill>
                      </a:rPr>
                      <a:t>(ckluth/haevg - GitHub)</a:t>
                    </a:r>
                  </a:p>
                </p:txBody>
              </p:sp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F48A6FD9-47FD-C5EB-4F97-78E97694F368}"/>
                      </a:ext>
                    </a:extLst>
                  </p:cNvPr>
                  <p:cNvSpPr txBox="1"/>
                  <p:nvPr/>
                </p:nvSpPr>
                <p:spPr>
                  <a:xfrm>
                    <a:off x="8143751" y="1012888"/>
                    <a:ext cx="2948371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sz="2400" b="1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HÄVG-SWE-Domain</a:t>
                    </a:r>
                  </a:p>
                </p:txBody>
              </p:sp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9D900BFE-C88A-3A8A-B9AB-D4E4F9F8A368}"/>
                      </a:ext>
                    </a:extLst>
                  </p:cNvPr>
                  <p:cNvSpPr txBox="1"/>
                  <p:nvPr/>
                </p:nvSpPr>
                <p:spPr>
                  <a:xfrm>
                    <a:off x="4550946" y="1010586"/>
                    <a:ext cx="2227918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sz="2400" b="1">
                        <a:solidFill>
                          <a:srgbClr val="0070C0"/>
                        </a:solidFill>
                      </a:rPr>
                      <a:t>„staging-pipe“</a:t>
                    </a:r>
                  </a:p>
                  <a:p>
                    <a:pPr algn="ctr"/>
                    <a:r>
                      <a:rPr lang="de-DE" sz="1600">
                        <a:solidFill>
                          <a:srgbClr val="0070C0"/>
                        </a:solidFill>
                      </a:rPr>
                      <a:t>decision-gate</a:t>
                    </a:r>
                  </a:p>
                </p:txBody>
              </p:sp>
              <p:sp>
                <p:nvSpPr>
                  <p:cNvPr id="19" name="Ellipse 18">
                    <a:extLst>
                      <a:ext uri="{FF2B5EF4-FFF2-40B4-BE49-F238E27FC236}">
                        <a16:creationId xmlns:a16="http://schemas.microsoft.com/office/drawing/2014/main" id="{39258206-4131-12A3-660F-17B889C6B58A}"/>
                      </a:ext>
                    </a:extLst>
                  </p:cNvPr>
                  <p:cNvSpPr/>
                  <p:nvPr/>
                </p:nvSpPr>
                <p:spPr>
                  <a:xfrm>
                    <a:off x="5319732" y="2952238"/>
                    <a:ext cx="1507308" cy="742950"/>
                  </a:xfrm>
                  <a:prstGeom prst="ellipse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600" b="1"/>
                      <a:t>Proposal</a:t>
                    </a:r>
                  </a:p>
                </p:txBody>
              </p:sp>
              <p:sp>
                <p:nvSpPr>
                  <p:cNvPr id="20" name="Ellipse 19">
                    <a:extLst>
                      <a:ext uri="{FF2B5EF4-FFF2-40B4-BE49-F238E27FC236}">
                        <a16:creationId xmlns:a16="http://schemas.microsoft.com/office/drawing/2014/main" id="{71B297BD-EB29-7936-AFE6-4B0B3CCC06CA}"/>
                      </a:ext>
                    </a:extLst>
                  </p:cNvPr>
                  <p:cNvSpPr/>
                  <p:nvPr/>
                </p:nvSpPr>
                <p:spPr>
                  <a:xfrm>
                    <a:off x="5319732" y="3981208"/>
                    <a:ext cx="1507308" cy="742950"/>
                  </a:xfrm>
                  <a:prstGeom prst="ellipse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600" b="1"/>
                      <a:t>Proposal</a:t>
                    </a:r>
                  </a:p>
                </p:txBody>
              </p:sp>
              <p:sp>
                <p:nvSpPr>
                  <p:cNvPr id="21" name="Ellipse 20">
                    <a:extLst>
                      <a:ext uri="{FF2B5EF4-FFF2-40B4-BE49-F238E27FC236}">
                        <a16:creationId xmlns:a16="http://schemas.microsoft.com/office/drawing/2014/main" id="{90575A8D-8C72-B615-A545-E12FE53533E5}"/>
                      </a:ext>
                    </a:extLst>
                  </p:cNvPr>
                  <p:cNvSpPr/>
                  <p:nvPr/>
                </p:nvSpPr>
                <p:spPr>
                  <a:xfrm>
                    <a:off x="5328141" y="1952624"/>
                    <a:ext cx="1507308" cy="742950"/>
                  </a:xfrm>
                  <a:prstGeom prst="ellipse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600" b="1"/>
                      <a:t>Proposal</a:t>
                    </a:r>
                  </a:p>
                </p:txBody>
              </p:sp>
              <p:sp>
                <p:nvSpPr>
                  <p:cNvPr id="22" name="Ellipse 21">
                    <a:extLst>
                      <a:ext uri="{FF2B5EF4-FFF2-40B4-BE49-F238E27FC236}">
                        <a16:creationId xmlns:a16="http://schemas.microsoft.com/office/drawing/2014/main" id="{2063DA56-F4AD-AC48-CCFA-10F491C2F167}"/>
                      </a:ext>
                    </a:extLst>
                  </p:cNvPr>
                  <p:cNvSpPr/>
                  <p:nvPr/>
                </p:nvSpPr>
                <p:spPr>
                  <a:xfrm>
                    <a:off x="8825679" y="1991506"/>
                    <a:ext cx="1507308" cy="742950"/>
                  </a:xfrm>
                  <a:prstGeom prst="ellipse">
                    <a:avLst/>
                  </a:prstGeom>
                  <a:solidFill>
                    <a:srgbClr val="00B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600" b="1"/>
                      <a:t>Decision</a:t>
                    </a:r>
                  </a:p>
                </p:txBody>
              </p:sp>
              <p:sp>
                <p:nvSpPr>
                  <p:cNvPr id="23" name="Ellipse 22">
                    <a:extLst>
                      <a:ext uri="{FF2B5EF4-FFF2-40B4-BE49-F238E27FC236}">
                        <a16:creationId xmlns:a16="http://schemas.microsoft.com/office/drawing/2014/main" id="{6BCAFD35-9659-BAB9-4F1B-2ACD5A03309D}"/>
                      </a:ext>
                    </a:extLst>
                  </p:cNvPr>
                  <p:cNvSpPr/>
                  <p:nvPr/>
                </p:nvSpPr>
                <p:spPr>
                  <a:xfrm>
                    <a:off x="8831531" y="2952238"/>
                    <a:ext cx="1507308" cy="742950"/>
                  </a:xfrm>
                  <a:prstGeom prst="ellipse">
                    <a:avLst/>
                  </a:prstGeom>
                  <a:solidFill>
                    <a:srgbClr val="00B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600" b="1"/>
                      <a:t>Decision</a:t>
                    </a:r>
                  </a:p>
                </p:txBody>
              </p:sp>
              <p:sp>
                <p:nvSpPr>
                  <p:cNvPr id="24" name="Ellipse 23">
                    <a:extLst>
                      <a:ext uri="{FF2B5EF4-FFF2-40B4-BE49-F238E27FC236}">
                        <a16:creationId xmlns:a16="http://schemas.microsoft.com/office/drawing/2014/main" id="{57C1F23F-BCC7-4F6C-01C3-846DEC0EFEC0}"/>
                      </a:ext>
                    </a:extLst>
                  </p:cNvPr>
                  <p:cNvSpPr/>
                  <p:nvPr/>
                </p:nvSpPr>
                <p:spPr>
                  <a:xfrm>
                    <a:off x="8831531" y="3973704"/>
                    <a:ext cx="1507308" cy="742950"/>
                  </a:xfrm>
                  <a:prstGeom prst="ellipse">
                    <a:avLst/>
                  </a:prstGeom>
                  <a:solidFill>
                    <a:srgbClr val="00B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600" b="1"/>
                      <a:t>Decision</a:t>
                    </a:r>
                  </a:p>
                </p:txBody>
              </p:sp>
              <p:pic>
                <p:nvPicPr>
                  <p:cNvPr id="29" name="Grafik 28">
                    <a:extLst>
                      <a:ext uri="{FF2B5EF4-FFF2-40B4-BE49-F238E27FC236}">
                        <a16:creationId xmlns:a16="http://schemas.microsoft.com/office/drawing/2014/main" id="{FD624151-C93A-C1A6-942A-96A2AF69FF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03403" y="5828111"/>
                    <a:ext cx="785194" cy="785194"/>
                  </a:xfrm>
                  <a:prstGeom prst="rect">
                    <a:avLst/>
                  </a:prstGeom>
                </p:spPr>
              </p:pic>
              <p:cxnSp>
                <p:nvCxnSpPr>
                  <p:cNvPr id="33" name="Gerader Verbinder 32">
                    <a:extLst>
                      <a:ext uri="{FF2B5EF4-FFF2-40B4-BE49-F238E27FC236}">
                        <a16:creationId xmlns:a16="http://schemas.microsoft.com/office/drawing/2014/main" id="{2D9EE726-1AF9-8340-FED4-B3EFF74430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828" y="1330703"/>
                    <a:ext cx="18730" cy="4038599"/>
                  </a:xfrm>
                  <a:prstGeom prst="line">
                    <a:avLst/>
                  </a:prstGeom>
                  <a:ln w="762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Rechteck 35">
                    <a:extLst>
                      <a:ext uri="{FF2B5EF4-FFF2-40B4-BE49-F238E27FC236}">
                        <a16:creationId xmlns:a16="http://schemas.microsoft.com/office/drawing/2014/main" id="{952CADCB-1CB0-F1CA-741C-CB151AC44414}"/>
                      </a:ext>
                    </a:extLst>
                  </p:cNvPr>
                  <p:cNvSpPr/>
                  <p:nvPr/>
                </p:nvSpPr>
                <p:spPr>
                  <a:xfrm>
                    <a:off x="7461549" y="2590503"/>
                    <a:ext cx="888973" cy="159010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7" name="Pfeil: nach links 26">
                    <a:extLst>
                      <a:ext uri="{FF2B5EF4-FFF2-40B4-BE49-F238E27FC236}">
                        <a16:creationId xmlns:a16="http://schemas.microsoft.com/office/drawing/2014/main" id="{D78CB09B-750F-9588-B243-6B065C35AC7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396254" y="3115703"/>
                    <a:ext cx="1131789" cy="392399"/>
                  </a:xfrm>
                  <a:prstGeom prst="leftArrow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pic>
                <p:nvPicPr>
                  <p:cNvPr id="37" name="Grafik 36">
                    <a:extLst>
                      <a:ext uri="{FF2B5EF4-FFF2-40B4-BE49-F238E27FC236}">
                        <a16:creationId xmlns:a16="http://schemas.microsoft.com/office/drawing/2014/main" id="{B265D967-E0F6-75E0-AD93-28D8EEA4501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16635" y="2470917"/>
                    <a:ext cx="660908" cy="660908"/>
                  </a:xfrm>
                  <a:prstGeom prst="rect">
                    <a:avLst/>
                  </a:prstGeom>
                </p:spPr>
              </p:pic>
              <p:pic>
                <p:nvPicPr>
                  <p:cNvPr id="40" name="Grafik 39">
                    <a:extLst>
                      <a:ext uri="{FF2B5EF4-FFF2-40B4-BE49-F238E27FC236}">
                        <a16:creationId xmlns:a16="http://schemas.microsoft.com/office/drawing/2014/main" id="{606A1F1B-FF16-5FB9-1B7C-71990D18D2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7509541" y="3243197"/>
                    <a:ext cx="742950" cy="742950"/>
                  </a:xfrm>
                  <a:prstGeom prst="rect">
                    <a:avLst/>
                  </a:prstGeom>
                </p:spPr>
              </p:pic>
              <p:cxnSp>
                <p:nvCxnSpPr>
                  <p:cNvPr id="46" name="Gerader Verbinder 45">
                    <a:extLst>
                      <a:ext uri="{FF2B5EF4-FFF2-40B4-BE49-F238E27FC236}">
                        <a16:creationId xmlns:a16="http://schemas.microsoft.com/office/drawing/2014/main" id="{76BD3CD9-1AA6-01F6-ECFD-1B3E54261B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05036" y="5434046"/>
                    <a:ext cx="2245072" cy="0"/>
                  </a:xfrm>
                  <a:prstGeom prst="line">
                    <a:avLst/>
                  </a:prstGeom>
                  <a:ln w="28575"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" name="Pfeil: nach links 29">
                    <a:extLst>
                      <a:ext uri="{FF2B5EF4-FFF2-40B4-BE49-F238E27FC236}">
                        <a16:creationId xmlns:a16="http://schemas.microsoft.com/office/drawing/2014/main" id="{23F6AB9C-6C3F-7896-F149-587F6EA6554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701910" y="5183129"/>
                    <a:ext cx="742952" cy="392399"/>
                  </a:xfrm>
                  <a:prstGeom prst="leftArrow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3" name="Ellipse 52">
                    <a:extLst>
                      <a:ext uri="{FF2B5EF4-FFF2-40B4-BE49-F238E27FC236}">
                        <a16:creationId xmlns:a16="http://schemas.microsoft.com/office/drawing/2014/main" id="{4CE273E4-DACC-18FE-B1F2-F22205DF295C}"/>
                      </a:ext>
                    </a:extLst>
                  </p:cNvPr>
                  <p:cNvSpPr/>
                  <p:nvPr/>
                </p:nvSpPr>
                <p:spPr>
                  <a:xfrm>
                    <a:off x="2221449" y="1991506"/>
                    <a:ext cx="1431518" cy="742950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600" b="1">
                        <a:solidFill>
                          <a:schemeClr val="tx1"/>
                        </a:solidFill>
                      </a:rPr>
                      <a:t>Raw</a:t>
                    </a:r>
                  </a:p>
                </p:txBody>
              </p:sp>
              <p:pic>
                <p:nvPicPr>
                  <p:cNvPr id="54" name="Grafik 53">
                    <a:extLst>
                      <a:ext uri="{FF2B5EF4-FFF2-40B4-BE49-F238E27FC236}">
                        <a16:creationId xmlns:a16="http://schemas.microsoft.com/office/drawing/2014/main" id="{F4B67388-3290-E097-0F90-89890F1565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5072434" y="4749558"/>
                    <a:ext cx="742950" cy="742950"/>
                  </a:xfrm>
                  <a:prstGeom prst="rect">
                    <a:avLst/>
                  </a:prstGeom>
                </p:spPr>
              </p:pic>
              <p:pic>
                <p:nvPicPr>
                  <p:cNvPr id="55" name="Grafik 54">
                    <a:extLst>
                      <a:ext uri="{FF2B5EF4-FFF2-40B4-BE49-F238E27FC236}">
                        <a16:creationId xmlns:a16="http://schemas.microsoft.com/office/drawing/2014/main" id="{BB923A5B-0DCC-6EC9-543A-79CED09BB24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7540445" y="3566427"/>
                    <a:ext cx="742950" cy="742950"/>
                  </a:xfrm>
                  <a:prstGeom prst="rect">
                    <a:avLst/>
                  </a:prstGeom>
                </p:spPr>
              </p:pic>
              <p:pic>
                <p:nvPicPr>
                  <p:cNvPr id="5" name="Grafik 4">
                    <a:extLst>
                      <a:ext uri="{FF2B5EF4-FFF2-40B4-BE49-F238E27FC236}">
                        <a16:creationId xmlns:a16="http://schemas.microsoft.com/office/drawing/2014/main" id="{5A5D133E-2F3E-D728-61FD-48C7E29F36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8757477">
                    <a:off x="762628" y="2653669"/>
                    <a:ext cx="1570399" cy="1570399"/>
                  </a:xfrm>
                  <a:prstGeom prst="rect">
                    <a:avLst/>
                  </a:prstGeom>
                </p:spPr>
              </p:pic>
              <p:sp>
                <p:nvSpPr>
                  <p:cNvPr id="4" name="Rechteck 3">
                    <a:extLst>
                      <a:ext uri="{FF2B5EF4-FFF2-40B4-BE49-F238E27FC236}">
                        <a16:creationId xmlns:a16="http://schemas.microsoft.com/office/drawing/2014/main" id="{FF5D6EF1-60CC-73F2-4B3E-569488FA4AC9}"/>
                      </a:ext>
                    </a:extLst>
                  </p:cNvPr>
                  <p:cNvSpPr/>
                  <p:nvPr/>
                </p:nvSpPr>
                <p:spPr>
                  <a:xfrm>
                    <a:off x="3994770" y="2734456"/>
                    <a:ext cx="888973" cy="12516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5" name="Pfeil: nach links 14">
                    <a:extLst>
                      <a:ext uri="{FF2B5EF4-FFF2-40B4-BE49-F238E27FC236}">
                        <a16:creationId xmlns:a16="http://schemas.microsoft.com/office/drawing/2014/main" id="{2C0A912A-2832-E5FD-10A4-D85EAC1FA58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880936" y="2973069"/>
                    <a:ext cx="1233011" cy="645208"/>
                  </a:xfrm>
                  <a:prstGeom prst="leftArrow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2" name="Ellipse 11">
                    <a:extLst>
                      <a:ext uri="{FF2B5EF4-FFF2-40B4-BE49-F238E27FC236}">
                        <a16:creationId xmlns:a16="http://schemas.microsoft.com/office/drawing/2014/main" id="{320B11DB-31BD-BD2C-7129-58C150BA617B}"/>
                      </a:ext>
                    </a:extLst>
                  </p:cNvPr>
                  <p:cNvSpPr/>
                  <p:nvPr/>
                </p:nvSpPr>
                <p:spPr>
                  <a:xfrm>
                    <a:off x="2221449" y="2957686"/>
                    <a:ext cx="1431518" cy="742950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600" b="1">
                        <a:solidFill>
                          <a:schemeClr val="tx1"/>
                        </a:solidFill>
                      </a:rPr>
                      <a:t>Raw</a:t>
                    </a:r>
                  </a:p>
                </p:txBody>
              </p:sp>
              <p:sp>
                <p:nvSpPr>
                  <p:cNvPr id="13" name="Ellipse 12">
                    <a:extLst>
                      <a:ext uri="{FF2B5EF4-FFF2-40B4-BE49-F238E27FC236}">
                        <a16:creationId xmlns:a16="http://schemas.microsoft.com/office/drawing/2014/main" id="{CE83A1D4-37AA-E853-263C-980B360DA9B4}"/>
                      </a:ext>
                    </a:extLst>
                  </p:cNvPr>
                  <p:cNvSpPr/>
                  <p:nvPr/>
                </p:nvSpPr>
                <p:spPr>
                  <a:xfrm>
                    <a:off x="2212349" y="3957330"/>
                    <a:ext cx="1431518" cy="742950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600" b="1">
                        <a:solidFill>
                          <a:schemeClr val="tx1"/>
                        </a:solidFill>
                      </a:rPr>
                      <a:t>Raw</a:t>
                    </a:r>
                  </a:p>
                </p:txBody>
              </p:sp>
            </p:grpSp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FF19F27-BFA8-C546-958A-1424C53CCFDB}"/>
                    </a:ext>
                  </a:extLst>
                </p:cNvPr>
                <p:cNvSpPr txBox="1"/>
                <p:nvPr/>
              </p:nvSpPr>
              <p:spPr>
                <a:xfrm>
                  <a:off x="3719527" y="3617084"/>
                  <a:ext cx="161371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600"/>
                    <a:t>„content pump“</a:t>
                  </a:r>
                </a:p>
              </p:txBody>
            </p:sp>
            <p:pic>
              <p:nvPicPr>
                <p:cNvPr id="16" name="Grafik 15" descr="Türsteher - Kostenlose menschen-Icons">
                  <a:extLst>
                    <a:ext uri="{FF2B5EF4-FFF2-40B4-BE49-F238E27FC236}">
                      <a16:creationId xmlns:a16="http://schemas.microsoft.com/office/drawing/2014/main" id="{A0E9892C-BB23-A46C-35AE-DBE5BE7147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47847" y="1055811"/>
                  <a:ext cx="769441" cy="769441"/>
                </a:xfrm>
                <a:prstGeom prst="rect">
                  <a:avLst/>
                </a:prstGeom>
              </p:spPr>
            </p:pic>
          </p:grpSp>
          <p:pic>
            <p:nvPicPr>
              <p:cNvPr id="17" name="Grafik 16">
                <a:extLst>
                  <a:ext uri="{FF2B5EF4-FFF2-40B4-BE49-F238E27FC236}">
                    <a16:creationId xmlns:a16="http://schemas.microsoft.com/office/drawing/2014/main" id="{81747E49-5DF4-CEE4-6843-CC98AD34FB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187372" y="1075150"/>
                <a:ext cx="521713" cy="508589"/>
              </a:xfrm>
              <a:prstGeom prst="rect">
                <a:avLst/>
              </a:prstGeom>
            </p:spPr>
          </p:pic>
        </p:grpSp>
        <p:sp>
          <p:nvSpPr>
            <p:cNvPr id="26" name="Parallelogramm 25">
              <a:extLst>
                <a:ext uri="{FF2B5EF4-FFF2-40B4-BE49-F238E27FC236}">
                  <a16:creationId xmlns:a16="http://schemas.microsoft.com/office/drawing/2014/main" id="{254F0ACF-941E-D493-7F91-719AA052FE63}"/>
                </a:ext>
              </a:extLst>
            </p:cNvPr>
            <p:cNvSpPr/>
            <p:nvPr/>
          </p:nvSpPr>
          <p:spPr>
            <a:xfrm>
              <a:off x="3986969" y="3233773"/>
              <a:ext cx="395757" cy="303348"/>
            </a:xfrm>
            <a:prstGeom prst="parallelogram">
              <a:avLst>
                <a:gd name="adj" fmla="val 82983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Parallelogramm 27">
              <a:extLst>
                <a:ext uri="{FF2B5EF4-FFF2-40B4-BE49-F238E27FC236}">
                  <a16:creationId xmlns:a16="http://schemas.microsoft.com/office/drawing/2014/main" id="{361AE975-8A63-E643-94C0-A5D03257DDDF}"/>
                </a:ext>
              </a:extLst>
            </p:cNvPr>
            <p:cNvSpPr/>
            <p:nvPr/>
          </p:nvSpPr>
          <p:spPr>
            <a:xfrm>
              <a:off x="4186998" y="3229002"/>
              <a:ext cx="395757" cy="303348"/>
            </a:xfrm>
            <a:prstGeom prst="parallelogram">
              <a:avLst>
                <a:gd name="adj" fmla="val 82983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Parallelogramm 30">
              <a:extLst>
                <a:ext uri="{FF2B5EF4-FFF2-40B4-BE49-F238E27FC236}">
                  <a16:creationId xmlns:a16="http://schemas.microsoft.com/office/drawing/2014/main" id="{2C024125-6091-9DE9-858C-8DC0E02D8177}"/>
                </a:ext>
              </a:extLst>
            </p:cNvPr>
            <p:cNvSpPr/>
            <p:nvPr/>
          </p:nvSpPr>
          <p:spPr>
            <a:xfrm>
              <a:off x="4387027" y="3224231"/>
              <a:ext cx="395757" cy="303348"/>
            </a:xfrm>
            <a:prstGeom prst="parallelogram">
              <a:avLst>
                <a:gd name="adj" fmla="val 82983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33023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DC80EC7-4C0F-4194-434A-099BD639CB3A}"/>
              </a:ext>
            </a:extLst>
          </p:cNvPr>
          <p:cNvSpPr txBox="1"/>
          <p:nvPr/>
        </p:nvSpPr>
        <p:spPr>
          <a:xfrm>
            <a:off x="1562100" y="2828925"/>
            <a:ext cx="8908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/>
              <a:t>--- Ausblick auf potentielle Lösungen ---</a:t>
            </a:r>
          </a:p>
        </p:txBody>
      </p:sp>
    </p:spTree>
    <p:extLst>
      <p:ext uri="{BB962C8B-B14F-4D97-AF65-F5344CB8AC3E}">
        <p14:creationId xmlns:p14="http://schemas.microsoft.com/office/powerpoint/2010/main" val="3978423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50BBE-18B9-1DDD-5255-D1EE6B0E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95EA94C-38F5-591E-D9FD-26E4B0482979}"/>
              </a:ext>
            </a:extLst>
          </p:cNvPr>
          <p:cNvGrpSpPr/>
          <p:nvPr/>
        </p:nvGrpSpPr>
        <p:grpSpPr>
          <a:xfrm>
            <a:off x="2754884" y="1204601"/>
            <a:ext cx="6265164" cy="2351399"/>
            <a:chOff x="2900934" y="2068201"/>
            <a:chExt cx="6265164" cy="23513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C4F543A1-F974-944C-7768-7BEE20598B94}"/>
                </a:ext>
              </a:extLst>
            </p:cNvPr>
            <p:cNvGrpSpPr/>
            <p:nvPr/>
          </p:nvGrpSpPr>
          <p:grpSpPr>
            <a:xfrm>
              <a:off x="3105916" y="2584254"/>
              <a:ext cx="1652773" cy="1632146"/>
              <a:chOff x="2013970" y="586290"/>
              <a:chExt cx="1652773" cy="3976566"/>
            </a:xfrm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ACAEF261-0AFD-A473-0D38-5BB18A1354BE}"/>
                  </a:ext>
                </a:extLst>
              </p:cNvPr>
              <p:cNvSpPr/>
              <p:nvPr/>
            </p:nvSpPr>
            <p:spPr>
              <a:xfrm>
                <a:off x="2031236" y="586290"/>
                <a:ext cx="1635507" cy="39765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7030A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E23814A-842D-A0C4-226C-84B90FC0854E}"/>
                  </a:ext>
                </a:extLst>
              </p:cNvPr>
              <p:cNvSpPr txBox="1"/>
              <p:nvPr/>
            </p:nvSpPr>
            <p:spPr>
              <a:xfrm>
                <a:off x="2013970" y="594762"/>
                <a:ext cx="1087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b="1">
                    <a:solidFill>
                      <a:srgbClr val="7030A0"/>
                    </a:solidFill>
                  </a:rPr>
                  <a:t>backend</a:t>
                </a:r>
              </a:p>
            </p:txBody>
          </p:sp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766AAFB1-9BCF-A234-F93F-8BB0D3D6F669}"/>
                </a:ext>
              </a:extLst>
            </p:cNvPr>
            <p:cNvGrpSpPr/>
            <p:nvPr/>
          </p:nvGrpSpPr>
          <p:grpSpPr>
            <a:xfrm>
              <a:off x="7402414" y="2590603"/>
              <a:ext cx="1609958" cy="1625798"/>
              <a:chOff x="6606124" y="632007"/>
              <a:chExt cx="1609958" cy="3976568"/>
            </a:xfrm>
            <a:solidFill>
              <a:schemeClr val="bg1">
                <a:lumMod val="95000"/>
              </a:schemeClr>
            </a:solidFill>
          </p:grpSpPr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DFC07FED-600D-4DE7-5721-04134762009E}"/>
                  </a:ext>
                </a:extLst>
              </p:cNvPr>
              <p:cNvSpPr/>
              <p:nvPr/>
            </p:nvSpPr>
            <p:spPr>
              <a:xfrm>
                <a:off x="6606124" y="632007"/>
                <a:ext cx="1609958" cy="3976568"/>
              </a:xfrm>
              <a:prstGeom prst="rect">
                <a:avLst/>
              </a:prstGeom>
              <a:grp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50ED622-67A4-03A0-B579-8272ADDDDA00}"/>
                  </a:ext>
                </a:extLst>
              </p:cNvPr>
              <p:cNvSpPr txBox="1"/>
              <p:nvPr/>
            </p:nvSpPr>
            <p:spPr>
              <a:xfrm>
                <a:off x="6607221" y="632142"/>
                <a:ext cx="514885" cy="9033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job</a:t>
                </a:r>
              </a:p>
            </p:txBody>
          </p: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3656935A-914A-3594-2569-CFD4E2974623}"/>
                </a:ext>
              </a:extLst>
            </p:cNvPr>
            <p:cNvGrpSpPr/>
            <p:nvPr/>
          </p:nvGrpSpPr>
          <p:grpSpPr>
            <a:xfrm>
              <a:off x="5389368" y="3182254"/>
              <a:ext cx="2004894" cy="615297"/>
              <a:chOff x="4408814" y="5346379"/>
              <a:chExt cx="824980" cy="615297"/>
            </a:xfrm>
          </p:grpSpPr>
          <p:sp>
            <p:nvSpPr>
              <p:cNvPr id="22" name="Pfeil: nach links und rechts 21">
                <a:extLst>
                  <a:ext uri="{FF2B5EF4-FFF2-40B4-BE49-F238E27FC236}">
                    <a16:creationId xmlns:a16="http://schemas.microsoft.com/office/drawing/2014/main" id="{D250BC81-0220-4A80-8B23-D6AF68702081}"/>
                  </a:ext>
                </a:extLst>
              </p:cNvPr>
              <p:cNvSpPr/>
              <p:nvPr/>
            </p:nvSpPr>
            <p:spPr>
              <a:xfrm>
                <a:off x="4408814" y="5346379"/>
                <a:ext cx="786344" cy="615297"/>
              </a:xfrm>
              <a:prstGeom prst="left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31D5EBB-A89F-35F1-BDFF-4FE0D37A0761}"/>
                  </a:ext>
                </a:extLst>
              </p:cNvPr>
              <p:cNvSpPr txBox="1"/>
              <p:nvPr/>
            </p:nvSpPr>
            <p:spPr>
              <a:xfrm>
                <a:off x="4479908" y="5471494"/>
                <a:ext cx="753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i="1"/>
                  <a:t>one-to-one</a:t>
                </a:r>
                <a:r>
                  <a:rPr lang="de-DE" i="1"/>
                  <a:t> </a:t>
                </a:r>
                <a:r>
                  <a:rPr lang="de-DE" b="1" i="1"/>
                  <a:t>IPC</a:t>
                </a:r>
              </a:p>
            </p:txBody>
          </p:sp>
        </p:grp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BE488C41-3E39-E95D-85D1-75AE15220CA5}"/>
                </a:ext>
              </a:extLst>
            </p:cNvPr>
            <p:cNvSpPr/>
            <p:nvPr/>
          </p:nvSpPr>
          <p:spPr>
            <a:xfrm>
              <a:off x="2911602" y="2086489"/>
              <a:ext cx="6254496" cy="2333111"/>
            </a:xfrm>
            <a:prstGeom prst="rect">
              <a:avLst/>
            </a:prstGeom>
            <a:noFill/>
            <a:ln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6860F192-A780-ACF2-B447-DBCED6349946}"/>
                </a:ext>
              </a:extLst>
            </p:cNvPr>
            <p:cNvSpPr txBox="1"/>
            <p:nvPr/>
          </p:nvSpPr>
          <p:spPr>
            <a:xfrm>
              <a:off x="2900934" y="2068201"/>
              <a:ext cx="61375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>
                  <a:solidFill>
                    <a:srgbClr val="002060"/>
                  </a:solidFill>
                </a:rPr>
                <a:t>one logical job-session-process in two separate process-spaces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35339789-9892-8B3C-0986-3CE07F4F5B0F}"/>
                </a:ext>
              </a:extLst>
            </p:cNvPr>
            <p:cNvSpPr txBox="1"/>
            <p:nvPr/>
          </p:nvSpPr>
          <p:spPr>
            <a:xfrm>
              <a:off x="8531784" y="3941718"/>
              <a:ext cx="409133" cy="21544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none" lIns="72000" tIns="0" rIns="72000" bIns="0" rtlCol="0">
              <a:spAutoFit/>
            </a:bodyPr>
            <a:lstStyle/>
            <a:p>
              <a:r>
                <a:rPr lang="de-DE" sz="1400" i="1"/>
                <a:t>exe</a:t>
              </a:r>
            </a:p>
          </p:txBody>
        </p:sp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D7D6D2AD-63E5-9095-4FC5-2C10252C76EB}"/>
                </a:ext>
              </a:extLst>
            </p:cNvPr>
            <p:cNvGrpSpPr/>
            <p:nvPr/>
          </p:nvGrpSpPr>
          <p:grpSpPr>
            <a:xfrm>
              <a:off x="3535617" y="3049876"/>
              <a:ext cx="1780191" cy="791538"/>
              <a:chOff x="798604" y="351742"/>
              <a:chExt cx="1780191" cy="791538"/>
            </a:xfrm>
          </p:grpSpPr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2A5786B1-3FB4-0E22-8DA1-DBDDF5C888CC}"/>
                  </a:ext>
                </a:extLst>
              </p:cNvPr>
              <p:cNvSpPr/>
              <p:nvPr/>
            </p:nvSpPr>
            <p:spPr>
              <a:xfrm>
                <a:off x="814720" y="378232"/>
                <a:ext cx="1764075" cy="76504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3610DF32-87F5-5383-6DF3-1DE9594680FB}"/>
                  </a:ext>
                </a:extLst>
              </p:cNvPr>
              <p:cNvSpPr txBox="1"/>
              <p:nvPr/>
            </p:nvSpPr>
            <p:spPr>
              <a:xfrm>
                <a:off x="798604" y="351742"/>
                <a:ext cx="175772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b="1"/>
                  <a:t>session-broker</a:t>
                </a:r>
              </a:p>
              <a:p>
                <a:r>
                  <a:rPr lang="de-DE" sz="1200"/>
                  <a:t>(</a:t>
                </a:r>
                <a:r>
                  <a:rPr lang="de-DE" sz="1200" i="1"/>
                  <a:t>jap</a:t>
                </a:r>
                <a:r>
                  <a:rPr lang="de-DE" sz="1200"/>
                  <a:t>-server)</a:t>
                </a:r>
              </a:p>
            </p:txBody>
          </p:sp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1D7ECD08-4890-EEC5-6F3A-A6FCD2CC016F}"/>
                  </a:ext>
                </a:extLst>
              </p:cNvPr>
              <p:cNvSpPr txBox="1"/>
              <p:nvPr/>
            </p:nvSpPr>
            <p:spPr>
              <a:xfrm>
                <a:off x="2082650" y="855775"/>
                <a:ext cx="409133" cy="21544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none" lIns="72000" tIns="0" rIns="72000" bIns="0" rtlCol="0">
                <a:spAutoFit/>
              </a:bodyPr>
              <a:lstStyle/>
              <a:p>
                <a:r>
                  <a:rPr lang="de-DE" sz="1400" i="1"/>
                  <a:t>exe</a:t>
                </a:r>
              </a:p>
            </p:txBody>
          </p:sp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AF4BA5D2-C1EB-D6DF-7D31-767359EF3A5F}"/>
                </a:ext>
              </a:extLst>
            </p:cNvPr>
            <p:cNvGrpSpPr/>
            <p:nvPr/>
          </p:nvGrpSpPr>
          <p:grpSpPr>
            <a:xfrm>
              <a:off x="7389405" y="3049876"/>
              <a:ext cx="1485126" cy="830997"/>
              <a:chOff x="482782" y="1498463"/>
              <a:chExt cx="1485126" cy="830997"/>
            </a:xfrm>
          </p:grpSpPr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78C8DC7B-384F-04A5-6923-880D90B4157B}"/>
                  </a:ext>
                </a:extLst>
              </p:cNvPr>
              <p:cNvSpPr/>
              <p:nvPr/>
            </p:nvSpPr>
            <p:spPr>
              <a:xfrm>
                <a:off x="495724" y="1524953"/>
                <a:ext cx="1472184" cy="76504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65513305-956F-6658-DBD8-D938D088654B}"/>
                  </a:ext>
                </a:extLst>
              </p:cNvPr>
              <p:cNvSpPr txBox="1"/>
              <p:nvPr/>
            </p:nvSpPr>
            <p:spPr>
              <a:xfrm>
                <a:off x="482782" y="1498463"/>
                <a:ext cx="105798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job-host</a:t>
                </a:r>
              </a:p>
              <a:p>
                <a:r>
                  <a:rPr lang="de-DE" sz="1200"/>
                  <a:t>(</a:t>
                </a:r>
                <a:r>
                  <a:rPr lang="de-DE" sz="1200" i="1"/>
                  <a:t>jap</a:t>
                </a:r>
                <a:r>
                  <a:rPr lang="de-DE" sz="1200"/>
                  <a:t>-client)</a:t>
                </a:r>
              </a:p>
              <a:p>
                <a:endParaRPr lang="de-DE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8E3B4212-D8F9-751B-2BDE-F0766AF188FC}"/>
                  </a:ext>
                </a:extLst>
              </p:cNvPr>
              <p:cNvSpPr txBox="1"/>
              <p:nvPr/>
            </p:nvSpPr>
            <p:spPr>
              <a:xfrm>
                <a:off x="1332488" y="2003766"/>
                <a:ext cx="580077" cy="21544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none" lIns="72000" tIns="0" rIns="72000" bIns="0" rtlCol="0">
                <a:spAutoFit/>
              </a:bodyPr>
              <a:lstStyle/>
              <a:p>
                <a:r>
                  <a:rPr lang="de-DE" sz="1400" i="1"/>
                  <a:t>nuget</a:t>
                </a:r>
              </a:p>
            </p:txBody>
          </p:sp>
        </p:grp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519E1644-DBCE-0EF7-8B66-ED2E10EBBA6F}"/>
              </a:ext>
            </a:extLst>
          </p:cNvPr>
          <p:cNvSpPr txBox="1"/>
          <p:nvPr/>
        </p:nvSpPr>
        <p:spPr>
          <a:xfrm>
            <a:off x="3393373" y="395109"/>
            <a:ext cx="5052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b="1" i="1">
                <a:solidFill>
                  <a:srgbClr val="002060"/>
                </a:solidFill>
              </a:rPr>
              <a:t>Proposal</a:t>
            </a:r>
            <a:r>
              <a:rPr lang="de-DE" sz="2800" b="1"/>
              <a:t> für das Kernproblem</a:t>
            </a:r>
            <a:endParaRPr lang="de-DE" b="1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1B0DD6C-1959-F561-62A6-4A45090DC6D2}"/>
              </a:ext>
            </a:extLst>
          </p:cNvPr>
          <p:cNvSpPr txBox="1"/>
          <p:nvPr/>
        </p:nvSpPr>
        <p:spPr>
          <a:xfrm>
            <a:off x="2658820" y="3671015"/>
            <a:ext cx="84187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600"/>
              <a:t>Trennung in zwei Prozessräume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600"/>
              <a:t>System.IO.Pipes (als Named-Pipes bzw. Unix-Domain-Sockets)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600" b="1"/>
              <a:t>Schaffung eines leichtgewichtigen </a:t>
            </a:r>
            <a:r>
              <a:rPr lang="de-DE" sz="1600" b="1" i="1"/>
              <a:t>one-to-one-IPC-Application-Protocols</a:t>
            </a:r>
            <a:r>
              <a:rPr lang="de-DE" sz="1600" b="1"/>
              <a:t>. (JAP)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E5349DD-7736-0A81-1AC6-477997C0DE28}"/>
              </a:ext>
            </a:extLst>
          </p:cNvPr>
          <p:cNvSpPr txBox="1"/>
          <p:nvPr/>
        </p:nvSpPr>
        <p:spPr>
          <a:xfrm>
            <a:off x="2703271" y="4573680"/>
            <a:ext cx="82409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Starke und nachhaltige Entkopplung (- nicht nur </a:t>
            </a:r>
            <a:r>
              <a:rPr lang="de-DE" sz="1800" i="1"/>
              <a:t>zur Runtime im Prozessraum</a:t>
            </a:r>
            <a:r>
              <a:rPr lang="de-DE" sz="1800"/>
              <a:t>!)</a:t>
            </a:r>
          </a:p>
          <a:p>
            <a:r>
              <a:rPr lang="de-DE" sz="1600"/>
              <a:t>Auf einer Maschine - unterhalb des Netzwerkstacks (keine Firewall, etc.)</a:t>
            </a:r>
          </a:p>
          <a:p>
            <a:endParaRPr lang="de-DE" sz="1800"/>
          </a:p>
          <a:p>
            <a:r>
              <a:rPr lang="de-DE" sz="1800" b="1">
                <a:solidFill>
                  <a:srgbClr val="0070C0"/>
                </a:solidFill>
              </a:rPr>
              <a:t>Zwei</a:t>
            </a:r>
            <a:r>
              <a:rPr lang="de-DE" sz="1800" b="1"/>
              <a:t> logisch, technologisch und architekturell getrennte </a:t>
            </a:r>
            <a:r>
              <a:rPr lang="de-DE" sz="1800" b="1" i="1">
                <a:solidFill>
                  <a:srgbClr val="0070C0"/>
                </a:solidFill>
              </a:rPr>
              <a:t>Domänen</a:t>
            </a:r>
            <a:r>
              <a:rPr lang="de-DE" sz="1800" b="1" i="1"/>
              <a:t>…</a:t>
            </a:r>
          </a:p>
          <a:p>
            <a:r>
              <a:rPr lang="de-DE" sz="1800"/>
              <a:t>…mit einer l</a:t>
            </a:r>
            <a:r>
              <a:rPr lang="de-DE"/>
              <a:t>eichtgewichtige Kopplung über das </a:t>
            </a:r>
            <a:r>
              <a:rPr lang="de-DE" b="1"/>
              <a:t>JAP-Protokoll</a:t>
            </a:r>
            <a:r>
              <a:rPr lang="de-DE"/>
              <a:t>.</a:t>
            </a:r>
            <a:r>
              <a:rPr lang="de-DE"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731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79B1E-EC5E-7DBE-C605-51B9B078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29CBA9D-1695-3BC9-6CAF-7B7166140E00}"/>
              </a:ext>
            </a:extLst>
          </p:cNvPr>
          <p:cNvGrpSpPr/>
          <p:nvPr/>
        </p:nvGrpSpPr>
        <p:grpSpPr>
          <a:xfrm>
            <a:off x="484412" y="305424"/>
            <a:ext cx="11188719" cy="5990600"/>
            <a:chOff x="484412" y="400674"/>
            <a:chExt cx="11188719" cy="5990600"/>
          </a:xfrm>
        </p:grpSpPr>
        <p:sp>
          <p:nvSpPr>
            <p:cNvPr id="103" name="Rechteck 102">
              <a:extLst>
                <a:ext uri="{FF2B5EF4-FFF2-40B4-BE49-F238E27FC236}">
                  <a16:creationId xmlns:a16="http://schemas.microsoft.com/office/drawing/2014/main" id="{BE8B31F0-3D7C-21FA-8743-F5C87A925FD5}"/>
                </a:ext>
              </a:extLst>
            </p:cNvPr>
            <p:cNvSpPr/>
            <p:nvPr/>
          </p:nvSpPr>
          <p:spPr>
            <a:xfrm>
              <a:off x="2148700" y="1048781"/>
              <a:ext cx="9295418" cy="1530573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AD91A5B5-C8A6-2FB6-DF17-EBFA34D56DBE}"/>
                </a:ext>
              </a:extLst>
            </p:cNvPr>
            <p:cNvGrpSpPr/>
            <p:nvPr/>
          </p:nvGrpSpPr>
          <p:grpSpPr>
            <a:xfrm>
              <a:off x="2332385" y="1335926"/>
              <a:ext cx="1667177" cy="920997"/>
              <a:chOff x="3254316" y="847884"/>
              <a:chExt cx="1667177" cy="916340"/>
            </a:xfrm>
          </p:grpSpPr>
          <p:sp>
            <p:nvSpPr>
              <p:cNvPr id="112" name="Rechteck 111">
                <a:extLst>
                  <a:ext uri="{FF2B5EF4-FFF2-40B4-BE49-F238E27FC236}">
                    <a16:creationId xmlns:a16="http://schemas.microsoft.com/office/drawing/2014/main" id="{973E445A-04D0-A221-AE3A-B7D0411F1F69}"/>
                  </a:ext>
                </a:extLst>
              </p:cNvPr>
              <p:cNvSpPr/>
              <p:nvPr/>
            </p:nvSpPr>
            <p:spPr>
              <a:xfrm>
                <a:off x="3254316" y="847884"/>
                <a:ext cx="1667177" cy="9163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13" name="Grafik 112">
                <a:extLst>
                  <a:ext uri="{FF2B5EF4-FFF2-40B4-BE49-F238E27FC236}">
                    <a16:creationId xmlns:a16="http://schemas.microsoft.com/office/drawing/2014/main" id="{B0524F46-216B-FE18-3C60-28CAE59FFD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39818" y="906311"/>
                <a:ext cx="551073" cy="551072"/>
              </a:xfrm>
              <a:prstGeom prst="rect">
                <a:avLst/>
              </a:prstGeom>
            </p:spPr>
          </p:pic>
        </p:grpSp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D875A9FF-14FA-BD5C-9F79-534F63A0589A}"/>
                </a:ext>
              </a:extLst>
            </p:cNvPr>
            <p:cNvSpPr txBox="1"/>
            <p:nvPr/>
          </p:nvSpPr>
          <p:spPr>
            <a:xfrm>
              <a:off x="2414913" y="851673"/>
              <a:ext cx="101332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rgbClr val="0070C0"/>
                  </a:solidFill>
                </a:rPr>
                <a:t>surface</a:t>
              </a:r>
              <a:endParaRPr lang="de-DE">
                <a:solidFill>
                  <a:srgbClr val="0070C0"/>
                </a:solidFill>
              </a:endParaRPr>
            </a:p>
          </p:txBody>
        </p:sp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9C8ED44E-D5BC-9858-56C6-E0AF260DCC80}"/>
                </a:ext>
              </a:extLst>
            </p:cNvPr>
            <p:cNvSpPr txBox="1"/>
            <p:nvPr/>
          </p:nvSpPr>
          <p:spPr>
            <a:xfrm>
              <a:off x="4862127" y="2812767"/>
              <a:ext cx="7873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b="1"/>
                <a:t>HTTP</a:t>
              </a:r>
              <a:endParaRPr lang="de-DE" sz="2000" i="1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4B7E8AA5-E7D8-99DE-40C2-701B6D8B773D}"/>
                </a:ext>
              </a:extLst>
            </p:cNvPr>
            <p:cNvSpPr txBox="1"/>
            <p:nvPr/>
          </p:nvSpPr>
          <p:spPr>
            <a:xfrm>
              <a:off x="4185293" y="1443039"/>
              <a:ext cx="3860157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>
                  <a:solidFill>
                    <a:srgbClr val="002060"/>
                  </a:solidFill>
                </a:rPr>
                <a:t>superseeds the former „RemoteControl“…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>
                  <a:solidFill>
                    <a:srgbClr val="002060"/>
                  </a:solidFill>
                </a:rPr>
                <a:t>suspends all RDP needs…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>
                  <a:solidFill>
                    <a:srgbClr val="002060"/>
                  </a:solidFill>
                </a:rPr>
                <a:t>maybe a blazor-app </a:t>
              </a:r>
              <a:r>
                <a:rPr lang="de-DE" sz="1400" i="1">
                  <a:solidFill>
                    <a:srgbClr val="002060"/>
                  </a:solidFill>
                </a:rPr>
                <a:t>and</a:t>
              </a:r>
              <a:r>
                <a:rPr lang="de-DE" sz="1400">
                  <a:solidFill>
                    <a:srgbClr val="002060"/>
                  </a:solidFill>
                </a:rPr>
                <a:t> a set of maintainer-scripts (maybe </a:t>
              </a:r>
              <a:r>
                <a:rPr lang="de-DE" sz="1400" i="1">
                  <a:solidFill>
                    <a:srgbClr val="002060"/>
                  </a:solidFill>
                </a:rPr>
                <a:t>ssh</a:t>
              </a:r>
              <a:r>
                <a:rPr lang="de-DE" sz="1400">
                  <a:solidFill>
                    <a:srgbClr val="002060"/>
                  </a:solidFill>
                </a:rPr>
                <a:t> or a „</a:t>
              </a:r>
              <a:r>
                <a:rPr lang="de-DE" sz="1400" i="1">
                  <a:solidFill>
                    <a:srgbClr val="002060"/>
                  </a:solidFill>
                </a:rPr>
                <a:t>curl</a:t>
              </a:r>
              <a:r>
                <a:rPr lang="de-DE" sz="1400">
                  <a:solidFill>
                    <a:srgbClr val="002060"/>
                  </a:solidFill>
                </a:rPr>
                <a:t>-interface“...)</a:t>
              </a:r>
            </a:p>
          </p:txBody>
        </p:sp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C1592DBC-F813-61B3-2D7D-B7D57EFF4E51}"/>
                </a:ext>
              </a:extLst>
            </p:cNvPr>
            <p:cNvSpPr txBox="1"/>
            <p:nvPr/>
          </p:nvSpPr>
          <p:spPr>
            <a:xfrm>
              <a:off x="4163395" y="1077617"/>
              <a:ext cx="71360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200"/>
                </a:spcAft>
                <a:buNone/>
              </a:pPr>
              <a:r>
                <a:rPr lang="de-DE" sz="2000" b="1" i="0">
                  <a:solidFill>
                    <a:srgbClr val="0070C0"/>
                  </a:solidFill>
                  <a:effectLst/>
                  <a:latin typeface="-apple-system"/>
                </a:rPr>
                <a:t>josyn-surface</a:t>
              </a:r>
              <a:r>
                <a:rPr lang="de-DE" sz="2000" b="1" i="0">
                  <a:effectLst/>
                  <a:latin typeface="-apple-system"/>
                </a:rPr>
                <a:t>: </a:t>
              </a:r>
              <a:r>
                <a:rPr lang="de-DE" sz="2000" i="1">
                  <a:effectLst/>
                  <a:latin typeface="-apple-system"/>
                </a:rPr>
                <a:t>the human window into a headless platform</a:t>
              </a:r>
            </a:p>
          </p:txBody>
        </p:sp>
        <p:sp>
          <p:nvSpPr>
            <p:cNvPr id="127" name="Textfeld 126">
              <a:extLst>
                <a:ext uri="{FF2B5EF4-FFF2-40B4-BE49-F238E27FC236}">
                  <a16:creationId xmlns:a16="http://schemas.microsoft.com/office/drawing/2014/main" id="{28D79F58-3D43-8A57-D710-417F5DE2D833}"/>
                </a:ext>
              </a:extLst>
            </p:cNvPr>
            <p:cNvSpPr txBox="1"/>
            <p:nvPr/>
          </p:nvSpPr>
          <p:spPr>
            <a:xfrm>
              <a:off x="2367776" y="1907443"/>
              <a:ext cx="15878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/>
                <a:t>machine/env-registry</a:t>
              </a:r>
            </a:p>
          </p:txBody>
        </p:sp>
        <p:sp>
          <p:nvSpPr>
            <p:cNvPr id="128" name="Rechteck 127">
              <a:extLst>
                <a:ext uri="{FF2B5EF4-FFF2-40B4-BE49-F238E27FC236}">
                  <a16:creationId xmlns:a16="http://schemas.microsoft.com/office/drawing/2014/main" id="{A2A13414-5EA5-9E8F-58E0-22A473AF6641}"/>
                </a:ext>
              </a:extLst>
            </p:cNvPr>
            <p:cNvSpPr/>
            <p:nvPr/>
          </p:nvSpPr>
          <p:spPr>
            <a:xfrm>
              <a:off x="719671" y="1048781"/>
              <a:ext cx="1319401" cy="1525257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Textfeld 129">
              <a:extLst>
                <a:ext uri="{FF2B5EF4-FFF2-40B4-BE49-F238E27FC236}">
                  <a16:creationId xmlns:a16="http://schemas.microsoft.com/office/drawing/2014/main" id="{3CBCB20F-B13E-0255-8062-7C6EF7C749D1}"/>
                </a:ext>
              </a:extLst>
            </p:cNvPr>
            <p:cNvSpPr txBox="1"/>
            <p:nvPr/>
          </p:nvSpPr>
          <p:spPr>
            <a:xfrm>
              <a:off x="776038" y="848032"/>
              <a:ext cx="118224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2"/>
                  </a:solidFill>
                </a:rPr>
                <a:t>pipelines</a:t>
              </a:r>
              <a:endParaRPr lang="de-DE">
                <a:solidFill>
                  <a:schemeClr val="accent2"/>
                </a:solidFill>
              </a:endParaRPr>
            </a:p>
          </p:txBody>
        </p:sp>
        <p:pic>
          <p:nvPicPr>
            <p:cNvPr id="131" name="Grafik 130" descr="Azure DevOps Logo and symbol, meaning, history, PNG, brand">
              <a:extLst>
                <a:ext uri="{FF2B5EF4-FFF2-40B4-BE49-F238E27FC236}">
                  <a16:creationId xmlns:a16="http://schemas.microsoft.com/office/drawing/2014/main" id="{6A3BD91A-5219-9F3A-7CE3-7A309B56D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4412" y="1322099"/>
              <a:ext cx="1661909" cy="934824"/>
            </a:xfrm>
            <a:prstGeom prst="rect">
              <a:avLst/>
            </a:prstGeom>
          </p:spPr>
        </p:pic>
        <p:sp>
          <p:nvSpPr>
            <p:cNvPr id="133" name="Pfeil: nach unten 132">
              <a:extLst>
                <a:ext uri="{FF2B5EF4-FFF2-40B4-BE49-F238E27FC236}">
                  <a16:creationId xmlns:a16="http://schemas.microsoft.com/office/drawing/2014/main" id="{B478007D-BFBB-FD6C-CE99-C85C9F7EF518}"/>
                </a:ext>
              </a:extLst>
            </p:cNvPr>
            <p:cNvSpPr/>
            <p:nvPr/>
          </p:nvSpPr>
          <p:spPr>
            <a:xfrm>
              <a:off x="5556886" y="2694019"/>
              <a:ext cx="531961" cy="733992"/>
            </a:xfrm>
            <a:prstGeom prst="downArrow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AE5E1BF2-1CF3-ADC3-593A-8082264C1ADD}"/>
                </a:ext>
              </a:extLst>
            </p:cNvPr>
            <p:cNvGrpSpPr/>
            <p:nvPr/>
          </p:nvGrpSpPr>
          <p:grpSpPr>
            <a:xfrm>
              <a:off x="714533" y="3352683"/>
              <a:ext cx="10724834" cy="2838567"/>
              <a:chOff x="714533" y="3352683"/>
              <a:chExt cx="10724834" cy="2838567"/>
            </a:xfrm>
          </p:grpSpPr>
          <p:grpSp>
            <p:nvGrpSpPr>
              <p:cNvPr id="5" name="Gruppieren 4">
                <a:extLst>
                  <a:ext uri="{FF2B5EF4-FFF2-40B4-BE49-F238E27FC236}">
                    <a16:creationId xmlns:a16="http://schemas.microsoft.com/office/drawing/2014/main" id="{DBA3A77F-15CE-B953-DA9D-6E0005C507F3}"/>
                  </a:ext>
                </a:extLst>
              </p:cNvPr>
              <p:cNvGrpSpPr/>
              <p:nvPr/>
            </p:nvGrpSpPr>
            <p:grpSpPr>
              <a:xfrm>
                <a:off x="714533" y="3547074"/>
                <a:ext cx="10724834" cy="2644176"/>
                <a:chOff x="714533" y="3651849"/>
                <a:chExt cx="10724834" cy="2644176"/>
              </a:xfrm>
            </p:grpSpPr>
            <p:grpSp>
              <p:nvGrpSpPr>
                <p:cNvPr id="75" name="Gruppieren 74">
                  <a:extLst>
                    <a:ext uri="{FF2B5EF4-FFF2-40B4-BE49-F238E27FC236}">
                      <a16:creationId xmlns:a16="http://schemas.microsoft.com/office/drawing/2014/main" id="{6DD36379-05F6-3345-4AD2-DB2E75B70F7E}"/>
                    </a:ext>
                  </a:extLst>
                </p:cNvPr>
                <p:cNvGrpSpPr/>
                <p:nvPr/>
              </p:nvGrpSpPr>
              <p:grpSpPr>
                <a:xfrm>
                  <a:off x="876459" y="3720270"/>
                  <a:ext cx="3276600" cy="2328105"/>
                  <a:chOff x="4429125" y="1110420"/>
                  <a:chExt cx="3276600" cy="2328105"/>
                </a:xfrm>
              </p:grpSpPr>
              <p:sp>
                <p:nvSpPr>
                  <p:cNvPr id="41" name="Rechteck 40">
                    <a:extLst>
                      <a:ext uri="{FF2B5EF4-FFF2-40B4-BE49-F238E27FC236}">
                        <a16:creationId xmlns:a16="http://schemas.microsoft.com/office/drawing/2014/main" id="{4CB9E22E-A679-3625-A2E9-80C148B99629}"/>
                      </a:ext>
                    </a:extLst>
                  </p:cNvPr>
                  <p:cNvSpPr/>
                  <p:nvPr/>
                </p:nvSpPr>
                <p:spPr>
                  <a:xfrm>
                    <a:off x="4429125" y="1323975"/>
                    <a:ext cx="3276600" cy="2114550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60" name="Gruppieren 59">
                    <a:extLst>
                      <a:ext uri="{FF2B5EF4-FFF2-40B4-BE49-F238E27FC236}">
                        <a16:creationId xmlns:a16="http://schemas.microsoft.com/office/drawing/2014/main" id="{C76509CC-5BDF-2B15-D4B2-376C29E338EA}"/>
                      </a:ext>
                    </a:extLst>
                  </p:cNvPr>
                  <p:cNvGrpSpPr/>
                  <p:nvPr/>
                </p:nvGrpSpPr>
                <p:grpSpPr>
                  <a:xfrm>
                    <a:off x="4568656" y="1536242"/>
                    <a:ext cx="1013326" cy="1702258"/>
                    <a:chOff x="1820150" y="924493"/>
                    <a:chExt cx="1013326" cy="1681581"/>
                  </a:xfrm>
                </p:grpSpPr>
                <p:sp>
                  <p:nvSpPr>
                    <p:cNvPr id="58" name="Rechteck 57">
                      <a:extLst>
                        <a:ext uri="{FF2B5EF4-FFF2-40B4-BE49-F238E27FC236}">
                          <a16:creationId xmlns:a16="http://schemas.microsoft.com/office/drawing/2014/main" id="{3E8347AF-8829-7A63-DC62-5C9AB81210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20150" y="924493"/>
                      <a:ext cx="1013326" cy="1681581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pic>
                  <p:nvPicPr>
                    <p:cNvPr id="28" name="Grafik 27">
                      <a:extLst>
                        <a:ext uri="{FF2B5EF4-FFF2-40B4-BE49-F238E27FC236}">
                          <a16:creationId xmlns:a16="http://schemas.microsoft.com/office/drawing/2014/main" id="{16202F63-A2FB-3668-081C-369352E5595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978263" y="1330212"/>
                      <a:ext cx="855213" cy="855212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50" name="Textfeld 49">
                    <a:extLst>
                      <a:ext uri="{FF2B5EF4-FFF2-40B4-BE49-F238E27FC236}">
                        <a16:creationId xmlns:a16="http://schemas.microsoft.com/office/drawing/2014/main" id="{B0D9FBAA-BCE2-2FF0-FFAB-6060B1DFB1BA}"/>
                      </a:ext>
                    </a:extLst>
                  </p:cNvPr>
                  <p:cNvSpPr txBox="1"/>
                  <p:nvPr/>
                </p:nvSpPr>
                <p:spPr>
                  <a:xfrm>
                    <a:off x="4568656" y="1110420"/>
                    <a:ext cx="696587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b="1">
                        <a:solidFill>
                          <a:srgbClr val="002060"/>
                        </a:solidFill>
                      </a:rPr>
                      <a:t>prod</a:t>
                    </a:r>
                    <a:endParaRPr lang="de-DE">
                      <a:solidFill>
                        <a:srgbClr val="002060"/>
                      </a:solidFill>
                    </a:endParaRPr>
                  </a:p>
                </p:txBody>
              </p:sp>
              <p:sp>
                <p:nvSpPr>
                  <p:cNvPr id="65" name="Rechteck 64">
                    <a:extLst>
                      <a:ext uri="{FF2B5EF4-FFF2-40B4-BE49-F238E27FC236}">
                        <a16:creationId xmlns:a16="http://schemas.microsoft.com/office/drawing/2014/main" id="{E8653C20-8972-EC34-25A6-B089321287B6}"/>
                      </a:ext>
                    </a:extLst>
                  </p:cNvPr>
                  <p:cNvSpPr/>
                  <p:nvPr/>
                </p:nvSpPr>
                <p:spPr>
                  <a:xfrm>
                    <a:off x="5716443" y="1536242"/>
                    <a:ext cx="1827357" cy="529654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6" name="Rechteck 65">
                    <a:extLst>
                      <a:ext uri="{FF2B5EF4-FFF2-40B4-BE49-F238E27FC236}">
                        <a16:creationId xmlns:a16="http://schemas.microsoft.com/office/drawing/2014/main" id="{1AED45E9-3916-3984-E674-F11578A47931}"/>
                      </a:ext>
                    </a:extLst>
                  </p:cNvPr>
                  <p:cNvSpPr/>
                  <p:nvPr/>
                </p:nvSpPr>
                <p:spPr>
                  <a:xfrm>
                    <a:off x="5716443" y="2139035"/>
                    <a:ext cx="1827357" cy="529654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9" name="Rechteck 68">
                    <a:extLst>
                      <a:ext uri="{FF2B5EF4-FFF2-40B4-BE49-F238E27FC236}">
                        <a16:creationId xmlns:a16="http://schemas.microsoft.com/office/drawing/2014/main" id="{9B6DEE85-7BC1-53D6-9ACA-E05E1290F534}"/>
                      </a:ext>
                    </a:extLst>
                  </p:cNvPr>
                  <p:cNvSpPr/>
                  <p:nvPr/>
                </p:nvSpPr>
                <p:spPr>
                  <a:xfrm>
                    <a:off x="5716442" y="2735364"/>
                    <a:ext cx="1827357" cy="529654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71" name="Textfeld 70">
                    <a:extLst>
                      <a:ext uri="{FF2B5EF4-FFF2-40B4-BE49-F238E27FC236}">
                        <a16:creationId xmlns:a16="http://schemas.microsoft.com/office/drawing/2014/main" id="{3557DB5F-8A73-70C4-46AD-A6915AF162EB}"/>
                      </a:ext>
                    </a:extLst>
                  </p:cNvPr>
                  <p:cNvSpPr txBox="1"/>
                  <p:nvPr/>
                </p:nvSpPr>
                <p:spPr>
                  <a:xfrm>
                    <a:off x="5850900" y="1624215"/>
                    <a:ext cx="155844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/>
                      <a:t>machine p-01</a:t>
                    </a:r>
                  </a:p>
                </p:txBody>
              </p:sp>
              <p:sp>
                <p:nvSpPr>
                  <p:cNvPr id="73" name="Textfeld 72">
                    <a:extLst>
                      <a:ext uri="{FF2B5EF4-FFF2-40B4-BE49-F238E27FC236}">
                        <a16:creationId xmlns:a16="http://schemas.microsoft.com/office/drawing/2014/main" id="{7916C6AF-5735-AD9B-5D3B-E6F4198E60C6}"/>
                      </a:ext>
                    </a:extLst>
                  </p:cNvPr>
                  <p:cNvSpPr txBox="1"/>
                  <p:nvPr/>
                </p:nvSpPr>
                <p:spPr>
                  <a:xfrm>
                    <a:off x="5850900" y="2230354"/>
                    <a:ext cx="155844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/>
                      <a:t>machine p-02</a:t>
                    </a:r>
                  </a:p>
                </p:txBody>
              </p:sp>
              <p:sp>
                <p:nvSpPr>
                  <p:cNvPr id="74" name="Textfeld 73">
                    <a:extLst>
                      <a:ext uri="{FF2B5EF4-FFF2-40B4-BE49-F238E27FC236}">
                        <a16:creationId xmlns:a16="http://schemas.microsoft.com/office/drawing/2014/main" id="{F6FEFC5E-B681-FA39-B677-FA10127052A3}"/>
                      </a:ext>
                    </a:extLst>
                  </p:cNvPr>
                  <p:cNvSpPr txBox="1"/>
                  <p:nvPr/>
                </p:nvSpPr>
                <p:spPr>
                  <a:xfrm>
                    <a:off x="5850900" y="2801973"/>
                    <a:ext cx="16353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/>
                      <a:t>machine p-n…</a:t>
                    </a:r>
                  </a:p>
                </p:txBody>
              </p:sp>
            </p:grpSp>
            <p:grpSp>
              <p:nvGrpSpPr>
                <p:cNvPr id="76" name="Gruppieren 75">
                  <a:extLst>
                    <a:ext uri="{FF2B5EF4-FFF2-40B4-BE49-F238E27FC236}">
                      <a16:creationId xmlns:a16="http://schemas.microsoft.com/office/drawing/2014/main" id="{EE4963FB-A264-E120-0B48-FD97B4F6733F}"/>
                    </a:ext>
                  </a:extLst>
                </p:cNvPr>
                <p:cNvGrpSpPr/>
                <p:nvPr/>
              </p:nvGrpSpPr>
              <p:grpSpPr>
                <a:xfrm>
                  <a:off x="4411341" y="3720270"/>
                  <a:ext cx="3276600" cy="2328105"/>
                  <a:chOff x="4429125" y="1110420"/>
                  <a:chExt cx="3276600" cy="2328105"/>
                </a:xfrm>
              </p:grpSpPr>
              <p:sp>
                <p:nvSpPr>
                  <p:cNvPr id="77" name="Rechteck 76">
                    <a:extLst>
                      <a:ext uri="{FF2B5EF4-FFF2-40B4-BE49-F238E27FC236}">
                        <a16:creationId xmlns:a16="http://schemas.microsoft.com/office/drawing/2014/main" id="{42E0F9F9-AB2E-BBB9-42C3-0FDB5AD82563}"/>
                      </a:ext>
                    </a:extLst>
                  </p:cNvPr>
                  <p:cNvSpPr/>
                  <p:nvPr/>
                </p:nvSpPr>
                <p:spPr>
                  <a:xfrm>
                    <a:off x="4429125" y="1323975"/>
                    <a:ext cx="3276600" cy="2114550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78" name="Gruppieren 77">
                    <a:extLst>
                      <a:ext uri="{FF2B5EF4-FFF2-40B4-BE49-F238E27FC236}">
                        <a16:creationId xmlns:a16="http://schemas.microsoft.com/office/drawing/2014/main" id="{2C4302CE-B741-4526-8E63-153F56D6BC45}"/>
                      </a:ext>
                    </a:extLst>
                  </p:cNvPr>
                  <p:cNvGrpSpPr/>
                  <p:nvPr/>
                </p:nvGrpSpPr>
                <p:grpSpPr>
                  <a:xfrm>
                    <a:off x="4568656" y="1536242"/>
                    <a:ext cx="1013326" cy="1702258"/>
                    <a:chOff x="1820150" y="924493"/>
                    <a:chExt cx="1013326" cy="1681581"/>
                  </a:xfrm>
                </p:grpSpPr>
                <p:sp>
                  <p:nvSpPr>
                    <p:cNvPr id="86" name="Rechteck 85">
                      <a:extLst>
                        <a:ext uri="{FF2B5EF4-FFF2-40B4-BE49-F238E27FC236}">
                          <a16:creationId xmlns:a16="http://schemas.microsoft.com/office/drawing/2014/main" id="{CDF4E0B1-2D28-F2BB-6C23-A9D4F09D89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20150" y="924493"/>
                      <a:ext cx="1013326" cy="1681581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pic>
                  <p:nvPicPr>
                    <p:cNvPr id="87" name="Grafik 86">
                      <a:extLst>
                        <a:ext uri="{FF2B5EF4-FFF2-40B4-BE49-F238E27FC236}">
                          <a16:creationId xmlns:a16="http://schemas.microsoft.com/office/drawing/2014/main" id="{E11E8A44-0E0B-1FFC-8DD7-1EF39AF065A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978263" y="1330212"/>
                      <a:ext cx="855213" cy="855212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79" name="Textfeld 78">
                    <a:extLst>
                      <a:ext uri="{FF2B5EF4-FFF2-40B4-BE49-F238E27FC236}">
                        <a16:creationId xmlns:a16="http://schemas.microsoft.com/office/drawing/2014/main" id="{376A21D2-038F-AEED-87CD-16482ACCEA85}"/>
                      </a:ext>
                    </a:extLst>
                  </p:cNvPr>
                  <p:cNvSpPr txBox="1"/>
                  <p:nvPr/>
                </p:nvSpPr>
                <p:spPr>
                  <a:xfrm>
                    <a:off x="4568656" y="1110420"/>
                    <a:ext cx="544845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b="1">
                        <a:solidFill>
                          <a:srgbClr val="002060"/>
                        </a:solidFill>
                      </a:rPr>
                      <a:t>int</a:t>
                    </a:r>
                    <a:endParaRPr lang="de-DE">
                      <a:solidFill>
                        <a:srgbClr val="002060"/>
                      </a:solidFill>
                    </a:endParaRPr>
                  </a:p>
                </p:txBody>
              </p:sp>
              <p:sp>
                <p:nvSpPr>
                  <p:cNvPr id="80" name="Rechteck 79">
                    <a:extLst>
                      <a:ext uri="{FF2B5EF4-FFF2-40B4-BE49-F238E27FC236}">
                        <a16:creationId xmlns:a16="http://schemas.microsoft.com/office/drawing/2014/main" id="{903E0E31-6D1C-14CB-10A4-98A52811B2EF}"/>
                      </a:ext>
                    </a:extLst>
                  </p:cNvPr>
                  <p:cNvSpPr/>
                  <p:nvPr/>
                </p:nvSpPr>
                <p:spPr>
                  <a:xfrm>
                    <a:off x="5716443" y="1536242"/>
                    <a:ext cx="1827357" cy="529654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1" name="Rechteck 80">
                    <a:extLst>
                      <a:ext uri="{FF2B5EF4-FFF2-40B4-BE49-F238E27FC236}">
                        <a16:creationId xmlns:a16="http://schemas.microsoft.com/office/drawing/2014/main" id="{9E63DD4D-A10D-DEC7-D199-A4578F8CACCB}"/>
                      </a:ext>
                    </a:extLst>
                  </p:cNvPr>
                  <p:cNvSpPr/>
                  <p:nvPr/>
                </p:nvSpPr>
                <p:spPr>
                  <a:xfrm>
                    <a:off x="5716443" y="2139035"/>
                    <a:ext cx="1827357" cy="529654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2" name="Rechteck 81">
                    <a:extLst>
                      <a:ext uri="{FF2B5EF4-FFF2-40B4-BE49-F238E27FC236}">
                        <a16:creationId xmlns:a16="http://schemas.microsoft.com/office/drawing/2014/main" id="{6D74EE23-41B8-60FE-F242-FFF287168719}"/>
                      </a:ext>
                    </a:extLst>
                  </p:cNvPr>
                  <p:cNvSpPr/>
                  <p:nvPr/>
                </p:nvSpPr>
                <p:spPr>
                  <a:xfrm>
                    <a:off x="5716442" y="2735364"/>
                    <a:ext cx="1827357" cy="529654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3" name="Textfeld 82">
                    <a:extLst>
                      <a:ext uri="{FF2B5EF4-FFF2-40B4-BE49-F238E27FC236}">
                        <a16:creationId xmlns:a16="http://schemas.microsoft.com/office/drawing/2014/main" id="{054ED0B3-6854-2677-853F-42A117DE03C3}"/>
                      </a:ext>
                    </a:extLst>
                  </p:cNvPr>
                  <p:cNvSpPr txBox="1"/>
                  <p:nvPr/>
                </p:nvSpPr>
                <p:spPr>
                  <a:xfrm>
                    <a:off x="5850900" y="1624215"/>
                    <a:ext cx="1483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/>
                      <a:t>machine i-01</a:t>
                    </a:r>
                  </a:p>
                </p:txBody>
              </p:sp>
              <p:sp>
                <p:nvSpPr>
                  <p:cNvPr id="84" name="Textfeld 83">
                    <a:extLst>
                      <a:ext uri="{FF2B5EF4-FFF2-40B4-BE49-F238E27FC236}">
                        <a16:creationId xmlns:a16="http://schemas.microsoft.com/office/drawing/2014/main" id="{B1A741D4-10F8-B2BB-3E86-7CDDEC7DF6D5}"/>
                      </a:ext>
                    </a:extLst>
                  </p:cNvPr>
                  <p:cNvSpPr txBox="1"/>
                  <p:nvPr/>
                </p:nvSpPr>
                <p:spPr>
                  <a:xfrm>
                    <a:off x="5850900" y="2230354"/>
                    <a:ext cx="1483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/>
                      <a:t>machine i-02</a:t>
                    </a:r>
                  </a:p>
                </p:txBody>
              </p:sp>
              <p:sp>
                <p:nvSpPr>
                  <p:cNvPr id="85" name="Textfeld 84">
                    <a:extLst>
                      <a:ext uri="{FF2B5EF4-FFF2-40B4-BE49-F238E27FC236}">
                        <a16:creationId xmlns:a16="http://schemas.microsoft.com/office/drawing/2014/main" id="{F44DE05C-5E2E-FE5D-2571-E3B5D5FA9728}"/>
                      </a:ext>
                    </a:extLst>
                  </p:cNvPr>
                  <p:cNvSpPr txBox="1"/>
                  <p:nvPr/>
                </p:nvSpPr>
                <p:spPr>
                  <a:xfrm>
                    <a:off x="5850900" y="2801973"/>
                    <a:ext cx="156004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/>
                      <a:t>machine i-n…</a:t>
                    </a:r>
                  </a:p>
                </p:txBody>
              </p:sp>
            </p:grpSp>
            <p:grpSp>
              <p:nvGrpSpPr>
                <p:cNvPr id="88" name="Gruppieren 87">
                  <a:extLst>
                    <a:ext uri="{FF2B5EF4-FFF2-40B4-BE49-F238E27FC236}">
                      <a16:creationId xmlns:a16="http://schemas.microsoft.com/office/drawing/2014/main" id="{F2C764CF-ED26-F5B0-866D-E42804B1FBEE}"/>
                    </a:ext>
                  </a:extLst>
                </p:cNvPr>
                <p:cNvGrpSpPr/>
                <p:nvPr/>
              </p:nvGrpSpPr>
              <p:grpSpPr>
                <a:xfrm>
                  <a:off x="7974798" y="3720270"/>
                  <a:ext cx="3276600" cy="2328105"/>
                  <a:chOff x="4429125" y="1110420"/>
                  <a:chExt cx="3276600" cy="2328105"/>
                </a:xfrm>
              </p:grpSpPr>
              <p:sp>
                <p:nvSpPr>
                  <p:cNvPr id="89" name="Rechteck 88">
                    <a:extLst>
                      <a:ext uri="{FF2B5EF4-FFF2-40B4-BE49-F238E27FC236}">
                        <a16:creationId xmlns:a16="http://schemas.microsoft.com/office/drawing/2014/main" id="{5C4AAD48-7E7D-D14C-9309-279D0FB96342}"/>
                      </a:ext>
                    </a:extLst>
                  </p:cNvPr>
                  <p:cNvSpPr/>
                  <p:nvPr/>
                </p:nvSpPr>
                <p:spPr>
                  <a:xfrm>
                    <a:off x="4429125" y="1323975"/>
                    <a:ext cx="3276600" cy="2114550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90" name="Gruppieren 89">
                    <a:extLst>
                      <a:ext uri="{FF2B5EF4-FFF2-40B4-BE49-F238E27FC236}">
                        <a16:creationId xmlns:a16="http://schemas.microsoft.com/office/drawing/2014/main" id="{E34142B9-CD46-8E11-6609-60F55464A347}"/>
                      </a:ext>
                    </a:extLst>
                  </p:cNvPr>
                  <p:cNvGrpSpPr/>
                  <p:nvPr/>
                </p:nvGrpSpPr>
                <p:grpSpPr>
                  <a:xfrm>
                    <a:off x="4568656" y="1536242"/>
                    <a:ext cx="1013326" cy="1702258"/>
                    <a:chOff x="1820150" y="924493"/>
                    <a:chExt cx="1013326" cy="1681581"/>
                  </a:xfrm>
                </p:grpSpPr>
                <p:sp>
                  <p:nvSpPr>
                    <p:cNvPr id="98" name="Rechteck 97">
                      <a:extLst>
                        <a:ext uri="{FF2B5EF4-FFF2-40B4-BE49-F238E27FC236}">
                          <a16:creationId xmlns:a16="http://schemas.microsoft.com/office/drawing/2014/main" id="{B6C7D4EA-0E05-2D0D-4018-7B4F42898C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20150" y="924493"/>
                      <a:ext cx="1013326" cy="1681581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pic>
                  <p:nvPicPr>
                    <p:cNvPr id="99" name="Grafik 98">
                      <a:extLst>
                        <a:ext uri="{FF2B5EF4-FFF2-40B4-BE49-F238E27FC236}">
                          <a16:creationId xmlns:a16="http://schemas.microsoft.com/office/drawing/2014/main" id="{EA56D6D8-0873-0FF5-0493-01D608F0DB6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978263" y="1330212"/>
                      <a:ext cx="855213" cy="855212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91" name="Textfeld 90">
                    <a:extLst>
                      <a:ext uri="{FF2B5EF4-FFF2-40B4-BE49-F238E27FC236}">
                        <a16:creationId xmlns:a16="http://schemas.microsoft.com/office/drawing/2014/main" id="{107567DF-9219-EAF1-13E4-F84B16FA045C}"/>
                      </a:ext>
                    </a:extLst>
                  </p:cNvPr>
                  <p:cNvSpPr txBox="1"/>
                  <p:nvPr/>
                </p:nvSpPr>
                <p:spPr>
                  <a:xfrm>
                    <a:off x="4568658" y="1110420"/>
                    <a:ext cx="638986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b="1">
                        <a:solidFill>
                          <a:srgbClr val="002060"/>
                        </a:solidFill>
                      </a:rPr>
                      <a:t>dev</a:t>
                    </a:r>
                    <a:endParaRPr lang="de-DE">
                      <a:solidFill>
                        <a:srgbClr val="002060"/>
                      </a:solidFill>
                    </a:endParaRPr>
                  </a:p>
                </p:txBody>
              </p:sp>
              <p:sp>
                <p:nvSpPr>
                  <p:cNvPr id="92" name="Rechteck 91">
                    <a:extLst>
                      <a:ext uri="{FF2B5EF4-FFF2-40B4-BE49-F238E27FC236}">
                        <a16:creationId xmlns:a16="http://schemas.microsoft.com/office/drawing/2014/main" id="{2CCA74BF-3293-AECA-C971-1243362D1AE7}"/>
                      </a:ext>
                    </a:extLst>
                  </p:cNvPr>
                  <p:cNvSpPr/>
                  <p:nvPr/>
                </p:nvSpPr>
                <p:spPr>
                  <a:xfrm>
                    <a:off x="5716443" y="1536242"/>
                    <a:ext cx="1827357" cy="529654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3" name="Rechteck 92">
                    <a:extLst>
                      <a:ext uri="{FF2B5EF4-FFF2-40B4-BE49-F238E27FC236}">
                        <a16:creationId xmlns:a16="http://schemas.microsoft.com/office/drawing/2014/main" id="{166D5F45-6124-CC15-B12A-EEFD35172EAE}"/>
                      </a:ext>
                    </a:extLst>
                  </p:cNvPr>
                  <p:cNvSpPr/>
                  <p:nvPr/>
                </p:nvSpPr>
                <p:spPr>
                  <a:xfrm>
                    <a:off x="5716443" y="2139035"/>
                    <a:ext cx="1827357" cy="529654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4" name="Rechteck 93">
                    <a:extLst>
                      <a:ext uri="{FF2B5EF4-FFF2-40B4-BE49-F238E27FC236}">
                        <a16:creationId xmlns:a16="http://schemas.microsoft.com/office/drawing/2014/main" id="{5F366AA7-423F-E0CE-7DF0-8AF2DC627312}"/>
                      </a:ext>
                    </a:extLst>
                  </p:cNvPr>
                  <p:cNvSpPr/>
                  <p:nvPr/>
                </p:nvSpPr>
                <p:spPr>
                  <a:xfrm>
                    <a:off x="5716442" y="2735364"/>
                    <a:ext cx="1827357" cy="529654"/>
                  </a:xfrm>
                  <a:prstGeom prst="rect">
                    <a:avLst/>
                  </a:prstGeom>
                  <a:noFill/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5" name="Textfeld 94">
                    <a:extLst>
                      <a:ext uri="{FF2B5EF4-FFF2-40B4-BE49-F238E27FC236}">
                        <a16:creationId xmlns:a16="http://schemas.microsoft.com/office/drawing/2014/main" id="{074E4030-D716-B2B4-5A74-15FC4412210C}"/>
                      </a:ext>
                    </a:extLst>
                  </p:cNvPr>
                  <p:cNvSpPr txBox="1"/>
                  <p:nvPr/>
                </p:nvSpPr>
                <p:spPr>
                  <a:xfrm>
                    <a:off x="5850900" y="1624215"/>
                    <a:ext cx="155844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/>
                      <a:t>machine d-01</a:t>
                    </a:r>
                  </a:p>
                </p:txBody>
              </p:sp>
              <p:sp>
                <p:nvSpPr>
                  <p:cNvPr id="96" name="Textfeld 95">
                    <a:extLst>
                      <a:ext uri="{FF2B5EF4-FFF2-40B4-BE49-F238E27FC236}">
                        <a16:creationId xmlns:a16="http://schemas.microsoft.com/office/drawing/2014/main" id="{8A15E1CF-E576-C90E-6B8F-7524A7D5F13D}"/>
                      </a:ext>
                    </a:extLst>
                  </p:cNvPr>
                  <p:cNvSpPr txBox="1"/>
                  <p:nvPr/>
                </p:nvSpPr>
                <p:spPr>
                  <a:xfrm>
                    <a:off x="5850900" y="2230354"/>
                    <a:ext cx="155844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/>
                      <a:t>machine d-02</a:t>
                    </a:r>
                  </a:p>
                </p:txBody>
              </p:sp>
              <p:sp>
                <p:nvSpPr>
                  <p:cNvPr id="97" name="Textfeld 96">
                    <a:extLst>
                      <a:ext uri="{FF2B5EF4-FFF2-40B4-BE49-F238E27FC236}">
                        <a16:creationId xmlns:a16="http://schemas.microsoft.com/office/drawing/2014/main" id="{31D3AC5B-EE0A-220D-2953-47545DE25B9E}"/>
                      </a:ext>
                    </a:extLst>
                  </p:cNvPr>
                  <p:cNvSpPr txBox="1"/>
                  <p:nvPr/>
                </p:nvSpPr>
                <p:spPr>
                  <a:xfrm>
                    <a:off x="5850900" y="2801973"/>
                    <a:ext cx="16353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/>
                      <a:t>machine d-n…</a:t>
                    </a:r>
                  </a:p>
                </p:txBody>
              </p:sp>
            </p:grpSp>
            <p:sp>
              <p:nvSpPr>
                <p:cNvPr id="118" name="Rechteck 117">
                  <a:extLst>
                    <a:ext uri="{FF2B5EF4-FFF2-40B4-BE49-F238E27FC236}">
                      <a16:creationId xmlns:a16="http://schemas.microsoft.com/office/drawing/2014/main" id="{4F8E0CC6-2221-A78D-B7C6-9962D37800BE}"/>
                    </a:ext>
                  </a:extLst>
                </p:cNvPr>
                <p:cNvSpPr/>
                <p:nvPr/>
              </p:nvSpPr>
              <p:spPr>
                <a:xfrm>
                  <a:off x="714533" y="3651849"/>
                  <a:ext cx="10724834" cy="2644176"/>
                </a:xfrm>
                <a:prstGeom prst="rect">
                  <a:avLst/>
                </a:prstGeom>
                <a:noFill/>
                <a:ln w="28575">
                  <a:solidFill>
                    <a:srgbClr val="C00000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" name="Textfeld 1">
                  <a:extLst>
                    <a:ext uri="{FF2B5EF4-FFF2-40B4-BE49-F238E27FC236}">
                      <a16:creationId xmlns:a16="http://schemas.microsoft.com/office/drawing/2014/main" id="{BB6B5A38-C7D9-F3E4-BBCA-13B706702B2A}"/>
                    </a:ext>
                  </a:extLst>
                </p:cNvPr>
                <p:cNvSpPr txBox="1"/>
                <p:nvPr/>
              </p:nvSpPr>
              <p:spPr>
                <a:xfrm>
                  <a:off x="1166826" y="5475673"/>
                  <a:ext cx="7598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200"/>
                    <a:t>josyn-db</a:t>
                  </a:r>
                </a:p>
              </p:txBody>
            </p:sp>
            <p:sp>
              <p:nvSpPr>
                <p:cNvPr id="3" name="Textfeld 2">
                  <a:extLst>
                    <a:ext uri="{FF2B5EF4-FFF2-40B4-BE49-F238E27FC236}">
                      <a16:creationId xmlns:a16="http://schemas.microsoft.com/office/drawing/2014/main" id="{C29A42EA-1302-C5BB-E7F5-98137FE5C7FE}"/>
                    </a:ext>
                  </a:extLst>
                </p:cNvPr>
                <p:cNvSpPr txBox="1"/>
                <p:nvPr/>
              </p:nvSpPr>
              <p:spPr>
                <a:xfrm>
                  <a:off x="8272442" y="5498728"/>
                  <a:ext cx="7598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200"/>
                    <a:t>josyn-db</a:t>
                  </a:r>
                </a:p>
              </p:txBody>
            </p:sp>
            <p:sp>
              <p:nvSpPr>
                <p:cNvPr id="4" name="Textfeld 3">
                  <a:extLst>
                    <a:ext uri="{FF2B5EF4-FFF2-40B4-BE49-F238E27FC236}">
                      <a16:creationId xmlns:a16="http://schemas.microsoft.com/office/drawing/2014/main" id="{8F634CAE-426D-E3BA-C141-E67E010D4F10}"/>
                    </a:ext>
                  </a:extLst>
                </p:cNvPr>
                <p:cNvSpPr txBox="1"/>
                <p:nvPr/>
              </p:nvSpPr>
              <p:spPr>
                <a:xfrm>
                  <a:off x="4715773" y="5498728"/>
                  <a:ext cx="7598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200"/>
                    <a:t>josyn-db</a:t>
                  </a:r>
                </a:p>
              </p:txBody>
            </p:sp>
          </p:grpSp>
          <p:sp>
            <p:nvSpPr>
              <p:cNvPr id="122" name="Textfeld 121">
                <a:extLst>
                  <a:ext uri="{FF2B5EF4-FFF2-40B4-BE49-F238E27FC236}">
                    <a16:creationId xmlns:a16="http://schemas.microsoft.com/office/drawing/2014/main" id="{38E01999-D87B-8334-4BC3-CF8F63EF3330}"/>
                  </a:ext>
                </a:extLst>
              </p:cNvPr>
              <p:cNvSpPr txBox="1"/>
              <p:nvPr/>
            </p:nvSpPr>
            <p:spPr>
              <a:xfrm>
                <a:off x="2033953" y="3352683"/>
                <a:ext cx="168219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de-DE" b="1">
                    <a:solidFill>
                      <a:srgbClr val="C00000"/>
                    </a:solidFill>
                  </a:rPr>
                  <a:t>headless area</a:t>
                </a:r>
                <a:endParaRPr lang="de-DE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2E645E62-891D-5728-9C09-BBA5F9B3CC63}"/>
                </a:ext>
              </a:extLst>
            </p:cNvPr>
            <p:cNvSpPr txBox="1"/>
            <p:nvPr/>
          </p:nvSpPr>
          <p:spPr>
            <a:xfrm>
              <a:off x="6003931" y="2822268"/>
              <a:ext cx="24098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i="1"/>
                <a:t>(„</a:t>
              </a:r>
              <a:r>
                <a:rPr lang="de-DE" sz="1600" i="1"/>
                <a:t>RESTful/CQRS“-like…) 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A0FF0864-B42F-FFE7-4B51-656CA75EF357}"/>
                </a:ext>
              </a:extLst>
            </p:cNvPr>
            <p:cNvSpPr/>
            <p:nvPr/>
          </p:nvSpPr>
          <p:spPr>
            <a:xfrm>
              <a:off x="504982" y="666749"/>
              <a:ext cx="11168149" cy="5724525"/>
            </a:xfrm>
            <a:prstGeom prst="rect">
              <a:avLst/>
            </a:prstGeom>
            <a:noFill/>
            <a:ln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50C5CCA2-97C4-F1BE-3F7D-E940CEC2760C}"/>
                </a:ext>
              </a:extLst>
            </p:cNvPr>
            <p:cNvSpPr txBox="1"/>
            <p:nvPr/>
          </p:nvSpPr>
          <p:spPr>
            <a:xfrm>
              <a:off x="728418" y="400674"/>
              <a:ext cx="822968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e-DE" sz="2400" b="1">
                  <a:solidFill>
                    <a:srgbClr val="002060"/>
                  </a:solidFill>
                </a:rPr>
                <a:t>josyn-platform </a:t>
              </a:r>
              <a:r>
                <a:rPr lang="de-DE" sz="2400">
                  <a:solidFill>
                    <a:srgbClr val="002060"/>
                  </a:solidFill>
                </a:rPr>
                <a:t>(„Vision“/Proposal) | paramount perspective</a:t>
              </a:r>
            </a:p>
          </p:txBody>
        </p:sp>
        <p:sp>
          <p:nvSpPr>
            <p:cNvPr id="132" name="Pfeil: nach unten 131">
              <a:extLst>
                <a:ext uri="{FF2B5EF4-FFF2-40B4-BE49-F238E27FC236}">
                  <a16:creationId xmlns:a16="http://schemas.microsoft.com/office/drawing/2014/main" id="{576641C9-365D-77E9-963D-35AA37547D38}"/>
                </a:ext>
              </a:extLst>
            </p:cNvPr>
            <p:cNvSpPr/>
            <p:nvPr/>
          </p:nvSpPr>
          <p:spPr>
            <a:xfrm>
              <a:off x="1124452" y="2701466"/>
              <a:ext cx="531961" cy="736070"/>
            </a:xfrm>
            <a:prstGeom prst="dow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33DD06CC-8D36-A15C-E080-328933C07164}"/>
              </a:ext>
            </a:extLst>
          </p:cNvPr>
          <p:cNvSpPr txBox="1"/>
          <p:nvPr/>
        </p:nvSpPr>
        <p:spPr>
          <a:xfrm>
            <a:off x="8179824" y="1299275"/>
            <a:ext cx="12213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>
                <a:solidFill>
                  <a:srgbClr val="002060"/>
                </a:solidFill>
              </a:rPr>
              <a:t>queries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rgbClr val="002060"/>
                </a:solidFill>
              </a:rPr>
              <a:t>session-list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rgbClr val="002060"/>
                </a:solidFill>
              </a:rPr>
              <a:t>diagnosis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rgbClr val="002060"/>
                </a:solidFill>
              </a:rPr>
              <a:t>inventory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rgbClr val="002060"/>
                </a:solidFill>
              </a:rPr>
              <a:t>statistics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572E98E-222F-4360-E0D5-E07CB5EDAEBD}"/>
              </a:ext>
            </a:extLst>
          </p:cNvPr>
          <p:cNvSpPr txBox="1"/>
          <p:nvPr/>
        </p:nvSpPr>
        <p:spPr>
          <a:xfrm>
            <a:off x="9213040" y="1304386"/>
            <a:ext cx="222081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>
                <a:solidFill>
                  <a:srgbClr val="002060"/>
                </a:solidFill>
              </a:rPr>
              <a:t>commands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rgbClr val="002060"/>
                </a:solidFill>
              </a:rPr>
              <a:t>start, cancel, kill a job-session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rgbClr val="002060"/>
                </a:solidFill>
              </a:rPr>
              <a:t>edit job-scheduling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rgbClr val="002060"/>
                </a:solidFill>
              </a:rPr>
              <a:t>edit job-arguments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rgbClr val="002060"/>
                </a:solidFill>
              </a:rPr>
              <a:t>…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3E8F32E-22C9-F060-E845-4D8EB56BEF1F}"/>
              </a:ext>
            </a:extLst>
          </p:cNvPr>
          <p:cNvCxnSpPr>
            <a:cxnSpLocks/>
          </p:cNvCxnSpPr>
          <p:nvPr/>
        </p:nvCxnSpPr>
        <p:spPr>
          <a:xfrm>
            <a:off x="8096250" y="1382477"/>
            <a:ext cx="0" cy="919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07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BCD0E-B049-B53B-B888-3DAE8178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BAF3D59-551E-F0E5-9357-DDE2BAC9643E}"/>
              </a:ext>
            </a:extLst>
          </p:cNvPr>
          <p:cNvGrpSpPr/>
          <p:nvPr/>
        </p:nvGrpSpPr>
        <p:grpSpPr>
          <a:xfrm>
            <a:off x="2719853" y="1349688"/>
            <a:ext cx="3321647" cy="3976566"/>
            <a:chOff x="849237" y="586290"/>
            <a:chExt cx="2817507" cy="3976566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F399BA7C-486C-B484-16AD-094D33F59A68}"/>
                </a:ext>
              </a:extLst>
            </p:cNvPr>
            <p:cNvSpPr/>
            <p:nvPr/>
          </p:nvSpPr>
          <p:spPr>
            <a:xfrm>
              <a:off x="849237" y="586290"/>
              <a:ext cx="2817507" cy="39765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A37E0375-1869-E126-06F4-9223184DC40B}"/>
                </a:ext>
              </a:extLst>
            </p:cNvPr>
            <p:cNvSpPr txBox="1"/>
            <p:nvPr/>
          </p:nvSpPr>
          <p:spPr>
            <a:xfrm>
              <a:off x="890940" y="594762"/>
              <a:ext cx="1087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>
                  <a:solidFill>
                    <a:srgbClr val="7030A0"/>
                  </a:solidFill>
                </a:rPr>
                <a:t>backend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D33C9ED9-7646-38FA-583B-F8CF70453BAE}"/>
              </a:ext>
            </a:extLst>
          </p:cNvPr>
          <p:cNvGrpSpPr/>
          <p:nvPr/>
        </p:nvGrpSpPr>
        <p:grpSpPr>
          <a:xfrm>
            <a:off x="9296937" y="1339906"/>
            <a:ext cx="1609958" cy="3976567"/>
            <a:chOff x="6606124" y="632008"/>
            <a:chExt cx="1609958" cy="3976567"/>
          </a:xfrm>
          <a:solidFill>
            <a:schemeClr val="bg1">
              <a:lumMod val="95000"/>
            </a:schemeClr>
          </a:solidFill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31767582-C3AF-B85E-5F6D-D243A3F3A08B}"/>
                </a:ext>
              </a:extLst>
            </p:cNvPr>
            <p:cNvSpPr/>
            <p:nvPr/>
          </p:nvSpPr>
          <p:spPr>
            <a:xfrm>
              <a:off x="6606124" y="632008"/>
              <a:ext cx="1609958" cy="3976567"/>
            </a:xfrm>
            <a:prstGeom prst="rect">
              <a:avLst/>
            </a:prstGeom>
            <a:grp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6B1C0CC8-D053-11F6-CC3E-ABF928FC1E6F}"/>
                </a:ext>
              </a:extLst>
            </p:cNvPr>
            <p:cNvSpPr txBox="1"/>
            <p:nvPr/>
          </p:nvSpPr>
          <p:spPr>
            <a:xfrm>
              <a:off x="6607221" y="632142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job</a:t>
              </a:r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95D86320-5473-84AD-7FCE-622515606E5F}"/>
              </a:ext>
            </a:extLst>
          </p:cNvPr>
          <p:cNvGrpSpPr/>
          <p:nvPr/>
        </p:nvGrpSpPr>
        <p:grpSpPr>
          <a:xfrm>
            <a:off x="6706881" y="1336999"/>
            <a:ext cx="2507055" cy="2937056"/>
            <a:chOff x="4366189" y="2914892"/>
            <a:chExt cx="2507055" cy="2937056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B4331FC3-0CC5-61EB-39B4-6DCBB5747A20}"/>
                </a:ext>
              </a:extLst>
            </p:cNvPr>
            <p:cNvGrpSpPr/>
            <p:nvPr/>
          </p:nvGrpSpPr>
          <p:grpSpPr>
            <a:xfrm>
              <a:off x="4366189" y="5236651"/>
              <a:ext cx="2507055" cy="615297"/>
              <a:chOff x="4171385" y="5346379"/>
              <a:chExt cx="1031611" cy="615297"/>
            </a:xfrm>
          </p:grpSpPr>
          <p:sp>
            <p:nvSpPr>
              <p:cNvPr id="22" name="Pfeil: nach links und rechts 21">
                <a:extLst>
                  <a:ext uri="{FF2B5EF4-FFF2-40B4-BE49-F238E27FC236}">
                    <a16:creationId xmlns:a16="http://schemas.microsoft.com/office/drawing/2014/main" id="{73ABA095-B8C8-4312-EDBB-FE5B036E2326}"/>
                  </a:ext>
                </a:extLst>
              </p:cNvPr>
              <p:cNvSpPr/>
              <p:nvPr/>
            </p:nvSpPr>
            <p:spPr>
              <a:xfrm>
                <a:off x="4171385" y="5346379"/>
                <a:ext cx="1031611" cy="615297"/>
              </a:xfrm>
              <a:prstGeom prst="left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8C523DA3-34E9-9038-B9C9-59B80A26A3EF}"/>
                  </a:ext>
                </a:extLst>
              </p:cNvPr>
              <p:cNvSpPr txBox="1"/>
              <p:nvPr/>
            </p:nvSpPr>
            <p:spPr>
              <a:xfrm>
                <a:off x="4358408" y="5471494"/>
                <a:ext cx="6624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i="1"/>
                  <a:t>one-to-one</a:t>
                </a:r>
                <a:r>
                  <a:rPr lang="de-DE" i="1"/>
                  <a:t> </a:t>
                </a:r>
                <a:r>
                  <a:rPr lang="de-DE" b="1" i="1"/>
                  <a:t>IPC</a:t>
                </a:r>
              </a:p>
            </p:txBody>
          </p:sp>
        </p:grp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624D37AD-83CB-57BD-1A5A-14ABA35EA4F5}"/>
                </a:ext>
              </a:extLst>
            </p:cNvPr>
            <p:cNvGrpSpPr/>
            <p:nvPr/>
          </p:nvGrpSpPr>
          <p:grpSpPr>
            <a:xfrm>
              <a:off x="4509873" y="2914892"/>
              <a:ext cx="2257200" cy="1968456"/>
              <a:chOff x="4452536" y="3626220"/>
              <a:chExt cx="2257200" cy="1968456"/>
            </a:xfrm>
          </p:grpSpPr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5FBD6A96-CE08-26EB-35A9-F23C6D874D2A}"/>
                  </a:ext>
                </a:extLst>
              </p:cNvPr>
              <p:cNvSpPr/>
              <p:nvPr/>
            </p:nvSpPr>
            <p:spPr>
              <a:xfrm>
                <a:off x="4452536" y="3626220"/>
                <a:ext cx="2257200" cy="196845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9B6E896D-8E04-ADD6-F9DB-F0D845FDB96E}"/>
                  </a:ext>
                </a:extLst>
              </p:cNvPr>
              <p:cNvSpPr txBox="1"/>
              <p:nvPr/>
            </p:nvSpPr>
            <p:spPr>
              <a:xfrm>
                <a:off x="4674644" y="3716107"/>
                <a:ext cx="191154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400" i="1"/>
                  <a:t>PropertyBag</a:t>
                </a:r>
                <a:r>
                  <a:rPr lang="de-DE" sz="1400"/>
                  <a:t> </a:t>
                </a:r>
              </a:p>
              <a:p>
                <a:pPr algn="ctr"/>
                <a:r>
                  <a:rPr lang="de-DE" sz="1200"/>
                  <a:t>(Serialization-Convention)</a:t>
                </a:r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0884282C-CC1A-97A5-BA07-89A3A1F586D7}"/>
                  </a:ext>
                </a:extLst>
              </p:cNvPr>
              <p:cNvSpPr txBox="1"/>
              <p:nvPr/>
            </p:nvSpPr>
            <p:spPr>
              <a:xfrm>
                <a:off x="4673154" y="4362510"/>
                <a:ext cx="1876668" cy="523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de-DE" sz="2200" b="1">
                    <a:solidFill>
                      <a:srgbClr val="002060"/>
                    </a:solidFill>
                  </a:rPr>
                  <a:t>JAP</a:t>
                </a:r>
                <a:r>
                  <a:rPr lang="de-DE"/>
                  <a:t> </a:t>
                </a:r>
              </a:p>
              <a:p>
                <a:pPr algn="ctr"/>
                <a:r>
                  <a:rPr lang="de-DE" sz="1200"/>
                  <a:t>(Josyn-Application-Protocol)</a:t>
                </a:r>
              </a:p>
            </p:txBody>
          </p:sp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6FBB204C-145D-A804-3817-359B9C46C1CF}"/>
                  </a:ext>
                </a:extLst>
              </p:cNvPr>
              <p:cNvSpPr txBox="1"/>
              <p:nvPr/>
            </p:nvSpPr>
            <p:spPr>
              <a:xfrm>
                <a:off x="4506666" y="5002292"/>
                <a:ext cx="219060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600" b="1" i="1"/>
                  <a:t>JIP</a:t>
                </a:r>
                <a:r>
                  <a:rPr lang="de-DE"/>
                  <a:t> </a:t>
                </a:r>
              </a:p>
              <a:p>
                <a:pPr algn="ctr"/>
                <a:r>
                  <a:rPr lang="de-DE" sz="1200"/>
                  <a:t>(Josyn-Inter-Process-Protocol)</a:t>
                </a:r>
              </a:p>
            </p:txBody>
          </p:sp>
        </p:grpSp>
      </p:grpSp>
      <p:sp>
        <p:nvSpPr>
          <p:cNvPr id="41" name="Rechteck 40">
            <a:extLst>
              <a:ext uri="{FF2B5EF4-FFF2-40B4-BE49-F238E27FC236}">
                <a16:creationId xmlns:a16="http://schemas.microsoft.com/office/drawing/2014/main" id="{F13693AA-EE15-974D-6A2D-109956D93A5E}"/>
              </a:ext>
            </a:extLst>
          </p:cNvPr>
          <p:cNvSpPr/>
          <p:nvPr/>
        </p:nvSpPr>
        <p:spPr>
          <a:xfrm>
            <a:off x="716936" y="866775"/>
            <a:ext cx="10672677" cy="5534025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37D42F0-1FBE-4A66-E270-4CBA9C02E931}"/>
              </a:ext>
            </a:extLst>
          </p:cNvPr>
          <p:cNvSpPr txBox="1"/>
          <p:nvPr/>
        </p:nvSpPr>
        <p:spPr>
          <a:xfrm>
            <a:off x="252326" y="153024"/>
            <a:ext cx="975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>
                <a:solidFill>
                  <a:srgbClr val="002060"/>
                </a:solidFill>
              </a:rPr>
              <a:t>josyn-platform </a:t>
            </a:r>
            <a:r>
              <a:rPr lang="de-DE" sz="2400">
                <a:solidFill>
                  <a:srgbClr val="002060"/>
                </a:solidFill>
              </a:rPr>
              <a:t>(working PoC) | environment-bound machine perspective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2A5DB11-EB10-2CA9-CB76-69B6524C2798}"/>
              </a:ext>
            </a:extLst>
          </p:cNvPr>
          <p:cNvSpPr txBox="1"/>
          <p:nvPr/>
        </p:nvSpPr>
        <p:spPr>
          <a:xfrm>
            <a:off x="3728070" y="1632898"/>
            <a:ext cx="1241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i="1">
                <a:solidFill>
                  <a:srgbClr val="7030A0"/>
                </a:solidFill>
              </a:rPr>
              <a:t>The Backend-</a:t>
            </a:r>
          </a:p>
          <a:p>
            <a:pPr algn="ctr"/>
            <a:r>
              <a:rPr lang="de-DE" sz="1400" i="1">
                <a:solidFill>
                  <a:srgbClr val="7030A0"/>
                </a:solidFill>
              </a:rPr>
              <a:t>Domain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41E2B27-4233-536A-7D5F-18278B5DCE6C}"/>
              </a:ext>
            </a:extLst>
          </p:cNvPr>
          <p:cNvSpPr txBox="1"/>
          <p:nvPr/>
        </p:nvSpPr>
        <p:spPr>
          <a:xfrm>
            <a:off x="9470530" y="1608065"/>
            <a:ext cx="1256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i="1">
                <a:solidFill>
                  <a:schemeClr val="tx2">
                    <a:lumMod val="75000"/>
                    <a:lumOff val="25000"/>
                  </a:schemeClr>
                </a:solidFill>
              </a:rPr>
              <a:t>The Job-Dev‘s</a:t>
            </a:r>
          </a:p>
          <a:p>
            <a:pPr algn="ctr"/>
            <a:r>
              <a:rPr lang="de-DE" sz="1400" i="1">
                <a:solidFill>
                  <a:schemeClr val="tx2">
                    <a:lumMod val="75000"/>
                    <a:lumOff val="25000"/>
                  </a:schemeClr>
                </a:solidFill>
              </a:rPr>
              <a:t>World</a:t>
            </a: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EE823AF3-9521-0905-838A-7344983F8593}"/>
              </a:ext>
            </a:extLst>
          </p:cNvPr>
          <p:cNvGrpSpPr/>
          <p:nvPr/>
        </p:nvGrpSpPr>
        <p:grpSpPr>
          <a:xfrm>
            <a:off x="7161390" y="4527067"/>
            <a:ext cx="1615269" cy="495116"/>
            <a:chOff x="5359908" y="5411908"/>
            <a:chExt cx="1615269" cy="495116"/>
          </a:xfrm>
        </p:grpSpPr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53931757-4D18-9E83-8E4E-02D445167FE3}"/>
                </a:ext>
              </a:extLst>
            </p:cNvPr>
            <p:cNvSpPr/>
            <p:nvPr/>
          </p:nvSpPr>
          <p:spPr>
            <a:xfrm>
              <a:off x="5359908" y="5411908"/>
              <a:ext cx="1609958" cy="4951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4A73663D-9BD0-461E-75E5-5E38CC4C15FA}"/>
                </a:ext>
              </a:extLst>
            </p:cNvPr>
            <p:cNvSpPr txBox="1"/>
            <p:nvPr/>
          </p:nvSpPr>
          <p:spPr>
            <a:xfrm>
              <a:off x="5416737" y="5469482"/>
              <a:ext cx="1558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i="1"/>
                <a:t>result-pattern</a:t>
              </a:r>
            </a:p>
          </p:txBody>
        </p:sp>
      </p:grp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1545B1D8-412B-4C54-6954-9A770CCB46EB}"/>
              </a:ext>
            </a:extLst>
          </p:cNvPr>
          <p:cNvSpPr/>
          <p:nvPr/>
        </p:nvSpPr>
        <p:spPr>
          <a:xfrm>
            <a:off x="7065610" y="5468087"/>
            <a:ext cx="1810819" cy="362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1150EFE-C115-E4E3-DF07-33F82957C6A6}"/>
              </a:ext>
            </a:extLst>
          </p:cNvPr>
          <p:cNvSpPr txBox="1"/>
          <p:nvPr/>
        </p:nvSpPr>
        <p:spPr>
          <a:xfrm>
            <a:off x="7491958" y="5497520"/>
            <a:ext cx="971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commons</a:t>
            </a:r>
          </a:p>
        </p:txBody>
      </p: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17417DA6-BE9A-5AF2-06A0-7D809F546F62}"/>
              </a:ext>
            </a:extLst>
          </p:cNvPr>
          <p:cNvCxnSpPr>
            <a:cxnSpLocks/>
            <a:stCxn id="4" idx="2"/>
            <a:endCxn id="3" idx="1"/>
          </p:cNvCxnSpPr>
          <p:nvPr/>
        </p:nvCxnSpPr>
        <p:spPr>
          <a:xfrm rot="16200000" flipH="1">
            <a:off x="5561567" y="4145363"/>
            <a:ext cx="323153" cy="2684933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E64F10DB-D51F-4117-6FC3-68EFB72C3CC0}"/>
              </a:ext>
            </a:extLst>
          </p:cNvPr>
          <p:cNvCxnSpPr>
            <a:cxnSpLocks/>
            <a:stCxn id="12" idx="2"/>
            <a:endCxn id="3" idx="3"/>
          </p:cNvCxnSpPr>
          <p:nvPr/>
        </p:nvCxnSpPr>
        <p:spPr>
          <a:xfrm rot="5400000">
            <a:off x="9322706" y="4870197"/>
            <a:ext cx="332934" cy="1225487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A24D6DA9-E6F1-C819-1CF2-7BA1B95484B9}"/>
              </a:ext>
            </a:extLst>
          </p:cNvPr>
          <p:cNvGrpSpPr/>
          <p:nvPr/>
        </p:nvGrpSpPr>
        <p:grpSpPr>
          <a:xfrm>
            <a:off x="9283928" y="3456530"/>
            <a:ext cx="1494650" cy="832330"/>
            <a:chOff x="482782" y="1498463"/>
            <a:chExt cx="1494650" cy="832330"/>
          </a:xfrm>
        </p:grpSpPr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79A01BC2-F4AE-1395-95C8-3F3D592FF21E}"/>
                </a:ext>
              </a:extLst>
            </p:cNvPr>
            <p:cNvSpPr/>
            <p:nvPr/>
          </p:nvSpPr>
          <p:spPr>
            <a:xfrm>
              <a:off x="505248" y="1524952"/>
              <a:ext cx="1472184" cy="80584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3F0004E6-94BC-BDE5-C21F-EF8B134297B1}"/>
                </a:ext>
              </a:extLst>
            </p:cNvPr>
            <p:cNvSpPr txBox="1"/>
            <p:nvPr/>
          </p:nvSpPr>
          <p:spPr>
            <a:xfrm>
              <a:off x="482782" y="1498463"/>
              <a:ext cx="10711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job-host</a:t>
              </a:r>
            </a:p>
            <a:p>
              <a:r>
                <a:rPr lang="de-DE" sz="140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(jap-client)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9518B670-0E28-A235-4230-C112668803C1}"/>
                </a:ext>
              </a:extLst>
            </p:cNvPr>
            <p:cNvSpPr txBox="1"/>
            <p:nvPr/>
          </p:nvSpPr>
          <p:spPr>
            <a:xfrm>
              <a:off x="1332488" y="2051391"/>
              <a:ext cx="580077" cy="21544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none" lIns="72000" tIns="0" rIns="72000" bIns="0" rtlCol="0">
              <a:spAutoFit/>
            </a:bodyPr>
            <a:lstStyle/>
            <a:p>
              <a:r>
                <a:rPr lang="de-DE" sz="1400" i="1"/>
                <a:t>nuget</a:t>
              </a:r>
            </a:p>
          </p:txBody>
        </p:sp>
      </p:grp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BDEBFD5A-F51B-9CE9-43D7-C7F938F12E29}"/>
              </a:ext>
            </a:extLst>
          </p:cNvPr>
          <p:cNvCxnSpPr>
            <a:cxnSpLocks/>
            <a:stCxn id="3" idx="0"/>
            <a:endCxn id="46" idx="2"/>
          </p:cNvCxnSpPr>
          <p:nvPr/>
        </p:nvCxnSpPr>
        <p:spPr>
          <a:xfrm flipH="1" flipV="1">
            <a:off x="7966369" y="5022183"/>
            <a:ext cx="4651" cy="44590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64C30896-5027-8C04-98A6-7683B69390F7}"/>
              </a:ext>
            </a:extLst>
          </p:cNvPr>
          <p:cNvCxnSpPr>
            <a:cxnSpLocks/>
            <a:stCxn id="22" idx="5"/>
            <a:endCxn id="46" idx="0"/>
          </p:cNvCxnSpPr>
          <p:nvPr/>
        </p:nvCxnSpPr>
        <p:spPr>
          <a:xfrm>
            <a:off x="7960409" y="4120231"/>
            <a:ext cx="5960" cy="40683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714AE6AB-4D55-011C-2F94-AD4959EE9000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6034088" y="4774625"/>
            <a:ext cx="112730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C0A3AAFD-0D01-454B-CE60-1F7B4FBA677C}"/>
              </a:ext>
            </a:extLst>
          </p:cNvPr>
          <p:cNvCxnSpPr>
            <a:cxnSpLocks/>
            <a:endCxn id="46" idx="3"/>
          </p:cNvCxnSpPr>
          <p:nvPr/>
        </p:nvCxnSpPr>
        <p:spPr>
          <a:xfrm flipH="1">
            <a:off x="8771348" y="4774625"/>
            <a:ext cx="52552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Pfeil: nach oben 99">
            <a:extLst>
              <a:ext uri="{FF2B5EF4-FFF2-40B4-BE49-F238E27FC236}">
                <a16:creationId xmlns:a16="http://schemas.microsoft.com/office/drawing/2014/main" id="{51B9400E-7AA8-7637-F052-3C910712658E}"/>
              </a:ext>
            </a:extLst>
          </p:cNvPr>
          <p:cNvSpPr/>
          <p:nvPr/>
        </p:nvSpPr>
        <p:spPr>
          <a:xfrm>
            <a:off x="7849943" y="3369807"/>
            <a:ext cx="203200" cy="350142"/>
          </a:xfrm>
          <a:prstGeom prst="up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1" name="Pfeil: nach oben 100">
            <a:extLst>
              <a:ext uri="{FF2B5EF4-FFF2-40B4-BE49-F238E27FC236}">
                <a16:creationId xmlns:a16="http://schemas.microsoft.com/office/drawing/2014/main" id="{6F7032E1-D5C5-6B5A-263E-E943BDFFF6C9}"/>
              </a:ext>
            </a:extLst>
          </p:cNvPr>
          <p:cNvSpPr/>
          <p:nvPr/>
        </p:nvSpPr>
        <p:spPr>
          <a:xfrm>
            <a:off x="6905753" y="1411009"/>
            <a:ext cx="103159" cy="1821394"/>
          </a:xfrm>
          <a:prstGeom prst="upArrow">
            <a:avLst>
              <a:gd name="adj1" fmla="val 31533"/>
              <a:gd name="adj2" fmla="val 10770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A5C7B00-C408-E87B-AB18-BDB09D8A4281}"/>
              </a:ext>
            </a:extLst>
          </p:cNvPr>
          <p:cNvSpPr/>
          <p:nvPr/>
        </p:nvSpPr>
        <p:spPr>
          <a:xfrm rot="16200000">
            <a:off x="6303761" y="2232505"/>
            <a:ext cx="1320610" cy="1942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A71FF72-8234-5756-5BF5-3D9176751508}"/>
              </a:ext>
            </a:extLst>
          </p:cNvPr>
          <p:cNvSpPr txBox="1"/>
          <p:nvPr/>
        </p:nvSpPr>
        <p:spPr>
          <a:xfrm rot="16200000">
            <a:off x="6294765" y="2229003"/>
            <a:ext cx="1320609" cy="18466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r>
              <a:rPr lang="de-DE" sz="1200" b="1">
                <a:solidFill>
                  <a:srgbClr val="002060"/>
                </a:solidFill>
              </a:rPr>
              <a:t>JAP</a:t>
            </a:r>
            <a:r>
              <a:rPr lang="de-DE" sz="1200">
                <a:solidFill>
                  <a:srgbClr val="002060"/>
                </a:solidFill>
              </a:rPr>
              <a:t> protocol-stack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0350DC4E-5E92-D3B9-D0DA-9235D898AC5E}"/>
              </a:ext>
            </a:extLst>
          </p:cNvPr>
          <p:cNvGrpSpPr/>
          <p:nvPr/>
        </p:nvGrpSpPr>
        <p:grpSpPr>
          <a:xfrm>
            <a:off x="3542966" y="2160990"/>
            <a:ext cx="2263355" cy="1476633"/>
            <a:chOff x="1335911" y="586290"/>
            <a:chExt cx="2263355" cy="3976566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992A8018-579A-37E7-9B3B-FDBD9F67BAED}"/>
                </a:ext>
              </a:extLst>
            </p:cNvPr>
            <p:cNvSpPr/>
            <p:nvPr/>
          </p:nvSpPr>
          <p:spPr>
            <a:xfrm>
              <a:off x="1335911" y="586290"/>
              <a:ext cx="1635507" cy="39765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D17009CC-9586-56A6-451D-81BAB88CF3FA}"/>
                </a:ext>
              </a:extLst>
            </p:cNvPr>
            <p:cNvSpPr txBox="1"/>
            <p:nvPr/>
          </p:nvSpPr>
          <p:spPr>
            <a:xfrm>
              <a:off x="1457219" y="594762"/>
              <a:ext cx="2142047" cy="3895553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r>
                <a:rPr lang="de-DE" sz="1600" b="1">
                  <a:solidFill>
                    <a:srgbClr val="7030A0"/>
                  </a:solidFill>
                </a:rPr>
                <a:t>orchestrators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>
                  <a:solidFill>
                    <a:srgbClr val="7030A0"/>
                  </a:solidFill>
                </a:rPr>
                <a:t>listener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>
                  <a:solidFill>
                    <a:srgbClr val="7030A0"/>
                  </a:solidFill>
                </a:rPr>
                <a:t>ticker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>
                  <a:solidFill>
                    <a:srgbClr val="7030A0"/>
                  </a:solidFill>
                </a:rPr>
                <a:t>CLI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>
                  <a:solidFill>
                    <a:srgbClr val="7030A0"/>
                  </a:solidFill>
                </a:rPr>
                <a:t>time-scheduler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>
                  <a:solidFill>
                    <a:srgbClr val="7030A0"/>
                  </a:solidFill>
                </a:rPr>
                <a:t>workflow-runner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>
                  <a:solidFill>
                    <a:srgbClr val="7030A0"/>
                  </a:solidFill>
                </a:rPr>
                <a:t>…</a:t>
              </a:r>
            </a:p>
          </p:txBody>
        </p: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E78E623B-CB8E-01B4-1620-3047F3603FCA}"/>
              </a:ext>
            </a:extLst>
          </p:cNvPr>
          <p:cNvGrpSpPr/>
          <p:nvPr/>
        </p:nvGrpSpPr>
        <p:grpSpPr>
          <a:xfrm>
            <a:off x="4880865" y="3456529"/>
            <a:ext cx="1770877" cy="873927"/>
            <a:chOff x="249329" y="351742"/>
            <a:chExt cx="1770877" cy="791538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4149715C-FDB5-2F7B-ADAC-60A402817315}"/>
                </a:ext>
              </a:extLst>
            </p:cNvPr>
            <p:cNvSpPr/>
            <p:nvPr/>
          </p:nvSpPr>
          <p:spPr>
            <a:xfrm>
              <a:off x="274730" y="378232"/>
              <a:ext cx="1745476" cy="76504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D7D1E508-0130-675F-4AEF-A4680A9131C7}"/>
                </a:ext>
              </a:extLst>
            </p:cNvPr>
            <p:cNvSpPr txBox="1"/>
            <p:nvPr/>
          </p:nvSpPr>
          <p:spPr>
            <a:xfrm>
              <a:off x="249329" y="351742"/>
              <a:ext cx="175772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/>
                <a:t>session-broker</a:t>
              </a:r>
            </a:p>
            <a:p>
              <a:r>
                <a:rPr lang="de-DE" sz="1400"/>
                <a:t>(jap-server)</a:t>
              </a:r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ADE2207A-5807-A4DB-8566-62A04047F8D0}"/>
                </a:ext>
              </a:extLst>
            </p:cNvPr>
            <p:cNvSpPr txBox="1"/>
            <p:nvPr/>
          </p:nvSpPr>
          <p:spPr>
            <a:xfrm>
              <a:off x="1558775" y="855775"/>
              <a:ext cx="409133" cy="21544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none" lIns="72000" tIns="0" rIns="72000" bIns="0" rtlCol="0">
              <a:spAutoFit/>
            </a:bodyPr>
            <a:lstStyle/>
            <a:p>
              <a:r>
                <a:rPr lang="de-DE" sz="1400" i="1"/>
                <a:t>exe</a:t>
              </a: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A639B898-E821-7E35-2C32-C103C00094FD}"/>
              </a:ext>
            </a:extLst>
          </p:cNvPr>
          <p:cNvSpPr txBox="1"/>
          <p:nvPr/>
        </p:nvSpPr>
        <p:spPr>
          <a:xfrm>
            <a:off x="9371856" y="2084790"/>
            <a:ext cx="15126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2">
                    <a:lumMod val="75000"/>
                    <a:lumOff val="25000"/>
                  </a:schemeClr>
                </a:solidFill>
              </a:rPr>
              <a:t>Arguments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2">
                    <a:lumMod val="75000"/>
                    <a:lumOff val="25000"/>
                  </a:schemeClr>
                </a:solidFill>
              </a:rPr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2">
                    <a:lumMod val="75000"/>
                    <a:lumOff val="25000"/>
                  </a:schemeClr>
                </a:solidFill>
              </a:rPr>
              <a:t>Execution-Report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2">
                    <a:lumMod val="75000"/>
                    <a:lumOff val="25000"/>
                  </a:schemeClr>
                </a:solidFill>
              </a:rPr>
              <a:t>Progress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2">
                    <a:lumMod val="75000"/>
                    <a:lumOff val="25000"/>
                  </a:schemeClr>
                </a:solidFill>
              </a:rPr>
              <a:t>Cancellation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2">
                    <a:lumMod val="75000"/>
                    <a:lumOff val="25000"/>
                  </a:schemeClr>
                </a:solidFill>
              </a:rPr>
              <a:t>---</a:t>
            </a:r>
            <a:endParaRPr lang="de-DE" sz="1400" i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9F14E42-6BAC-BD2F-5270-0B2F06944310}"/>
              </a:ext>
            </a:extLst>
          </p:cNvPr>
          <p:cNvGrpSpPr/>
          <p:nvPr/>
        </p:nvGrpSpPr>
        <p:grpSpPr>
          <a:xfrm>
            <a:off x="2816688" y="4031514"/>
            <a:ext cx="1886832" cy="1147585"/>
            <a:chOff x="40493" y="5031901"/>
            <a:chExt cx="1886832" cy="3090441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7A7FE823-3284-82FE-BA1A-1E9AB2D8CF59}"/>
                </a:ext>
              </a:extLst>
            </p:cNvPr>
            <p:cNvSpPr/>
            <p:nvPr/>
          </p:nvSpPr>
          <p:spPr>
            <a:xfrm>
              <a:off x="57730" y="5146372"/>
              <a:ext cx="1782923" cy="297597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2AE1817D-175E-F853-DF97-971FBDEC96E1}"/>
                </a:ext>
              </a:extLst>
            </p:cNvPr>
            <p:cNvSpPr txBox="1"/>
            <p:nvPr/>
          </p:nvSpPr>
          <p:spPr>
            <a:xfrm>
              <a:off x="40493" y="5031901"/>
              <a:ext cx="1886832" cy="2900943"/>
            </a:xfrm>
            <a:prstGeom prst="rect">
              <a:avLst/>
            </a:prstGeom>
            <a:noFill/>
            <a:ln w="3175"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r>
                <a:rPr lang="de-DE" sz="1600" b="1" i="1">
                  <a:solidFill>
                    <a:srgbClr val="7030A0"/>
                  </a:solidFill>
                </a:rPr>
                <a:t>contoso</a:t>
              </a:r>
              <a:r>
                <a:rPr lang="de-DE" sz="1600" b="1">
                  <a:solidFill>
                    <a:srgbClr val="7030A0"/>
                  </a:solidFill>
                </a:rPr>
                <a:t>-adapters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>
                  <a:solidFill>
                    <a:srgbClr val="7030A0"/>
                  </a:solidFill>
                </a:rPr>
                <a:t>identity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>
                  <a:solidFill>
                    <a:srgbClr val="7030A0"/>
                  </a:solidFill>
                </a:rPr>
                <a:t>configuration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>
                  <a:solidFill>
                    <a:srgbClr val="7030A0"/>
                  </a:solidFill>
                </a:rPr>
                <a:t>workflow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>
                  <a:solidFill>
                    <a:srgbClr val="7030A0"/>
                  </a:solidFill>
                </a:rPr>
                <a:t>…</a:t>
              </a:r>
            </a:p>
          </p:txBody>
        </p:sp>
      </p:grpSp>
      <p:sp>
        <p:nvSpPr>
          <p:cNvPr id="52" name="Pfeil: nach links und oben 51">
            <a:extLst>
              <a:ext uri="{FF2B5EF4-FFF2-40B4-BE49-F238E27FC236}">
                <a16:creationId xmlns:a16="http://schemas.microsoft.com/office/drawing/2014/main" id="{19A34D1E-D4EE-DD8F-5BBD-2616423A4F52}"/>
              </a:ext>
            </a:extLst>
          </p:cNvPr>
          <p:cNvSpPr/>
          <p:nvPr/>
        </p:nvSpPr>
        <p:spPr>
          <a:xfrm>
            <a:off x="4650681" y="4443284"/>
            <a:ext cx="1127098" cy="604667"/>
          </a:xfrm>
          <a:prstGeom prst="leftUpArrow">
            <a:avLst>
              <a:gd name="adj1" fmla="val 29839"/>
              <a:gd name="adj2" fmla="val 25938"/>
              <a:gd name="adj3" fmla="val 2500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04050EB1-A539-7FC6-1CAF-4623AF72E2C7}"/>
              </a:ext>
            </a:extLst>
          </p:cNvPr>
          <p:cNvSpPr txBox="1"/>
          <p:nvPr/>
        </p:nvSpPr>
        <p:spPr>
          <a:xfrm>
            <a:off x="4639916" y="4756778"/>
            <a:ext cx="11228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/>
              <a:t>one-to-one </a:t>
            </a:r>
            <a:r>
              <a:rPr lang="de-DE" sz="1100" b="1" i="1"/>
              <a:t>IPC</a:t>
            </a: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844495D9-99B6-A9B6-04AB-057AC8EA79DB}"/>
              </a:ext>
            </a:extLst>
          </p:cNvPr>
          <p:cNvGrpSpPr/>
          <p:nvPr/>
        </p:nvGrpSpPr>
        <p:grpSpPr>
          <a:xfrm>
            <a:off x="954291" y="1145982"/>
            <a:ext cx="1361481" cy="5026217"/>
            <a:chOff x="1813797" y="924492"/>
            <a:chExt cx="1361481" cy="4965164"/>
          </a:xfrm>
        </p:grpSpPr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70C63357-7CD2-5583-121F-BF48219175DB}"/>
                </a:ext>
              </a:extLst>
            </p:cNvPr>
            <p:cNvSpPr/>
            <p:nvPr/>
          </p:nvSpPr>
          <p:spPr>
            <a:xfrm>
              <a:off x="1813797" y="924492"/>
              <a:ext cx="1361481" cy="4965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48E170DD-6921-4FD3-4D8F-049D4178C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3448" y="1601482"/>
              <a:ext cx="1056380" cy="1056380"/>
            </a:xfrm>
            <a:prstGeom prst="rect">
              <a:avLst/>
            </a:prstGeom>
          </p:spPr>
        </p:pic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CFA4F611-45B3-93E1-2FD0-C085FEE8A27E}"/>
                </a:ext>
              </a:extLst>
            </p:cNvPr>
            <p:cNvSpPr txBox="1"/>
            <p:nvPr/>
          </p:nvSpPr>
          <p:spPr>
            <a:xfrm>
              <a:off x="2006364" y="924492"/>
              <a:ext cx="9890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>
                  <a:solidFill>
                    <a:srgbClr val="002060"/>
                  </a:solidFill>
                </a:rPr>
                <a:t>josyn-db</a:t>
              </a:r>
            </a:p>
            <a:p>
              <a:r>
                <a:rPr lang="de-DE" sz="1200">
                  <a:solidFill>
                    <a:srgbClr val="002060"/>
                  </a:solidFill>
                </a:rPr>
                <a:t>MS-SQL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4078FDE5-C4AA-6D6B-B7C7-A3788D89BD1F}"/>
                </a:ext>
              </a:extLst>
            </p:cNvPr>
            <p:cNvSpPr txBox="1"/>
            <p:nvPr/>
          </p:nvSpPr>
          <p:spPr>
            <a:xfrm>
              <a:off x="1823626" y="2790706"/>
              <a:ext cx="135165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>
                  <a:solidFill>
                    <a:srgbClr val="002060"/>
                  </a:solidFill>
                </a:rPr>
                <a:t>session-store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>
                  <a:solidFill>
                    <a:srgbClr val="002060"/>
                  </a:solidFill>
                </a:rPr>
                <a:t>error-store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>
                  <a:solidFill>
                    <a:srgbClr val="002060"/>
                  </a:solidFill>
                </a:rPr>
                <a:t>job-registry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>
                  <a:solidFill>
                    <a:srgbClr val="002060"/>
                  </a:solidFill>
                </a:rPr>
                <a:t>job-scheduling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>
                  <a:solidFill>
                    <a:srgbClr val="002060"/>
                  </a:solidFill>
                </a:rPr>
                <a:t>…</a:t>
              </a:r>
            </a:p>
          </p:txBody>
        </p:sp>
      </p:grpSp>
      <p:sp>
        <p:nvSpPr>
          <p:cNvPr id="67" name="Pfeil: nach oben gebogen 66">
            <a:extLst>
              <a:ext uri="{FF2B5EF4-FFF2-40B4-BE49-F238E27FC236}">
                <a16:creationId xmlns:a16="http://schemas.microsoft.com/office/drawing/2014/main" id="{11E2D0FA-85DA-5DEA-97C0-F34D484A8434}"/>
              </a:ext>
            </a:extLst>
          </p:cNvPr>
          <p:cNvSpPr/>
          <p:nvPr/>
        </p:nvSpPr>
        <p:spPr>
          <a:xfrm rot="5400000">
            <a:off x="4440128" y="3575620"/>
            <a:ext cx="387743" cy="524050"/>
          </a:xfrm>
          <a:prstGeom prst="bentUpArrow">
            <a:avLst>
              <a:gd name="adj1" fmla="val 32256"/>
              <a:gd name="adj2" fmla="val 29535"/>
              <a:gd name="adj3" fmla="val 34068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1539619E-3956-EC30-4D9A-1FFE6BA84989}"/>
              </a:ext>
            </a:extLst>
          </p:cNvPr>
          <p:cNvSpPr txBox="1"/>
          <p:nvPr/>
        </p:nvSpPr>
        <p:spPr>
          <a:xfrm>
            <a:off x="4310365" y="3804893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/>
              <a:t>launcher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C17422F-E89D-D549-F4A0-F4E416CC6D74}"/>
              </a:ext>
            </a:extLst>
          </p:cNvPr>
          <p:cNvSpPr/>
          <p:nvPr/>
        </p:nvSpPr>
        <p:spPr>
          <a:xfrm>
            <a:off x="2511951" y="1128292"/>
            <a:ext cx="8677227" cy="5018662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47F840B-F118-2E9E-85D6-4D4400DA71D1}"/>
              </a:ext>
            </a:extLst>
          </p:cNvPr>
          <p:cNvSpPr txBox="1"/>
          <p:nvPr/>
        </p:nvSpPr>
        <p:spPr>
          <a:xfrm>
            <a:off x="2624375" y="961317"/>
            <a:ext cx="283443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>
                <a:solidFill>
                  <a:srgbClr val="002060"/>
                </a:solidFill>
              </a:rPr>
              <a:t>headless machine </a:t>
            </a:r>
            <a:r>
              <a:rPr lang="de-DE">
                <a:solidFill>
                  <a:srgbClr val="002060"/>
                </a:solidFill>
              </a:rPr>
              <a:t>- 1 of 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5F8CB247-06B3-C14B-5535-7AEDC74D4CC1}"/>
              </a:ext>
            </a:extLst>
          </p:cNvPr>
          <p:cNvSpPr txBox="1"/>
          <p:nvPr/>
        </p:nvSpPr>
        <p:spPr>
          <a:xfrm>
            <a:off x="903613" y="666962"/>
            <a:ext cx="19303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b="1">
                <a:solidFill>
                  <a:srgbClr val="002060"/>
                </a:solidFill>
              </a:rPr>
              <a:t>env </a:t>
            </a:r>
            <a:r>
              <a:rPr lang="de-DE">
                <a:solidFill>
                  <a:srgbClr val="002060"/>
                </a:solidFill>
              </a:rPr>
              <a:t>(prod|int|dev)</a:t>
            </a:r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F3E8D9B7-B951-5849-DABA-58CA6079B6F6}"/>
              </a:ext>
            </a:extLst>
          </p:cNvPr>
          <p:cNvCxnSpPr/>
          <p:nvPr/>
        </p:nvCxnSpPr>
        <p:spPr>
          <a:xfrm>
            <a:off x="7099300" y="1990725"/>
            <a:ext cx="18849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16D4DDBC-FB00-FE45-D54F-D986C5ED361B}"/>
              </a:ext>
            </a:extLst>
          </p:cNvPr>
          <p:cNvCxnSpPr/>
          <p:nvPr/>
        </p:nvCxnSpPr>
        <p:spPr>
          <a:xfrm>
            <a:off x="7099300" y="2697196"/>
            <a:ext cx="18849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Grafik 70">
            <a:extLst>
              <a:ext uri="{FF2B5EF4-FFF2-40B4-BE49-F238E27FC236}">
                <a16:creationId xmlns:a16="http://schemas.microsoft.com/office/drawing/2014/main" id="{2153665A-8E4E-D8DA-B6EB-46A77D170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702" y="4365389"/>
            <a:ext cx="366234" cy="357021"/>
          </a:xfrm>
          <a:prstGeom prst="rect">
            <a:avLst/>
          </a:prstGeom>
        </p:spPr>
      </p:pic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D34BB2CC-52FF-2FC4-2833-09C955FCDA30}"/>
              </a:ext>
            </a:extLst>
          </p:cNvPr>
          <p:cNvGrpSpPr/>
          <p:nvPr/>
        </p:nvGrpSpPr>
        <p:grpSpPr>
          <a:xfrm>
            <a:off x="2806073" y="3816509"/>
            <a:ext cx="1487539" cy="276999"/>
            <a:chOff x="3181943" y="5397086"/>
            <a:chExt cx="1203134" cy="276999"/>
          </a:xfrm>
        </p:grpSpPr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3B70D8F2-CDC7-7055-B487-470EA1D42C29}"/>
                </a:ext>
              </a:extLst>
            </p:cNvPr>
            <p:cNvSpPr/>
            <p:nvPr/>
          </p:nvSpPr>
          <p:spPr>
            <a:xfrm>
              <a:off x="3204380" y="5398271"/>
              <a:ext cx="1141782" cy="25886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1F57061-C48D-2C51-506A-F3D57C41CB51}"/>
                </a:ext>
              </a:extLst>
            </p:cNvPr>
            <p:cNvSpPr txBox="1"/>
            <p:nvPr/>
          </p:nvSpPr>
          <p:spPr>
            <a:xfrm>
              <a:off x="3181943" y="5397086"/>
              <a:ext cx="1203134" cy="276999"/>
            </a:xfrm>
            <a:prstGeom prst="rect">
              <a:avLst/>
            </a:prstGeom>
            <a:noFill/>
            <a:ln w="3175"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r>
                <a:rPr lang="de-DE" sz="1200" b="1" i="1">
                  <a:solidFill>
                    <a:srgbClr val="7030A0"/>
                  </a:solidFill>
                </a:rPr>
                <a:t>contoso</a:t>
              </a:r>
              <a:r>
                <a:rPr lang="de-DE" sz="1200" b="1">
                  <a:solidFill>
                    <a:srgbClr val="7030A0"/>
                  </a:solidFill>
                </a:rPr>
                <a:t>-contracts</a:t>
              </a:r>
            </a:p>
          </p:txBody>
        </p:sp>
      </p:grpSp>
      <p:sp>
        <p:nvSpPr>
          <p:cNvPr id="54" name="Textfeld 53">
            <a:extLst>
              <a:ext uri="{FF2B5EF4-FFF2-40B4-BE49-F238E27FC236}">
                <a16:creationId xmlns:a16="http://schemas.microsoft.com/office/drawing/2014/main" id="{A90046F5-B61F-B94B-4732-BD4F05F4B529}"/>
              </a:ext>
            </a:extLst>
          </p:cNvPr>
          <p:cNvSpPr txBox="1"/>
          <p:nvPr/>
        </p:nvSpPr>
        <p:spPr>
          <a:xfrm>
            <a:off x="10426307" y="5027822"/>
            <a:ext cx="409133" cy="215444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de-DE" sz="1400" i="1"/>
              <a:t>exe</a:t>
            </a:r>
          </a:p>
        </p:txBody>
      </p: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4F62C5C-0D4A-4406-2FD1-660DB0F20D83}"/>
              </a:ext>
            </a:extLst>
          </p:cNvPr>
          <p:cNvGrpSpPr/>
          <p:nvPr/>
        </p:nvGrpSpPr>
        <p:grpSpPr>
          <a:xfrm>
            <a:off x="9425094" y="4369662"/>
            <a:ext cx="1364910" cy="584775"/>
            <a:chOff x="9425094" y="4382362"/>
            <a:chExt cx="1364910" cy="584775"/>
          </a:xfrm>
        </p:grpSpPr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BF9D75D2-70BD-FE79-8A4B-45C5AB2987E1}"/>
                </a:ext>
              </a:extLst>
            </p:cNvPr>
            <p:cNvSpPr/>
            <p:nvPr/>
          </p:nvSpPr>
          <p:spPr>
            <a:xfrm>
              <a:off x="9425094" y="4404515"/>
              <a:ext cx="1364910" cy="54629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08D5A4D1-A73D-BD30-0B6E-173C2C5E1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09756" y="4498313"/>
              <a:ext cx="366234" cy="357021"/>
            </a:xfrm>
            <a:prstGeom prst="rect">
              <a:avLst/>
            </a:prstGeom>
          </p:spPr>
        </p:pic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5EEF4584-4569-91C5-5871-432896611578}"/>
                </a:ext>
              </a:extLst>
            </p:cNvPr>
            <p:cNvSpPr txBox="1"/>
            <p:nvPr/>
          </p:nvSpPr>
          <p:spPr>
            <a:xfrm>
              <a:off x="9833386" y="4382362"/>
              <a:ext cx="9450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600" b="1">
                  <a:solidFill>
                    <a:srgbClr val="0070C0"/>
                  </a:solidFill>
                </a:rPr>
                <a:t>contoso</a:t>
              </a:r>
            </a:p>
            <a:p>
              <a:pPr algn="ctr"/>
              <a:r>
                <a:rPr lang="de-DE" sz="1600" b="1">
                  <a:solidFill>
                    <a:srgbClr val="0070C0"/>
                  </a:solidFill>
                </a:rPr>
                <a:t>world!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131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Breitbild</PresentationFormat>
  <Paragraphs>215</Paragraphs>
  <Slides>11</Slides>
  <Notes>3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-apple-system</vt:lpstr>
      <vt:lpstr>Aptos</vt:lpstr>
      <vt:lpstr>Aptos Display</vt:lpstr>
      <vt:lpstr>Arial</vt:lpstr>
      <vt:lpstr>Office</vt:lpstr>
      <vt:lpstr>Image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Christofer Kluth</dc:creator>
  <cp:lastModifiedBy>Christofer Kluth</cp:lastModifiedBy>
  <cp:revision>24</cp:revision>
  <dcterms:created xsi:type="dcterms:W3CDTF">2026-06-10T06:03:57Z</dcterms:created>
  <dcterms:modified xsi:type="dcterms:W3CDTF">2026-06-22T19:38:35Z</dcterms:modified>
</cp:coreProperties>
</file>