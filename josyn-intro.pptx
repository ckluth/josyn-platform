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3" r:id="rId2"/>
    <p:sldId id="271" r:id="rId3"/>
    <p:sldId id="272" r:id="rId4"/>
    <p:sldId id="260" r:id="rId5"/>
    <p:sldId id="274" r:id="rId6"/>
    <p:sldId id="275" r:id="rId7"/>
    <p:sldId id="276" r:id="rId8"/>
    <p:sldId id="262" r:id="rId9"/>
    <p:sldId id="270" r:id="rId10"/>
    <p:sldId id="269" r:id="rId11"/>
    <p:sldId id="259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630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057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13.06.2026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>
                <a:solidFill>
                  <a:srgbClr val="00B050"/>
                </a:solidFill>
              </a:rPr>
              <a:t>Nach </a:t>
            </a:r>
            <a:r>
              <a:rPr lang="de-DE" sz="4400" b="1" i="1">
                <a:solidFill>
                  <a:srgbClr val="00B050"/>
                </a:solidFill>
              </a:rPr>
              <a:t>10</a:t>
            </a:r>
            <a:r>
              <a:rPr lang="de-DE" sz="4400" i="1">
                <a:solidFill>
                  <a:srgbClr val="00B050"/>
                </a:solidFill>
              </a:rPr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1400" i="1"/>
          </a:p>
          <a:p>
            <a:pPr algn="ctr"/>
            <a:r>
              <a:rPr lang="de-DE" sz="4400" i="1"/>
              <a:t>Noch fit für die Zukunft?</a:t>
            </a:r>
          </a:p>
          <a:p>
            <a:pPr algn="ctr"/>
            <a:endParaRPr lang="de-DE" i="1"/>
          </a:p>
          <a:p>
            <a:pPr algn="ctr"/>
            <a:r>
              <a:rPr lang="de-DE" sz="4400">
                <a:solidFill>
                  <a:srgbClr val="FF0000"/>
                </a:solidFill>
              </a:rPr>
              <a:t>Zeit für die Rente?...</a:t>
            </a:r>
          </a:p>
          <a:p>
            <a:pPr algn="ctr"/>
            <a:endParaRPr lang="de-DE" sz="1200">
              <a:solidFill>
                <a:srgbClr val="FF0000"/>
              </a:solidFill>
            </a:endParaRPr>
          </a:p>
          <a:p>
            <a:pPr algn="ctr"/>
            <a:r>
              <a:rPr lang="de-DE" sz="4400" b="1" i="1"/>
              <a:t>=&gt; …was käme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071100" cy="5724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/>
              <a:t>WCF-Server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Schulungsaufwand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Zukunft? </a:t>
            </a:r>
            <a:r>
              <a:rPr lang="de-DE"/>
              <a:t>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769741" y="260230"/>
            <a:ext cx="10621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„</a:t>
            </a:r>
            <a:r>
              <a:rPr lang="de-DE" sz="2400" b="1" i="1">
                <a:solidFill>
                  <a:srgbClr val="002060"/>
                </a:solidFill>
              </a:rPr>
              <a:t>Diagnosen-Liste“</a:t>
            </a:r>
            <a:r>
              <a:rPr lang="de-DE" sz="2400" b="1"/>
              <a:t>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724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Patches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das versteht die zukünftige Generation von Maintainern nicht mehr: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>
                <a:solidFill>
                  <a:srgbClr val="FF0000"/>
                </a:solidFill>
              </a:rPr>
              <a:t>„company-fit“</a:t>
            </a:r>
            <a:r>
              <a:rPr lang="de-DE"/>
              <a:t>: das System ist z.B. nicht fit, eine zukünftige, härtere </a:t>
            </a:r>
            <a:r>
              <a:rPr lang="de-DE" b="1"/>
              <a:t>change-policy</a:t>
            </a:r>
            <a:r>
              <a:rPr lang="de-DE"/>
              <a:t> mitzugehen. Eine vollständige, saubere </a:t>
            </a:r>
            <a:r>
              <a:rPr lang="de-DE" b="1"/>
              <a:t>CI/CD-Integration</a:t>
            </a:r>
            <a:r>
              <a:rPr lang="de-DE"/>
              <a:t> und ein - im besten Fall automatisches – sauberes </a:t>
            </a:r>
            <a:r>
              <a:rPr lang="de-DE" b="1"/>
              <a:t>change-audit</a:t>
            </a:r>
            <a:r>
              <a:rPr lang="de-DE"/>
              <a:t> sind kaum machbar.  Schärfere Anforderungen wären nur durch „stunts“, „nervige handarbeit“ und „dont-ask-dont-tell“-Kompromisse mühsam mitzugehen…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45F580C5-8F3A-EDDB-125F-5CD169EFA36D}"/>
              </a:ext>
            </a:extLst>
          </p:cNvPr>
          <p:cNvGrpSpPr/>
          <p:nvPr/>
        </p:nvGrpSpPr>
        <p:grpSpPr>
          <a:xfrm>
            <a:off x="1713922" y="1439437"/>
            <a:ext cx="2992631" cy="2689384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91D6CEA9-DE63-5C3E-1FC1-F87CE5390BFE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06971D2B-11F1-F847-86D5-A05053D8999A}"/>
                </a:ext>
              </a:extLst>
            </p:cNvPr>
            <p:cNvSpPr txBox="1"/>
            <p:nvPr/>
          </p:nvSpPr>
          <p:spPr>
            <a:xfrm>
              <a:off x="6607221" y="632143"/>
              <a:ext cx="1032705" cy="546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Das Backend</a:t>
              </a:r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20A8C9F-F57C-4D2B-2026-E1D2C374B37C}"/>
              </a:ext>
            </a:extLst>
          </p:cNvPr>
          <p:cNvGrpSpPr/>
          <p:nvPr/>
        </p:nvGrpSpPr>
        <p:grpSpPr>
          <a:xfrm>
            <a:off x="5583614" y="1463281"/>
            <a:ext cx="4423990" cy="2689384"/>
            <a:chOff x="6606125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6921B3CE-E7A0-EC84-AE42-D587DB52C342}"/>
                </a:ext>
              </a:extLst>
            </p:cNvPr>
            <p:cNvSpPr/>
            <p:nvPr/>
          </p:nvSpPr>
          <p:spPr>
            <a:xfrm>
              <a:off x="6606125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EC331E49-AA54-F3AD-0A2F-79D0B4B9BE38}"/>
                </a:ext>
              </a:extLst>
            </p:cNvPr>
            <p:cNvSpPr txBox="1"/>
            <p:nvPr/>
          </p:nvSpPr>
          <p:spPr>
            <a:xfrm>
              <a:off x="6607221" y="632142"/>
              <a:ext cx="899942" cy="659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Jobhost.exe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0681D04-726D-1F17-2FF4-63D66A1BAB7E}"/>
              </a:ext>
            </a:extLst>
          </p:cNvPr>
          <p:cNvGrpSpPr/>
          <p:nvPr/>
        </p:nvGrpSpPr>
        <p:grpSpPr>
          <a:xfrm>
            <a:off x="8005905" y="3082401"/>
            <a:ext cx="1822489" cy="765048"/>
            <a:chOff x="164209" y="1524953"/>
            <a:chExt cx="1822489" cy="765048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E7FD0AE-ABF6-2A9B-559B-9DECBD0D518D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6E59F33-9673-BF9A-2A76-B7ED8A290DEA}"/>
                </a:ext>
              </a:extLst>
            </p:cNvPr>
            <p:cNvSpPr txBox="1"/>
            <p:nvPr/>
          </p:nvSpPr>
          <p:spPr>
            <a:xfrm>
              <a:off x="182999" y="1686886"/>
              <a:ext cx="18036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job-assemblies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1C2E713-FEED-828B-784C-F67174EC88F8}"/>
              </a:ext>
            </a:extLst>
          </p:cNvPr>
          <p:cNvGrpSpPr/>
          <p:nvPr/>
        </p:nvGrpSpPr>
        <p:grpSpPr>
          <a:xfrm>
            <a:off x="5897322" y="1853741"/>
            <a:ext cx="3922316" cy="708234"/>
            <a:chOff x="164209" y="1516532"/>
            <a:chExt cx="1803699" cy="773469"/>
          </a:xfrm>
        </p:grpSpPr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F5734D98-A5B2-DFFF-01E1-0795FEF53E54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7201EE90-CEA3-3A25-B815-CBC87BEDB594}"/>
                </a:ext>
              </a:extLst>
            </p:cNvPr>
            <p:cNvSpPr txBox="1"/>
            <p:nvPr/>
          </p:nvSpPr>
          <p:spPr>
            <a:xfrm>
              <a:off x="198602" y="1516532"/>
              <a:ext cx="11095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Base-job</a:t>
              </a:r>
            </a:p>
          </p:txBody>
        </p:sp>
      </p:grpSp>
      <p:sp>
        <p:nvSpPr>
          <p:cNvPr id="52" name="Textfeld 51">
            <a:extLst>
              <a:ext uri="{FF2B5EF4-FFF2-40B4-BE49-F238E27FC236}">
                <a16:creationId xmlns:a16="http://schemas.microsoft.com/office/drawing/2014/main" id="{AB395DAA-F396-28B1-E9C1-A745386E2EEB}"/>
              </a:ext>
            </a:extLst>
          </p:cNvPr>
          <p:cNvSpPr txBox="1"/>
          <p:nvPr/>
        </p:nvSpPr>
        <p:spPr>
          <a:xfrm>
            <a:off x="5124305" y="2724919"/>
            <a:ext cx="2472944" cy="1169551"/>
          </a:xfrm>
          <a:prstGeom prst="rect">
            <a:avLst/>
          </a:prstGeom>
          <a:solidFill>
            <a:srgbClr val="FF9999"/>
          </a:solidFill>
        </p:spPr>
        <p:txBody>
          <a:bodyPr wrap="square">
            <a:spAutoFit/>
          </a:bodyPr>
          <a:lstStyle/>
          <a:p>
            <a:r>
              <a:rPr lang="de-DE" sz="1000" b="1"/>
              <a:t>HaevgRZ.JobSystem.SessionStore.dll</a:t>
            </a:r>
          </a:p>
          <a:p>
            <a:r>
              <a:rPr lang="de-DE" sz="1000" b="1"/>
              <a:t>HaevgRZ.JobSystem.Core.dll</a:t>
            </a:r>
          </a:p>
          <a:p>
            <a:r>
              <a:rPr lang="de-DE" sz="1000" b="1"/>
              <a:t>HaevgRZ.JobSystem.Contracts.dll</a:t>
            </a:r>
          </a:p>
          <a:p>
            <a:r>
              <a:rPr lang="de-DE" sz="1000" b="1"/>
              <a:t>HaevgRZ.JobSystem.Lib.Core.dll</a:t>
            </a:r>
          </a:p>
          <a:p>
            <a:r>
              <a:rPr lang="de-DE" sz="1000" b="1"/>
              <a:t>HaevgRZ.JobSystem.Lib.Messaging.dll</a:t>
            </a:r>
          </a:p>
          <a:p>
            <a:r>
              <a:rPr lang="de-DE" sz="1000" b="1"/>
              <a:t>„GlobalConfig“</a:t>
            </a:r>
          </a:p>
          <a:p>
            <a:r>
              <a:rPr lang="de-DE" sz="1000" b="1"/>
              <a:t>…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35A56320-1BAA-14D4-257E-BC2DD55217FB}"/>
              </a:ext>
            </a:extLst>
          </p:cNvPr>
          <p:cNvSpPr txBox="1"/>
          <p:nvPr/>
        </p:nvSpPr>
        <p:spPr>
          <a:xfrm>
            <a:off x="7927182" y="2724919"/>
            <a:ext cx="1905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>
                <a:solidFill>
                  <a:srgbClr val="FF0000"/>
                </a:solidFill>
              </a:rPr>
              <a:t>AssemblyResolve: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840FE24B-8ABF-C58F-FA7B-285D8FF784A4}"/>
              </a:ext>
            </a:extLst>
          </p:cNvPr>
          <p:cNvGrpSpPr/>
          <p:nvPr/>
        </p:nvGrpSpPr>
        <p:grpSpPr>
          <a:xfrm>
            <a:off x="2898340" y="1918813"/>
            <a:ext cx="1803699" cy="643577"/>
            <a:chOff x="164209" y="1588453"/>
            <a:chExt cx="1803699" cy="643577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5339CB1C-0982-812A-5B00-A1C734F2D7B9}"/>
                </a:ext>
              </a:extLst>
            </p:cNvPr>
            <p:cNvSpPr/>
            <p:nvPr/>
          </p:nvSpPr>
          <p:spPr>
            <a:xfrm>
              <a:off x="164209" y="1588453"/>
              <a:ext cx="1803699" cy="64357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DA82363-6616-3120-15F7-E15ADFD3A277}"/>
                </a:ext>
              </a:extLst>
            </p:cNvPr>
            <p:cNvSpPr txBox="1"/>
            <p:nvPr/>
          </p:nvSpPr>
          <p:spPr>
            <a:xfrm>
              <a:off x="216082" y="1606413"/>
              <a:ext cx="17413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SessionStarter</a:t>
              </a:r>
            </a:p>
          </p:txBody>
        </p:sp>
      </p:grpSp>
      <p:sp>
        <p:nvSpPr>
          <p:cNvPr id="60" name="Pfeil: nach rechts 59">
            <a:extLst>
              <a:ext uri="{FF2B5EF4-FFF2-40B4-BE49-F238E27FC236}">
                <a16:creationId xmlns:a16="http://schemas.microsoft.com/office/drawing/2014/main" id="{3E79FB88-779C-13F8-B2BF-A117237A18A3}"/>
              </a:ext>
            </a:extLst>
          </p:cNvPr>
          <p:cNvSpPr/>
          <p:nvPr/>
        </p:nvSpPr>
        <p:spPr>
          <a:xfrm>
            <a:off x="4723504" y="2146442"/>
            <a:ext cx="841320" cy="234258"/>
          </a:xfrm>
          <a:prstGeom prst="rightArrow">
            <a:avLst/>
          </a:prstGeom>
          <a:solidFill>
            <a:schemeClr val="accent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2C7E6E6-A5E4-68DB-279A-D74781522F4F}"/>
              </a:ext>
            </a:extLst>
          </p:cNvPr>
          <p:cNvSpPr txBox="1"/>
          <p:nvPr/>
        </p:nvSpPr>
        <p:spPr>
          <a:xfrm>
            <a:off x="4666437" y="1778023"/>
            <a:ext cx="955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spawns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58" y="238438"/>
            <a:ext cx="87032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System und Job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561522" y="4443472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Dependency-Room“: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Workflow-Adapter.exe, die mit dem JobHost per </a:t>
            </a:r>
            <a:r>
              <a:rPr lang="de-DE" sz="1200" i="1"/>
              <a:t>CLI-Calls</a:t>
            </a:r>
            <a:r>
              <a:rPr lang="de-DE" sz="1200"/>
              <a:t>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1536D43B-1E69-F7B8-4F87-A0FD5F362E85}"/>
              </a:ext>
            </a:extLst>
          </p:cNvPr>
          <p:cNvSpPr/>
          <p:nvPr/>
        </p:nvSpPr>
        <p:spPr>
          <a:xfrm>
            <a:off x="3799699" y="2969365"/>
            <a:ext cx="1311905" cy="707281"/>
          </a:xfrm>
          <a:prstGeom prst="leftArrow">
            <a:avLst/>
          </a:prstGeom>
          <a:solidFill>
            <a:srgbClr val="C0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3" name="Grafik 72">
            <a:extLst>
              <a:ext uri="{FF2B5EF4-FFF2-40B4-BE49-F238E27FC236}">
                <a16:creationId xmlns:a16="http://schemas.microsoft.com/office/drawing/2014/main" id="{16156912-CE86-DB36-D615-C741938FB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421" y="2428990"/>
            <a:ext cx="827913" cy="827913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FFFB93B2-C53C-4261-7D4C-71DCE8750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26" y="3208513"/>
            <a:ext cx="882650" cy="88265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C9A9F567-C88B-8C1F-9B5C-9AF7AF1B81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198" y="2658108"/>
            <a:ext cx="1066800" cy="10668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6A00C80A-8D50-378A-0B7B-84DC8F8669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0435" y="2842946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/>
              <a:t>Projekt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josyn?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12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</a:t>
            </a:r>
            <a:r>
              <a:rPr lang="de-DE" sz="2400" b="1">
                <a:solidFill>
                  <a:srgbClr val="FF0000"/>
                </a:solidFill>
              </a:rPr>
              <a:t>Aufwand! </a:t>
            </a:r>
          </a:p>
          <a:p>
            <a:pPr algn="ctr"/>
            <a:r>
              <a:rPr lang="de-DE" sz="2400" b="1">
                <a:solidFill>
                  <a:srgbClr val="FF0000"/>
                </a:solidFill>
              </a:rPr>
              <a:t>Nicht machbar! Viel zu teuer!</a:t>
            </a:r>
          </a:p>
          <a:p>
            <a:pPr algn="ctr"/>
            <a:r>
              <a:rPr lang="de-DE" sz="16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1.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2. (</a:t>
            </a:r>
            <a:r>
              <a:rPr lang="de-DE" sz="3200" b="1" i="1">
                <a:solidFill>
                  <a:srgbClr val="002060"/>
                </a:solidFill>
              </a:rPr>
              <a:t>falls</a:t>
            </a:r>
            <a:r>
              <a:rPr lang="de-DE" sz="3200" b="1">
                <a:solidFill>
                  <a:srgbClr val="002060"/>
                </a:solidFill>
              </a:rPr>
              <a:t>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40" y="1707447"/>
            <a:ext cx="77888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/>
              <a:t>Pflegestation </a:t>
            </a:r>
            <a:r>
              <a:rPr lang="de-DE" sz="3200"/>
              <a:t>oder</a:t>
            </a:r>
            <a:r>
              <a:rPr lang="de-DE" sz="3200" b="1" i="1"/>
              <a:t> </a:t>
            </a:r>
            <a:r>
              <a:rPr lang="de-DE" sz="3200" b="1" i="1">
                <a:solidFill>
                  <a:srgbClr val="0070C0"/>
                </a:solidFill>
              </a:rPr>
              <a:t>TPM-Initiative</a:t>
            </a:r>
            <a:r>
              <a:rPr lang="de-DE" sz="3200" b="1" i="1"/>
              <a:t>?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Setup TPM-Initiative</a:t>
            </a:r>
            <a:r>
              <a:rPr lang="de-DE" sz="3200" i="1">
                <a:solidFill>
                  <a:srgbClr val="0070C0"/>
                </a:solidFill>
              </a:rPr>
              <a:t>: Wie, Wer, Was…. </a:t>
            </a:r>
          </a:p>
          <a:p>
            <a:r>
              <a:rPr lang="de-DE" sz="2000"/>
              <a:t>=&gt; Hausaufgaben! - für den Owner dieses Termins, oder andere Leute…</a:t>
            </a:r>
            <a:r>
              <a:rPr lang="de-DE" sz="32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llAtOnce"/>
      <p:bldP spid="14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feld 37">
            <a:extLst>
              <a:ext uri="{FF2B5EF4-FFF2-40B4-BE49-F238E27FC236}">
                <a16:creationId xmlns:a16="http://schemas.microsoft.com/office/drawing/2014/main" id="{FBC140C3-B69A-6DF7-DC95-F18D22675BAA}"/>
              </a:ext>
            </a:extLst>
          </p:cNvPr>
          <p:cNvSpPr txBox="1"/>
          <p:nvPr/>
        </p:nvSpPr>
        <p:spPr>
          <a:xfrm>
            <a:off x="146742" y="90250"/>
            <a:ext cx="1174998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Vorschlag für einen </a:t>
            </a:r>
            <a:r>
              <a:rPr lang="de-DE" sz="2400" b="1">
                <a:solidFill>
                  <a:srgbClr val="0070C0"/>
                </a:solidFill>
              </a:rPr>
              <a:t>effizienten</a:t>
            </a:r>
            <a:r>
              <a:rPr lang="de-DE" sz="2400" b="1"/>
              <a:t> Arbeitsmodus der </a:t>
            </a:r>
            <a:r>
              <a:rPr lang="de-DE" sz="2400" b="1">
                <a:solidFill>
                  <a:srgbClr val="0070C0"/>
                </a:solidFill>
              </a:rPr>
              <a:t>TPM-Initiative</a:t>
            </a:r>
            <a:r>
              <a:rPr lang="de-DE" sz="2400" b="1"/>
              <a:t>.</a:t>
            </a:r>
          </a:p>
          <a:p>
            <a:r>
              <a:rPr lang="de-DE" sz="2000"/>
              <a:t>Für die ersten Milestones - bis zu einem expliziten Moduswechsel   („logisches Modell“)</a:t>
            </a:r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B8308D9D-8D26-57BC-0AFC-5EBF5E9F152D}"/>
              </a:ext>
            </a:extLst>
          </p:cNvPr>
          <p:cNvGrpSpPr/>
          <p:nvPr/>
        </p:nvGrpSpPr>
        <p:grpSpPr>
          <a:xfrm>
            <a:off x="1341628" y="1091885"/>
            <a:ext cx="9495782" cy="5691008"/>
            <a:chOff x="1341628" y="1091885"/>
            <a:chExt cx="9495782" cy="5691008"/>
          </a:xfrm>
        </p:grpSpPr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4F1D6A53-778D-D4CA-DF28-B32614F2BC67}"/>
                </a:ext>
              </a:extLst>
            </p:cNvPr>
            <p:cNvCxnSpPr>
              <a:cxnSpLocks/>
            </p:cNvCxnSpPr>
            <p:nvPr/>
          </p:nvCxnSpPr>
          <p:spPr>
            <a:xfrm>
              <a:off x="7102757" y="1426819"/>
              <a:ext cx="34835" cy="4038599"/>
            </a:xfrm>
            <a:prstGeom prst="line">
              <a:avLst/>
            </a:prstGeom>
            <a:ln w="28575"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7BD7EA1E-C351-FA16-597F-C8904AEE55E8}"/>
                </a:ext>
              </a:extLst>
            </p:cNvPr>
            <p:cNvSpPr txBox="1"/>
            <p:nvPr/>
          </p:nvSpPr>
          <p:spPr>
            <a:xfrm>
              <a:off x="7328885" y="1160517"/>
              <a:ext cx="35085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„CKL-Domain“ </a:t>
              </a:r>
              <a:r>
                <a:rPr lang="de-DE" sz="2400">
                  <a:solidFill>
                    <a:srgbClr val="002060"/>
                  </a:solidFill>
                </a:rPr>
                <a:t>(GitHub)</a:t>
              </a:r>
            </a:p>
          </p:txBody>
        </p: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F48A6FD9-47FD-C5EB-4F97-78E97694F368}"/>
                </a:ext>
              </a:extLst>
            </p:cNvPr>
            <p:cNvSpPr txBox="1"/>
            <p:nvPr/>
          </p:nvSpPr>
          <p:spPr>
            <a:xfrm>
              <a:off x="1341628" y="1119007"/>
              <a:ext cx="219335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HÄVG-Domain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9D900BFE-C88A-3A8A-B9AB-D4E4F9F8A368}"/>
                </a:ext>
              </a:extLst>
            </p:cNvPr>
            <p:cNvSpPr txBox="1"/>
            <p:nvPr/>
          </p:nvSpPr>
          <p:spPr>
            <a:xfrm>
              <a:off x="4331617" y="1091885"/>
              <a:ext cx="228703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„Staging-Area“</a:t>
              </a:r>
            </a:p>
          </p:txBody>
        </p:sp>
        <p:sp>
          <p:nvSpPr>
            <p:cNvPr id="15" name="Pfeil: nach links 14">
              <a:extLst>
                <a:ext uri="{FF2B5EF4-FFF2-40B4-BE49-F238E27FC236}">
                  <a16:creationId xmlns:a16="http://schemas.microsoft.com/office/drawing/2014/main" id="{2C0A912A-2832-E5FD-10A4-D85EAC1FA583}"/>
                </a:ext>
              </a:extLst>
            </p:cNvPr>
            <p:cNvSpPr/>
            <p:nvPr/>
          </p:nvSpPr>
          <p:spPr>
            <a:xfrm>
              <a:off x="6504181" y="3292980"/>
              <a:ext cx="1131789" cy="392399"/>
            </a:xfrm>
            <a:prstGeom prst="leftArrow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39258206-4131-12A3-660F-17B889C6B58A}"/>
                </a:ext>
              </a:extLst>
            </p:cNvPr>
            <p:cNvSpPr/>
            <p:nvPr/>
          </p:nvSpPr>
          <p:spPr>
            <a:xfrm>
              <a:off x="4652324" y="3114618"/>
              <a:ext cx="1507308" cy="7429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/>
                <a:t>Proposal</a:t>
              </a:r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71B297BD-EB29-7936-AFE6-4B0B3CCC06CA}"/>
                </a:ext>
              </a:extLst>
            </p:cNvPr>
            <p:cNvSpPr/>
            <p:nvPr/>
          </p:nvSpPr>
          <p:spPr>
            <a:xfrm>
              <a:off x="4666906" y="4144686"/>
              <a:ext cx="1507308" cy="7429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/>
                <a:t>Proposal</a:t>
              </a:r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90575A8D-8C72-B615-A545-E12FE53533E5}"/>
                </a:ext>
              </a:extLst>
            </p:cNvPr>
            <p:cNvSpPr/>
            <p:nvPr/>
          </p:nvSpPr>
          <p:spPr>
            <a:xfrm>
              <a:off x="4652324" y="2070503"/>
              <a:ext cx="1507308" cy="7429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/>
                <a:t>Proposal</a:t>
              </a:r>
            </a:p>
          </p:txBody>
        </p:sp>
        <p:sp>
          <p:nvSpPr>
            <p:cNvPr id="22" name="Ellipse 21">
              <a:extLst>
                <a:ext uri="{FF2B5EF4-FFF2-40B4-BE49-F238E27FC236}">
                  <a16:creationId xmlns:a16="http://schemas.microsoft.com/office/drawing/2014/main" id="{2063DA56-F4AD-AC48-CCFA-10F491C2F167}"/>
                </a:ext>
              </a:extLst>
            </p:cNvPr>
            <p:cNvSpPr/>
            <p:nvPr/>
          </p:nvSpPr>
          <p:spPr>
            <a:xfrm>
              <a:off x="1534315" y="1943669"/>
              <a:ext cx="1507308" cy="74295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/>
                <a:t>Decision</a:t>
              </a:r>
            </a:p>
          </p:txBody>
        </p: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6BCAFD35-9659-BAB9-4F1B-2ACD5A03309D}"/>
                </a:ext>
              </a:extLst>
            </p:cNvPr>
            <p:cNvSpPr/>
            <p:nvPr/>
          </p:nvSpPr>
          <p:spPr>
            <a:xfrm>
              <a:off x="1534315" y="3093694"/>
              <a:ext cx="1507308" cy="74295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/>
                <a:t>Decision</a:t>
              </a:r>
            </a:p>
          </p:txBody>
        </p:sp>
        <p:sp>
          <p:nvSpPr>
            <p:cNvPr id="24" name="Ellipse 23">
              <a:extLst>
                <a:ext uri="{FF2B5EF4-FFF2-40B4-BE49-F238E27FC236}">
                  <a16:creationId xmlns:a16="http://schemas.microsoft.com/office/drawing/2014/main" id="{57C1F23F-BCC7-4F6C-01C3-846DEC0EFEC0}"/>
                </a:ext>
              </a:extLst>
            </p:cNvPr>
            <p:cNvSpPr/>
            <p:nvPr/>
          </p:nvSpPr>
          <p:spPr>
            <a:xfrm>
              <a:off x="1514132" y="4208119"/>
              <a:ext cx="1507308" cy="74295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/>
                <a:t>Decision</a:t>
              </a:r>
            </a:p>
          </p:txBody>
        </p:sp>
        <p:sp>
          <p:nvSpPr>
            <p:cNvPr id="25" name="Pfeil: nach oben 24">
              <a:extLst>
                <a:ext uri="{FF2B5EF4-FFF2-40B4-BE49-F238E27FC236}">
                  <a16:creationId xmlns:a16="http://schemas.microsoft.com/office/drawing/2014/main" id="{CB618802-2A98-C1E1-C645-F0980876EF22}"/>
                </a:ext>
              </a:extLst>
            </p:cNvPr>
            <p:cNvSpPr/>
            <p:nvPr/>
          </p:nvSpPr>
          <p:spPr>
            <a:xfrm>
              <a:off x="8771563" y="1707299"/>
              <a:ext cx="1886122" cy="3674326"/>
            </a:xfrm>
            <a:prstGeom prst="upArrow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9" name="Grafik 28">
              <a:extLst>
                <a:ext uri="{FF2B5EF4-FFF2-40B4-BE49-F238E27FC236}">
                  <a16:creationId xmlns:a16="http://schemas.microsoft.com/office/drawing/2014/main" id="{FD624151-C93A-C1A6-942A-96A2AF69FF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0521" y="5829802"/>
              <a:ext cx="953091" cy="953091"/>
            </a:xfrm>
            <a:prstGeom prst="rect">
              <a:avLst/>
            </a:prstGeom>
          </p:spPr>
        </p:pic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2D9EE726-1AF9-8340-FED4-B3EFF74430DA}"/>
                </a:ext>
              </a:extLst>
            </p:cNvPr>
            <p:cNvCxnSpPr>
              <a:cxnSpLocks/>
            </p:cNvCxnSpPr>
            <p:nvPr/>
          </p:nvCxnSpPr>
          <p:spPr>
            <a:xfrm>
              <a:off x="3838575" y="1426819"/>
              <a:ext cx="18730" cy="4038599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952CADCB-1CB0-F1CA-741C-CB151AC44414}"/>
                </a:ext>
              </a:extLst>
            </p:cNvPr>
            <p:cNvSpPr/>
            <p:nvPr/>
          </p:nvSpPr>
          <p:spPr>
            <a:xfrm>
              <a:off x="3429296" y="2686619"/>
              <a:ext cx="888973" cy="15901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" name="Pfeil: nach links 26">
              <a:extLst>
                <a:ext uri="{FF2B5EF4-FFF2-40B4-BE49-F238E27FC236}">
                  <a16:creationId xmlns:a16="http://schemas.microsoft.com/office/drawing/2014/main" id="{D78CB09B-750F-9588-B243-6B065C35AC72}"/>
                </a:ext>
              </a:extLst>
            </p:cNvPr>
            <p:cNvSpPr/>
            <p:nvPr/>
          </p:nvSpPr>
          <p:spPr>
            <a:xfrm>
              <a:off x="3221126" y="3202294"/>
              <a:ext cx="1131789" cy="392399"/>
            </a:xfrm>
            <a:prstGeom prst="leftArrow">
              <a:avLst/>
            </a:prstGeom>
            <a:solidFill>
              <a:schemeClr val="accent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37" name="Grafik 36">
              <a:extLst>
                <a:ext uri="{FF2B5EF4-FFF2-40B4-BE49-F238E27FC236}">
                  <a16:creationId xmlns:a16="http://schemas.microsoft.com/office/drawing/2014/main" id="{B265D967-E0F6-75E0-AD93-28D8EEA450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84382" y="2614658"/>
              <a:ext cx="660908" cy="660908"/>
            </a:xfrm>
            <a:prstGeom prst="rect">
              <a:avLst/>
            </a:prstGeom>
          </p:spPr>
        </p:pic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606A1F1B-FF16-5FB9-1B7C-71990D18D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3477288" y="3339313"/>
              <a:ext cx="742950" cy="742950"/>
            </a:xfrm>
            <a:prstGeom prst="rect">
              <a:avLst/>
            </a:prstGeom>
          </p:spPr>
        </p:pic>
        <p:pic>
          <p:nvPicPr>
            <p:cNvPr id="42" name="Grafik 41">
              <a:extLst>
                <a:ext uri="{FF2B5EF4-FFF2-40B4-BE49-F238E27FC236}">
                  <a16:creationId xmlns:a16="http://schemas.microsoft.com/office/drawing/2014/main" id="{5774CF2A-F904-6D24-37CE-0FFA714580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854049">
              <a:off x="9044413" y="2988045"/>
              <a:ext cx="1455857" cy="1455857"/>
            </a:xfrm>
            <a:prstGeom prst="rect">
              <a:avLst/>
            </a:prstGeom>
          </p:spPr>
        </p:pic>
        <p:cxnSp>
          <p:nvCxnSpPr>
            <p:cNvPr id="46" name="Gerader Verbinder 45">
              <a:extLst>
                <a:ext uri="{FF2B5EF4-FFF2-40B4-BE49-F238E27FC236}">
                  <a16:creationId xmlns:a16="http://schemas.microsoft.com/office/drawing/2014/main" id="{76BD3CD9-1AA6-01F6-ECFD-1B3E54261B80}"/>
                </a:ext>
              </a:extLst>
            </p:cNvPr>
            <p:cNvCxnSpPr>
              <a:cxnSpLocks/>
            </p:cNvCxnSpPr>
            <p:nvPr/>
          </p:nvCxnSpPr>
          <p:spPr>
            <a:xfrm>
              <a:off x="4373581" y="5465418"/>
              <a:ext cx="2245072" cy="0"/>
            </a:xfrm>
            <a:prstGeom prst="line">
              <a:avLst/>
            </a:prstGeom>
            <a:ln w="28575"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Pfeil: nach links 29">
              <a:extLst>
                <a:ext uri="{FF2B5EF4-FFF2-40B4-BE49-F238E27FC236}">
                  <a16:creationId xmlns:a16="http://schemas.microsoft.com/office/drawing/2014/main" id="{23F6AB9C-6C3F-7896-F149-587F6EA65541}"/>
                </a:ext>
              </a:extLst>
            </p:cNvPr>
            <p:cNvSpPr/>
            <p:nvPr/>
          </p:nvSpPr>
          <p:spPr>
            <a:xfrm rot="16200000">
              <a:off x="5070455" y="5233551"/>
              <a:ext cx="742952" cy="392399"/>
            </a:xfrm>
            <a:prstGeom prst="leftArrow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4CE273E4-DACC-18FE-B1F2-F22205DF295C}"/>
                </a:ext>
              </a:extLst>
            </p:cNvPr>
            <p:cNvSpPr/>
            <p:nvPr/>
          </p:nvSpPr>
          <p:spPr>
            <a:xfrm>
              <a:off x="7793318" y="3074643"/>
              <a:ext cx="1240011" cy="7429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600" b="1"/>
                <a:t>Raw</a:t>
              </a:r>
            </a:p>
          </p:txBody>
        </p:sp>
        <p:pic>
          <p:nvPicPr>
            <p:cNvPr id="54" name="Grafik 53">
              <a:extLst>
                <a:ext uri="{FF2B5EF4-FFF2-40B4-BE49-F238E27FC236}">
                  <a16:creationId xmlns:a16="http://schemas.microsoft.com/office/drawing/2014/main" id="{F4B67388-3290-E097-0F90-89890F15656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4507654" y="4866655"/>
              <a:ext cx="742950" cy="742950"/>
            </a:xfrm>
            <a:prstGeom prst="rect">
              <a:avLst/>
            </a:prstGeom>
          </p:spPr>
        </p:pic>
        <p:pic>
          <p:nvPicPr>
            <p:cNvPr id="55" name="Grafik 54">
              <a:extLst>
                <a:ext uri="{FF2B5EF4-FFF2-40B4-BE49-F238E27FC236}">
                  <a16:creationId xmlns:a16="http://schemas.microsoft.com/office/drawing/2014/main" id="{BB923A5B-0DCC-6EC9-543A-79CED09BB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3508192" y="3662543"/>
              <a:ext cx="742950" cy="7429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3023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89E0415C-A757-917C-379A-0039CA852BB4}"/>
              </a:ext>
            </a:extLst>
          </p:cNvPr>
          <p:cNvSpPr txBox="1"/>
          <p:nvPr/>
        </p:nvSpPr>
        <p:spPr>
          <a:xfrm>
            <a:off x="2230935" y="2806184"/>
            <a:ext cx="77301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/>
              <a:t>--- ab hier Rohmaterial ---</a:t>
            </a:r>
          </a:p>
        </p:txBody>
      </p:sp>
    </p:spTree>
    <p:extLst>
      <p:ext uri="{BB962C8B-B14F-4D97-AF65-F5344CB8AC3E}">
        <p14:creationId xmlns:p14="http://schemas.microsoft.com/office/powerpoint/2010/main" val="1809512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765552" y="1204601"/>
            <a:ext cx="6254496" cy="2351399"/>
            <a:chOff x="2911602" y="2068201"/>
            <a:chExt cx="6254496" cy="235139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8"/>
              <a:chExt cx="1609958" cy="3976567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8"/>
                <a:ext cx="1609958" cy="3976567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4812358" y="3182254"/>
              <a:ext cx="3185440" cy="615297"/>
              <a:chOff x="4171385" y="5346379"/>
              <a:chExt cx="1310755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1123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2977134" y="2068201"/>
              <a:ext cx="22445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278442" y="3049876"/>
              <a:ext cx="1478776" cy="791538"/>
              <a:chOff x="541429" y="351742"/>
              <a:chExt cx="1478776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548021" y="378232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541429" y="351742"/>
                <a:ext cx="12470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jap-server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1558775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791538"/>
              <a:chOff x="482782" y="1498463"/>
              <a:chExt cx="1485126" cy="791538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219255" y="395109"/>
            <a:ext cx="54011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Die Lösung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2658820" y="3613865"/>
            <a:ext cx="6675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Schaffung eines leichtgewichtigen one-to-one-Application-Protocols.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2703271" y="4573680"/>
            <a:ext cx="82409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Starke und nachhaltige Entkopplung (- nicht nur </a:t>
            </a:r>
            <a:r>
              <a:rPr lang="de-DE" sz="1800" i="1"/>
              <a:t>zur Runtime im Prozessraum</a:t>
            </a:r>
            <a:r>
              <a:rPr lang="de-DE" sz="1800"/>
              <a:t>!):</a:t>
            </a:r>
          </a:p>
          <a:p>
            <a:endParaRPr lang="de-DE" sz="1800"/>
          </a:p>
          <a:p>
            <a:r>
              <a:rPr lang="de-DE" sz="1800" b="1"/>
              <a:t>Zwei logisch, technologisch, architekturell getrennte </a:t>
            </a:r>
            <a:r>
              <a:rPr lang="de-DE" sz="1800" b="1" i="1"/>
              <a:t>Domänen</a:t>
            </a:r>
          </a:p>
          <a:p>
            <a:r>
              <a:rPr lang="de-DE" sz="1800"/>
              <a:t>mit einer l</a:t>
            </a:r>
            <a:r>
              <a:rPr lang="de-DE"/>
              <a:t>eichtgewichtige Kopplung über das JAP-Protokoll.</a:t>
            </a:r>
            <a:r>
              <a:rPr lang="de-DE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983234" y="1244658"/>
            <a:ext cx="1652773" cy="3976566"/>
            <a:chOff x="2013970" y="586290"/>
            <a:chExt cx="1652773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2031236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201397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7279732" y="124465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4689676" y="1251534"/>
            <a:ext cx="3185440" cy="2901871"/>
            <a:chOff x="4366189" y="2950077"/>
            <a:chExt cx="3185440" cy="2901871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3185440" cy="615297"/>
              <a:chOff x="4171385" y="5346379"/>
              <a:chExt cx="1310755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1123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50077"/>
              <a:ext cx="2259244" cy="1933271"/>
              <a:chOff x="4452536" y="3661405"/>
              <a:chExt cx="2259244" cy="193327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49502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76DEB7D6-CDA6-A1D6-B8D6-C25AB3AB21DA}"/>
                  </a:ext>
                </a:extLst>
              </p:cNvPr>
              <p:cNvSpPr/>
              <p:nvPr/>
            </p:nvSpPr>
            <p:spPr>
              <a:xfrm>
                <a:off x="4454099" y="43060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3DC271B0-4C44-9C3F-9A89-1677343AD282}"/>
                  </a:ext>
                </a:extLst>
              </p:cNvPr>
              <p:cNvSpPr/>
              <p:nvPr/>
            </p:nvSpPr>
            <p:spPr>
              <a:xfrm>
                <a:off x="4454098" y="3661405"/>
                <a:ext cx="2257682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02889" y="3716107"/>
                <a:ext cx="2055050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(Serialisierungs-Konvention)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2788920" y="740542"/>
            <a:ext cx="6254496" cy="5175227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854452" y="722255"/>
            <a:ext cx="2244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131361" y="2223448"/>
            <a:ext cx="13723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rgbClr val="7030A0"/>
                </a:solidFill>
              </a:rPr>
              <a:t>Die Backend-</a:t>
            </a:r>
          </a:p>
          <a:p>
            <a:pPr algn="ctr"/>
            <a:r>
              <a:rPr lang="de-DE" sz="1600" i="1">
                <a:solidFill>
                  <a:srgbClr val="7030A0"/>
                </a:solidFill>
              </a:rPr>
              <a:t>Domäne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7429279" y="2208140"/>
            <a:ext cx="13049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Die Job-Dev-</a:t>
            </a:r>
          </a:p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Domäne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5144185" y="44127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8409102" y="49135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5048405" y="53537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5474753" y="53832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4276388" y="4763089"/>
            <a:ext cx="313883" cy="1230151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7315026" y="4765422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3155760" y="3405730"/>
            <a:ext cx="1478776" cy="791538"/>
            <a:chOff x="541429" y="351742"/>
            <a:chExt cx="1478776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548021" y="378232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541429" y="351742"/>
              <a:ext cx="124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jap-server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7266723" y="3405730"/>
            <a:ext cx="1485126" cy="791538"/>
            <a:chOff x="482782" y="1498463"/>
            <a:chExt cx="1485126" cy="791538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495724" y="1524953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57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03766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5949164" y="49078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5943204" y="3999581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4636007" y="4660325"/>
            <a:ext cx="50817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6754143" y="46603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5832738" y="32555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4888548" y="12967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4283591" y="2117898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4274391" y="212105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1058F159-EFC9-B7AB-6080-DF9EE4803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078" y="283037"/>
            <a:ext cx="7475072" cy="6235449"/>
          </a:xfrm>
          <a:prstGeom prst="rect">
            <a:avLst/>
          </a:prstGeom>
        </p:spPr>
      </p:pic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AA8F616E-2807-B6C3-829D-FDD577343009}"/>
              </a:ext>
            </a:extLst>
          </p:cNvPr>
          <p:cNvGrpSpPr/>
          <p:nvPr/>
        </p:nvGrpSpPr>
        <p:grpSpPr>
          <a:xfrm>
            <a:off x="439246" y="357128"/>
            <a:ext cx="10941216" cy="6110876"/>
            <a:chOff x="439246" y="357128"/>
            <a:chExt cx="10941216" cy="6110876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0886830C-750E-9067-E272-35C63D77045B}"/>
                </a:ext>
              </a:extLst>
            </p:cNvPr>
            <p:cNvSpPr/>
            <p:nvPr/>
          </p:nvSpPr>
          <p:spPr>
            <a:xfrm>
              <a:off x="8888087" y="4552951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8AD5D11A-7072-1F4B-8B05-ACE9C6868137}"/>
                </a:ext>
              </a:extLst>
            </p:cNvPr>
            <p:cNvSpPr/>
            <p:nvPr/>
          </p:nvSpPr>
          <p:spPr>
            <a:xfrm>
              <a:off x="9097637" y="255263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D19331EE-5F45-D8D9-3A3A-5A63D036C846}"/>
                </a:ext>
              </a:extLst>
            </p:cNvPr>
            <p:cNvSpPr/>
            <p:nvPr/>
          </p:nvSpPr>
          <p:spPr>
            <a:xfrm>
              <a:off x="9097637" y="1028563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BE94DA8D-07B6-7102-EEB2-7A8BBD1A9E85}"/>
                </a:ext>
              </a:extLst>
            </p:cNvPr>
            <p:cNvSpPr/>
            <p:nvPr/>
          </p:nvSpPr>
          <p:spPr>
            <a:xfrm>
              <a:off x="9097637" y="1800157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2</a:t>
              </a:r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6B95A0EC-0590-C00F-AAC7-0EFD23342259}"/>
                </a:ext>
              </a:extLst>
            </p:cNvPr>
            <p:cNvSpPr/>
            <p:nvPr/>
          </p:nvSpPr>
          <p:spPr>
            <a:xfrm>
              <a:off x="11056612" y="3581332"/>
              <a:ext cx="323850" cy="3238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4</a:t>
              </a:r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8314FF22-36E3-945A-0978-55032430CCB0}"/>
                </a:ext>
              </a:extLst>
            </p:cNvPr>
            <p:cNvSpPr/>
            <p:nvPr/>
          </p:nvSpPr>
          <p:spPr>
            <a:xfrm>
              <a:off x="6240137" y="3600382"/>
              <a:ext cx="323850" cy="32385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5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E7CBD4F-282E-AD84-D134-1BF7122E52B2}"/>
                </a:ext>
              </a:extLst>
            </p:cNvPr>
            <p:cNvSpPr/>
            <p:nvPr/>
          </p:nvSpPr>
          <p:spPr>
            <a:xfrm>
              <a:off x="8878563" y="561036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3</a:t>
              </a:r>
            </a:p>
          </p:txBody>
        </p: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529B4878-47E6-2A68-0C0E-70885CAAA946}"/>
                </a:ext>
              </a:extLst>
            </p:cNvPr>
            <p:cNvGrpSpPr/>
            <p:nvPr/>
          </p:nvGrpSpPr>
          <p:grpSpPr>
            <a:xfrm>
              <a:off x="439246" y="357128"/>
              <a:ext cx="3868230" cy="6110876"/>
              <a:chOff x="439246" y="376178"/>
              <a:chExt cx="3868230" cy="6110876"/>
            </a:xfrm>
          </p:grpSpPr>
          <p:grpSp>
            <p:nvGrpSpPr>
              <p:cNvPr id="26" name="Gruppieren 25">
                <a:extLst>
                  <a:ext uri="{FF2B5EF4-FFF2-40B4-BE49-F238E27FC236}">
                    <a16:creationId xmlns:a16="http://schemas.microsoft.com/office/drawing/2014/main" id="{16712B7D-636F-4DD2-F8AD-E63A3B11B065}"/>
                  </a:ext>
                </a:extLst>
              </p:cNvPr>
              <p:cNvGrpSpPr/>
              <p:nvPr/>
            </p:nvGrpSpPr>
            <p:grpSpPr>
              <a:xfrm>
                <a:off x="439246" y="376178"/>
                <a:ext cx="3868230" cy="6110876"/>
                <a:chOff x="533400" y="709954"/>
                <a:chExt cx="3868230" cy="6008239"/>
              </a:xfrm>
            </p:grpSpPr>
            <p:sp>
              <p:nvSpPr>
                <p:cNvPr id="25" name="Rechteck 24">
                  <a:extLst>
                    <a:ext uri="{FF2B5EF4-FFF2-40B4-BE49-F238E27FC236}">
                      <a16:creationId xmlns:a16="http://schemas.microsoft.com/office/drawing/2014/main" id="{7B747D87-04D4-2074-F96B-9C2E5405ADC9}"/>
                    </a:ext>
                  </a:extLst>
                </p:cNvPr>
                <p:cNvSpPr/>
                <p:nvPr/>
              </p:nvSpPr>
              <p:spPr>
                <a:xfrm>
                  <a:off x="533400" y="714694"/>
                  <a:ext cx="3868230" cy="6003499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 w="952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4" name="Gruppieren 23">
                  <a:extLst>
                    <a:ext uri="{FF2B5EF4-FFF2-40B4-BE49-F238E27FC236}">
                      <a16:creationId xmlns:a16="http://schemas.microsoft.com/office/drawing/2014/main" id="{A77A9728-58C9-0037-9878-7944917C23DE}"/>
                    </a:ext>
                  </a:extLst>
                </p:cNvPr>
                <p:cNvGrpSpPr/>
                <p:nvPr/>
              </p:nvGrpSpPr>
              <p:grpSpPr>
                <a:xfrm>
                  <a:off x="690329" y="709954"/>
                  <a:ext cx="3711301" cy="5794928"/>
                  <a:chOff x="8477360" y="773912"/>
                  <a:chExt cx="3711301" cy="5794928"/>
                </a:xfrm>
              </p:grpSpPr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8C6037E1-70AE-9798-6858-303404BF448A}"/>
                      </a:ext>
                    </a:extLst>
                  </p:cNvPr>
                  <p:cNvSpPr txBox="1"/>
                  <p:nvPr/>
                </p:nvSpPr>
                <p:spPr>
                  <a:xfrm>
                    <a:off x="8825240" y="773912"/>
                    <a:ext cx="3363421" cy="579492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endParaRPr lang="de-DE" b="1"/>
                  </a:p>
                  <a:p>
                    <a:endParaRPr lang="de-DE" b="1"/>
                  </a:p>
                  <a:p>
                    <a:r>
                      <a:rPr lang="de-DE" sz="2000" b="1"/>
                      <a:t>josyn-foundation</a:t>
                    </a:r>
                  </a:p>
                  <a:p>
                    <a:r>
                      <a:rPr lang="de-DE" i="1"/>
                      <a:t>- eternal!</a:t>
                    </a:r>
                  </a:p>
                  <a:p>
                    <a:r>
                      <a:rPr lang="de-DE" i="1"/>
                      <a:t>- 3 nugets</a:t>
                    </a:r>
                  </a:p>
                  <a:p>
                    <a:endParaRPr lang="de-DE"/>
                  </a:p>
                  <a:p>
                    <a:r>
                      <a:rPr lang="de-DE" sz="2000" b="1"/>
                      <a:t>josyn-jap</a:t>
                    </a:r>
                  </a:p>
                  <a:p>
                    <a:r>
                      <a:rPr lang="de-DE" i="1"/>
                      <a:t>- the jap-protocol-</a:t>
                    </a:r>
                    <a:r>
                      <a:rPr lang="de-DE" b="1" i="1"/>
                      <a:t>contract</a:t>
                    </a:r>
                  </a:p>
                  <a:p>
                    <a:r>
                      <a:rPr lang="de-DE" i="1"/>
                      <a:t>- meant for evolution…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/>
                      <a:t>josyn-commons</a:t>
                    </a:r>
                  </a:p>
                  <a:p>
                    <a:r>
                      <a:rPr lang="de-DE" i="1"/>
                      <a:t>- the useful satellite…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rPr>
                      <a:t>josyn-job-host</a:t>
                    </a:r>
                  </a:p>
                  <a:p>
                    <a:r>
                      <a:rPr lang="de-DE" i="1"/>
                      <a:t>- „one“ nuget</a:t>
                    </a:r>
                  </a:p>
                  <a:p>
                    <a:r>
                      <a:rPr lang="de-DE" b="1" i="1"/>
                      <a:t>- the developers perpective!</a:t>
                    </a:r>
                  </a:p>
                  <a:p>
                    <a:r>
                      <a:rPr lang="de-DE" sz="1400" i="1"/>
                      <a:t>- implements the jap-client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rgbClr val="7030A0"/>
                        </a:solidFill>
                      </a:rPr>
                      <a:t>josyn-backend</a:t>
                    </a:r>
                  </a:p>
                  <a:p>
                    <a:r>
                      <a:rPr lang="de-DE" i="1"/>
                      <a:t>- </a:t>
                    </a:r>
                    <a:r>
                      <a:rPr lang="de-DE" b="1" i="1"/>
                      <a:t>jap-server</a:t>
                    </a:r>
                    <a:r>
                      <a:rPr lang="de-DE" i="1"/>
                      <a:t> with a special role</a:t>
                    </a:r>
                  </a:p>
                  <a:p>
                    <a:r>
                      <a:rPr lang="de-DE" sz="1100" i="1"/>
                      <a:t>- the rest of the backend-iceberg out of scope here…</a:t>
                    </a: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A92592C4-56D5-0262-68D0-18D0111A8A35}"/>
                      </a:ext>
                    </a:extLst>
                  </p:cNvPr>
                  <p:cNvSpPr/>
                  <p:nvPr/>
                </p:nvSpPr>
                <p:spPr>
                  <a:xfrm>
                    <a:off x="8477360" y="1373452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1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D6190D3D-AD2E-3B23-9023-80BB6E2098F4}"/>
                      </a:ext>
                    </a:extLst>
                  </p:cNvPr>
                  <p:cNvSpPr/>
                  <p:nvPr/>
                </p:nvSpPr>
                <p:spPr>
                  <a:xfrm>
                    <a:off x="8477360" y="2474423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2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F45B0A08-B968-B101-27CA-16CA54D81C07}"/>
                      </a:ext>
                    </a:extLst>
                  </p:cNvPr>
                  <p:cNvSpPr/>
                  <p:nvPr/>
                </p:nvSpPr>
                <p:spPr>
                  <a:xfrm>
                    <a:off x="8477360" y="3579550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3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587D9FCF-DE67-CA31-CFE5-77166A0F3E4E}"/>
                      </a:ext>
                    </a:extLst>
                  </p:cNvPr>
                  <p:cNvSpPr/>
                  <p:nvPr/>
                </p:nvSpPr>
                <p:spPr>
                  <a:xfrm>
                    <a:off x="8477360" y="4408934"/>
                    <a:ext cx="323850" cy="3238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4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BFDA55F-8388-D4B9-467C-19A7E4DB472F}"/>
                      </a:ext>
                    </a:extLst>
                  </p:cNvPr>
                  <p:cNvSpPr/>
                  <p:nvPr/>
                </p:nvSpPr>
                <p:spPr>
                  <a:xfrm>
                    <a:off x="8477360" y="5724893"/>
                    <a:ext cx="323850" cy="32385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5</a:t>
                    </a:r>
                  </a:p>
                </p:txBody>
              </p:sp>
            </p:grpSp>
          </p:grpSp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04754427-7E09-2C7B-5A39-7749017684A5}"/>
                  </a:ext>
                </a:extLst>
              </p:cNvPr>
              <p:cNvSpPr txBox="1"/>
              <p:nvPr/>
            </p:nvSpPr>
            <p:spPr>
              <a:xfrm>
                <a:off x="477344" y="409046"/>
                <a:ext cx="251985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800" b="1">
                    <a:solidFill>
                      <a:srgbClr val="002060"/>
                    </a:solidFill>
                  </a:rPr>
                  <a:t>josyn-repos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4129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921</Words>
  <Application>Microsoft Office PowerPoint</Application>
  <PresentationFormat>Breitbild</PresentationFormat>
  <Paragraphs>165</Paragraphs>
  <Slides>11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Christofer Kluth</cp:lastModifiedBy>
  <cp:revision>14</cp:revision>
  <dcterms:created xsi:type="dcterms:W3CDTF">2026-06-10T06:03:57Z</dcterms:created>
  <dcterms:modified xsi:type="dcterms:W3CDTF">2026-06-13T15:15:49Z</dcterms:modified>
</cp:coreProperties>
</file>