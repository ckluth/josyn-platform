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60" r:id="rId2"/>
    <p:sldId id="271" r:id="rId3"/>
    <p:sldId id="270" r:id="rId4"/>
    <p:sldId id="261" r:id="rId5"/>
    <p:sldId id="259" r:id="rId6"/>
    <p:sldId id="262" r:id="rId7"/>
    <p:sldId id="268" r:id="rId8"/>
    <p:sldId id="265" r:id="rId9"/>
    <p:sldId id="266" r:id="rId10"/>
    <p:sldId id="267" r:id="rId11"/>
    <p:sldId id="264" r:id="rId12"/>
    <p:sldId id="263" r:id="rId13"/>
    <p:sldId id="269" r:id="rId14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99"/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509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3510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5D503C-CB4E-47D2-854F-034286D1EDEF}" type="datetimeFigureOut">
              <a:rPr lang="de-DE" smtClean="0"/>
              <a:t>11.06.2026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4F3282-AC7F-4F04-970A-9596745FD5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822571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4F3282-AC7F-4F04-970A-9596745FD581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510571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9E8556-CEDF-6E85-1209-E26910ADA2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9B06F67-693F-3456-3000-FA4A7C04F8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56C4C30-2745-AF58-DEEE-9998239AA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11.06.2026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9F84B49-43C3-0565-A5C0-36B688017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4BEFED2-3740-C648-B7C1-B196A91F2A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544200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0912F0-9A14-A7C2-3421-7FA9F46809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D3E9CDC-9A1E-CD7D-D76D-0C42D5E892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7677BC-6467-CF8C-138F-5AB9895155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11.06.2026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4ACA1F2-639E-9DCC-7B7C-8B8EC8361D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523F841-CB89-2B6A-1FDB-68D915492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33692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13935B-0869-084B-4E0E-730807535D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1BE32A2-FFCD-A937-3C78-F47529F029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B01B903-E830-DBC7-A5FC-6E1AD098CF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11.06.2026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806ED81-8B2E-1CEA-B6CC-82F1B6C3B8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FC6308F-36FC-147C-AEC5-351EA5FAE8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550491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A2D5C5-FFF0-0DED-8017-514F6E06E8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B2E069-1DD0-E869-42E8-A7ADFFBE08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A482492-114C-EB64-BEA9-9EF8A31DE1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4650B7C-83C7-7040-6B5B-8EBBEA641B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11.06.2026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0C71A44-134D-2192-459A-15FF4B359E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993EC20-E122-7DC7-F82B-3C275DE20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88511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60C6B7-0608-848A-77DD-9A6FCCBB3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7EFE44F-5601-F366-9953-72DDC98D9E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94C6F5B-EF59-399C-630A-7A9006B574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5E75358-07BE-05A7-B28E-F897A978DA4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EF84FAFA-8755-A893-4BE5-7C130C7AD8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BB506197-E217-FD11-B296-F722581323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11.06.2026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42C061A5-CA63-53AE-5518-5F5EAD21C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25B6607-BD51-9EF9-F83E-3AE9881725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60517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37A293-FAB9-5F48-2282-A3DB31355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045FEAB-4047-340C-CF7D-FEDC8698E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11.06.2026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303252D-17E1-1AF9-1CAE-6029A5F2A8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CB9923E-BCAC-86C0-3401-C48CBED47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69470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FB3CC9A1-F74D-1BF2-84BD-CB981DF5E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11.06.2026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FC064000-2527-2563-2780-A3605AFA2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99C04D5-D844-AE86-B167-969D5B1C6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420581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92E988-7EFA-46BF-C6BE-099341AF4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AECDE1-6313-9BE9-BBD6-C9D8D3296A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7EDCAA5-1153-4DDC-7741-6D839A194C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3D29A69-4C17-8D66-FBFB-0E1FEE843E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11.06.2026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6673561-1FA7-88E4-A7D6-794D763D1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4331C6A-3CBD-BB16-B31E-7E4940B56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037082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F43252-2DC8-8B4B-CF11-B25AB2D65C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A073FA36-A71D-1FA3-1D90-476CCCD7A82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AD30C56-09E2-9600-3F6B-EE6A8C1E43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18ECE6C-7EEE-0EDE-15D1-04FB1D6A8D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11.06.2026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B5C0C80-BD45-ED7B-C0C7-4CEFAF6BA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6C094E5-9C3F-6D5B-E42A-BC99A2E43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775633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66BAE3-DA3A-D6DE-1613-61CF46B1E0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0C7DBEA0-6E2C-E8D6-EB31-AF9A25F445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B5F27F6-8128-4D7A-96BB-61D9C012A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11.06.2026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D6DD152-364C-A3B9-3F5D-A24611BB7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9D0688A-D0BA-78FB-86A6-DFF45B6E4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96658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6229F485-DBFC-EAF0-44DF-32FC2BDC46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B7931E8-74A4-95F6-49C0-E975D823B4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2862C8E-7E2D-57FF-D7A4-2C3C09AA8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11.06.2026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0AA7194-2F46-D625-AAFD-456AACBFE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BFDDDC3-F58C-140A-9ADA-462F3F97F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997865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64122CC-2A80-8D1F-8CEF-C08D9B13F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6D454CC-41FE-261A-D7B2-4797BD5450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6581FE0-D4F0-F45A-2AC0-EE6C8CFFB3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70F5CD-5655-45E5-8E7F-D706B3048717}" type="datetimeFigureOut">
              <a:rPr lang="de-DE" smtClean="0"/>
              <a:t>11.06.2026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3842928-04F1-CE5F-DC9C-26996DF3E0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ED95828-11C8-6AC3-22D7-81B644DEFD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73427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D891F-5205-3FC8-6924-7EF11EE53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ruppieren 65">
            <a:extLst>
              <a:ext uri="{FF2B5EF4-FFF2-40B4-BE49-F238E27FC236}">
                <a16:creationId xmlns:a16="http://schemas.microsoft.com/office/drawing/2014/main" id="{45F580C5-8F3A-EDDB-125F-5CD169EFA36D}"/>
              </a:ext>
            </a:extLst>
          </p:cNvPr>
          <p:cNvGrpSpPr/>
          <p:nvPr/>
        </p:nvGrpSpPr>
        <p:grpSpPr>
          <a:xfrm>
            <a:off x="1713922" y="1439437"/>
            <a:ext cx="2992631" cy="2689384"/>
            <a:chOff x="6606124" y="632008"/>
            <a:chExt cx="1609958" cy="3976567"/>
          </a:xfrm>
          <a:solidFill>
            <a:schemeClr val="bg1">
              <a:lumMod val="95000"/>
            </a:schemeClr>
          </a:solidFill>
        </p:grpSpPr>
        <p:sp>
          <p:nvSpPr>
            <p:cNvPr id="67" name="Rechteck 66">
              <a:extLst>
                <a:ext uri="{FF2B5EF4-FFF2-40B4-BE49-F238E27FC236}">
                  <a16:creationId xmlns:a16="http://schemas.microsoft.com/office/drawing/2014/main" id="{91D6CEA9-DE63-5C3E-1FC1-F87CE5390BFE}"/>
                </a:ext>
              </a:extLst>
            </p:cNvPr>
            <p:cNvSpPr/>
            <p:nvPr/>
          </p:nvSpPr>
          <p:spPr>
            <a:xfrm>
              <a:off x="6606124" y="632008"/>
              <a:ext cx="1609958" cy="3976567"/>
            </a:xfrm>
            <a:prstGeom prst="rect">
              <a:avLst/>
            </a:prstGeom>
            <a:grp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9" name="Textfeld 68">
              <a:extLst>
                <a:ext uri="{FF2B5EF4-FFF2-40B4-BE49-F238E27FC236}">
                  <a16:creationId xmlns:a16="http://schemas.microsoft.com/office/drawing/2014/main" id="{06971D2B-11F1-F847-86D5-A05053D8999A}"/>
                </a:ext>
              </a:extLst>
            </p:cNvPr>
            <p:cNvSpPr txBox="1"/>
            <p:nvPr/>
          </p:nvSpPr>
          <p:spPr>
            <a:xfrm>
              <a:off x="6607221" y="632143"/>
              <a:ext cx="1032705" cy="546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de-DE" b="1">
                  <a:solidFill>
                    <a:srgbClr val="7030A0"/>
                  </a:solidFill>
                </a:rPr>
                <a:t>Das Backend</a:t>
              </a:r>
            </a:p>
          </p:txBody>
        </p:sp>
      </p:grp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B20A8C9F-F57C-4D2B-2026-E1D2C374B37C}"/>
              </a:ext>
            </a:extLst>
          </p:cNvPr>
          <p:cNvGrpSpPr/>
          <p:nvPr/>
        </p:nvGrpSpPr>
        <p:grpSpPr>
          <a:xfrm>
            <a:off x="5583614" y="1463281"/>
            <a:ext cx="4423990" cy="2689384"/>
            <a:chOff x="6606125" y="632008"/>
            <a:chExt cx="1609958" cy="3976567"/>
          </a:xfrm>
          <a:solidFill>
            <a:schemeClr val="bg1">
              <a:lumMod val="95000"/>
            </a:schemeClr>
          </a:solidFill>
        </p:grpSpPr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6921B3CE-E7A0-EC84-AE42-D587DB52C342}"/>
                </a:ext>
              </a:extLst>
            </p:cNvPr>
            <p:cNvSpPr/>
            <p:nvPr/>
          </p:nvSpPr>
          <p:spPr>
            <a:xfrm>
              <a:off x="6606125" y="632008"/>
              <a:ext cx="1609958" cy="3976567"/>
            </a:xfrm>
            <a:prstGeom prst="rect">
              <a:avLst/>
            </a:prstGeom>
            <a:grpFill/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1" name="Textfeld 10">
              <a:extLst>
                <a:ext uri="{FF2B5EF4-FFF2-40B4-BE49-F238E27FC236}">
                  <a16:creationId xmlns:a16="http://schemas.microsoft.com/office/drawing/2014/main" id="{EC331E49-AA54-F3AD-0A2F-79D0B4B9BE38}"/>
                </a:ext>
              </a:extLst>
            </p:cNvPr>
            <p:cNvSpPr txBox="1"/>
            <p:nvPr/>
          </p:nvSpPr>
          <p:spPr>
            <a:xfrm>
              <a:off x="6607221" y="632142"/>
              <a:ext cx="899942" cy="65996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Jobhost.exe</a:t>
              </a:r>
            </a:p>
          </p:txBody>
        </p:sp>
      </p:grp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00681D04-726D-1F17-2FF4-63D66A1BAB7E}"/>
              </a:ext>
            </a:extLst>
          </p:cNvPr>
          <p:cNvGrpSpPr/>
          <p:nvPr/>
        </p:nvGrpSpPr>
        <p:grpSpPr>
          <a:xfrm>
            <a:off x="8005905" y="3065442"/>
            <a:ext cx="1823761" cy="782007"/>
            <a:chOff x="164209" y="1507994"/>
            <a:chExt cx="1823761" cy="782007"/>
          </a:xfrm>
        </p:grpSpPr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EE7FD0AE-ABF6-2A9B-559B-9DECBD0D518D}"/>
                </a:ext>
              </a:extLst>
            </p:cNvPr>
            <p:cNvSpPr/>
            <p:nvPr/>
          </p:nvSpPr>
          <p:spPr>
            <a:xfrm>
              <a:off x="164209" y="1524953"/>
              <a:ext cx="1803699" cy="765048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66E59F33-9673-BF9A-2A76-B7ED8A290DEA}"/>
                </a:ext>
              </a:extLst>
            </p:cNvPr>
            <p:cNvSpPr txBox="1"/>
            <p:nvPr/>
          </p:nvSpPr>
          <p:spPr>
            <a:xfrm>
              <a:off x="184271" y="1507994"/>
              <a:ext cx="180369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job-assemblies</a:t>
              </a:r>
            </a:p>
          </p:txBody>
        </p:sp>
      </p:grp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41C2E713-FEED-828B-784C-F67174EC88F8}"/>
              </a:ext>
            </a:extLst>
          </p:cNvPr>
          <p:cNvGrpSpPr/>
          <p:nvPr/>
        </p:nvGrpSpPr>
        <p:grpSpPr>
          <a:xfrm>
            <a:off x="5897322" y="1853741"/>
            <a:ext cx="3922316" cy="708234"/>
            <a:chOff x="164209" y="1516532"/>
            <a:chExt cx="1803699" cy="773469"/>
          </a:xfrm>
        </p:grpSpPr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F5734D98-A5B2-DFFF-01E1-0795FEF53E54}"/>
                </a:ext>
              </a:extLst>
            </p:cNvPr>
            <p:cNvSpPr/>
            <p:nvPr/>
          </p:nvSpPr>
          <p:spPr>
            <a:xfrm>
              <a:off x="164209" y="1524953"/>
              <a:ext cx="1803699" cy="765048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8" name="Textfeld 27">
              <a:extLst>
                <a:ext uri="{FF2B5EF4-FFF2-40B4-BE49-F238E27FC236}">
                  <a16:creationId xmlns:a16="http://schemas.microsoft.com/office/drawing/2014/main" id="{7201EE90-CEA3-3A25-B815-CBC87BEDB594}"/>
                </a:ext>
              </a:extLst>
            </p:cNvPr>
            <p:cNvSpPr txBox="1"/>
            <p:nvPr/>
          </p:nvSpPr>
          <p:spPr>
            <a:xfrm>
              <a:off x="198602" y="1516532"/>
              <a:ext cx="110959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Base-job</a:t>
              </a:r>
            </a:p>
          </p:txBody>
        </p:sp>
      </p:grpSp>
      <p:sp>
        <p:nvSpPr>
          <p:cNvPr id="52" name="Textfeld 51">
            <a:extLst>
              <a:ext uri="{FF2B5EF4-FFF2-40B4-BE49-F238E27FC236}">
                <a16:creationId xmlns:a16="http://schemas.microsoft.com/office/drawing/2014/main" id="{AB395DAA-F396-28B1-E9C1-A745386E2EEB}"/>
              </a:ext>
            </a:extLst>
          </p:cNvPr>
          <p:cNvSpPr txBox="1"/>
          <p:nvPr/>
        </p:nvSpPr>
        <p:spPr>
          <a:xfrm>
            <a:off x="5124305" y="2724919"/>
            <a:ext cx="2472944" cy="1169551"/>
          </a:xfrm>
          <a:prstGeom prst="rect">
            <a:avLst/>
          </a:prstGeom>
          <a:solidFill>
            <a:srgbClr val="FF9999"/>
          </a:solidFill>
        </p:spPr>
        <p:txBody>
          <a:bodyPr wrap="square">
            <a:spAutoFit/>
          </a:bodyPr>
          <a:lstStyle/>
          <a:p>
            <a:r>
              <a:rPr lang="de-DE" sz="1000" b="1"/>
              <a:t>HaevgRZ.JobSystem.SessionStore.dll</a:t>
            </a:r>
          </a:p>
          <a:p>
            <a:r>
              <a:rPr lang="de-DE" sz="1000" b="1"/>
              <a:t>HaevgRZ.JobSystem.Core.dll</a:t>
            </a:r>
          </a:p>
          <a:p>
            <a:r>
              <a:rPr lang="de-DE" sz="1000" b="1"/>
              <a:t>HaevgRZ.JobSystem.Contracts.dll</a:t>
            </a:r>
          </a:p>
          <a:p>
            <a:r>
              <a:rPr lang="de-DE" sz="1000" b="1"/>
              <a:t>HaevgRZ.JobSystem.Lib.Core.dll</a:t>
            </a:r>
          </a:p>
          <a:p>
            <a:r>
              <a:rPr lang="de-DE" sz="1000" b="1"/>
              <a:t>HaevgRZ.JobSystem.Lib.Messaging.dll</a:t>
            </a:r>
          </a:p>
          <a:p>
            <a:r>
              <a:rPr lang="de-DE" sz="1000" b="1"/>
              <a:t>„GlobalConfig“</a:t>
            </a:r>
          </a:p>
          <a:p>
            <a:r>
              <a:rPr lang="de-DE" sz="1000" b="1"/>
              <a:t>…</a:t>
            </a:r>
          </a:p>
        </p:txBody>
      </p:sp>
      <p:sp>
        <p:nvSpPr>
          <p:cNvPr id="55" name="Textfeld 54">
            <a:extLst>
              <a:ext uri="{FF2B5EF4-FFF2-40B4-BE49-F238E27FC236}">
                <a16:creationId xmlns:a16="http://schemas.microsoft.com/office/drawing/2014/main" id="{35A56320-1BAA-14D4-257E-BC2DD55217FB}"/>
              </a:ext>
            </a:extLst>
          </p:cNvPr>
          <p:cNvSpPr txBox="1"/>
          <p:nvPr/>
        </p:nvSpPr>
        <p:spPr>
          <a:xfrm>
            <a:off x="7927182" y="2724919"/>
            <a:ext cx="190500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b="1">
                <a:solidFill>
                  <a:srgbClr val="FF0000"/>
                </a:solidFill>
              </a:rPr>
              <a:t>AssemblyResolve:</a:t>
            </a:r>
          </a:p>
        </p:txBody>
      </p:sp>
      <p:grpSp>
        <p:nvGrpSpPr>
          <p:cNvPr id="56" name="Gruppieren 55">
            <a:extLst>
              <a:ext uri="{FF2B5EF4-FFF2-40B4-BE49-F238E27FC236}">
                <a16:creationId xmlns:a16="http://schemas.microsoft.com/office/drawing/2014/main" id="{840FE24B-8ABF-C58F-FA7B-285D8FF784A4}"/>
              </a:ext>
            </a:extLst>
          </p:cNvPr>
          <p:cNvGrpSpPr/>
          <p:nvPr/>
        </p:nvGrpSpPr>
        <p:grpSpPr>
          <a:xfrm>
            <a:off x="2898340" y="1918813"/>
            <a:ext cx="1803699" cy="643577"/>
            <a:chOff x="164209" y="1588453"/>
            <a:chExt cx="1803699" cy="643577"/>
          </a:xfrm>
        </p:grpSpPr>
        <p:sp>
          <p:nvSpPr>
            <p:cNvPr id="57" name="Rechteck 56">
              <a:extLst>
                <a:ext uri="{FF2B5EF4-FFF2-40B4-BE49-F238E27FC236}">
                  <a16:creationId xmlns:a16="http://schemas.microsoft.com/office/drawing/2014/main" id="{5339CB1C-0982-812A-5B00-A1C734F2D7B9}"/>
                </a:ext>
              </a:extLst>
            </p:cNvPr>
            <p:cNvSpPr/>
            <p:nvPr/>
          </p:nvSpPr>
          <p:spPr>
            <a:xfrm>
              <a:off x="164209" y="1588453"/>
              <a:ext cx="1803699" cy="643577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8" name="Textfeld 57">
              <a:extLst>
                <a:ext uri="{FF2B5EF4-FFF2-40B4-BE49-F238E27FC236}">
                  <a16:creationId xmlns:a16="http://schemas.microsoft.com/office/drawing/2014/main" id="{FDA82363-6616-3120-15F7-E15ADFD3A277}"/>
                </a:ext>
              </a:extLst>
            </p:cNvPr>
            <p:cNvSpPr txBox="1"/>
            <p:nvPr/>
          </p:nvSpPr>
          <p:spPr>
            <a:xfrm>
              <a:off x="216082" y="1606413"/>
              <a:ext cx="174131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SessionStarter</a:t>
              </a:r>
            </a:p>
          </p:txBody>
        </p:sp>
      </p:grpSp>
      <p:sp>
        <p:nvSpPr>
          <p:cNvPr id="60" name="Pfeil: nach rechts 59">
            <a:extLst>
              <a:ext uri="{FF2B5EF4-FFF2-40B4-BE49-F238E27FC236}">
                <a16:creationId xmlns:a16="http://schemas.microsoft.com/office/drawing/2014/main" id="{3E79FB88-779C-13F8-B2BF-A117237A18A3}"/>
              </a:ext>
            </a:extLst>
          </p:cNvPr>
          <p:cNvSpPr/>
          <p:nvPr/>
        </p:nvSpPr>
        <p:spPr>
          <a:xfrm>
            <a:off x="4723504" y="2146442"/>
            <a:ext cx="841320" cy="234258"/>
          </a:xfrm>
          <a:prstGeom prst="rightArrow">
            <a:avLst/>
          </a:prstGeom>
          <a:solidFill>
            <a:schemeClr val="accent6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62C7E6E6-A5E4-68DB-279A-D74781522F4F}"/>
              </a:ext>
            </a:extLst>
          </p:cNvPr>
          <p:cNvSpPr txBox="1"/>
          <p:nvPr/>
        </p:nvSpPr>
        <p:spPr>
          <a:xfrm>
            <a:off x="4666437" y="1778023"/>
            <a:ext cx="9554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spawns</a:t>
            </a:r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B35DD60B-AF1C-018B-BD90-0C00BBA989B8}"/>
              </a:ext>
            </a:extLst>
          </p:cNvPr>
          <p:cNvSpPr txBox="1"/>
          <p:nvPr/>
        </p:nvSpPr>
        <p:spPr>
          <a:xfrm>
            <a:off x="1952035" y="287310"/>
            <a:ext cx="7674922" cy="8002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2800" b="1"/>
              <a:t>Das Kernproblem des alten JobSystems.</a:t>
            </a:r>
            <a:endParaRPr lang="de-DE" b="1"/>
          </a:p>
          <a:p>
            <a:pPr algn="ctr"/>
            <a:r>
              <a:rPr lang="de-DE" b="1"/>
              <a:t>Der gemeinsame </a:t>
            </a:r>
            <a:r>
              <a:rPr lang="de-DE" b="1" i="1"/>
              <a:t>Prozessraum</a:t>
            </a:r>
            <a:r>
              <a:rPr lang="de-DE" b="1"/>
              <a:t> von System und Job in der </a:t>
            </a:r>
            <a:r>
              <a:rPr lang="de-DE" b="1" i="1"/>
              <a:t>JobHost.exe</a:t>
            </a:r>
          </a:p>
        </p:txBody>
      </p:sp>
      <p:sp>
        <p:nvSpPr>
          <p:cNvPr id="65" name="Textfeld 64">
            <a:extLst>
              <a:ext uri="{FF2B5EF4-FFF2-40B4-BE49-F238E27FC236}">
                <a16:creationId xmlns:a16="http://schemas.microsoft.com/office/drawing/2014/main" id="{976FAEE1-0BC5-44A3-25D9-3FA8E1410855}"/>
              </a:ext>
            </a:extLst>
          </p:cNvPr>
          <p:cNvSpPr txBox="1"/>
          <p:nvPr/>
        </p:nvSpPr>
        <p:spPr>
          <a:xfrm>
            <a:off x="1561522" y="4443472"/>
            <a:ext cx="9553817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Fast alle Limitierungen und Hacks basieren direkt oder indirekt auf diesem „Ur-Fehler“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Explizite Workflow-Adapter.exe die mit dem JobHost per CLI-Calls kommuniziert.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Der ewige AssemblyResolver-pain-in-the-ass…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ConfigReader-Kopie des HÄVG-Configmangers im JobSystem.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Proprietäre ADO-Komponente; EF-Core nicht möglich.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Eine weiter technologische Evolution und wird de facto verhindert. Nur noch interne Features oder Erweiterung durch Hacks.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…</a:t>
            </a:r>
            <a:endParaRPr lang="de-DE"/>
          </a:p>
        </p:txBody>
      </p:sp>
      <p:sp>
        <p:nvSpPr>
          <p:cNvPr id="70" name="Pfeil: nach links 69">
            <a:extLst>
              <a:ext uri="{FF2B5EF4-FFF2-40B4-BE49-F238E27FC236}">
                <a16:creationId xmlns:a16="http://schemas.microsoft.com/office/drawing/2014/main" id="{1536D43B-1E69-F7B8-4F87-A0FD5F362E85}"/>
              </a:ext>
            </a:extLst>
          </p:cNvPr>
          <p:cNvSpPr/>
          <p:nvPr/>
        </p:nvSpPr>
        <p:spPr>
          <a:xfrm>
            <a:off x="3799699" y="2969365"/>
            <a:ext cx="1311905" cy="707281"/>
          </a:xfrm>
          <a:prstGeom prst="leftArrow">
            <a:avLst/>
          </a:prstGeom>
          <a:solidFill>
            <a:srgbClr val="C0000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73" name="Grafik 72">
            <a:extLst>
              <a:ext uri="{FF2B5EF4-FFF2-40B4-BE49-F238E27FC236}">
                <a16:creationId xmlns:a16="http://schemas.microsoft.com/office/drawing/2014/main" id="{16156912-CE86-DB36-D615-C741938FB6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6421" y="2428990"/>
            <a:ext cx="827913" cy="827913"/>
          </a:xfrm>
          <a:prstGeom prst="rect">
            <a:avLst/>
          </a:prstGeom>
        </p:spPr>
      </p:pic>
      <p:pic>
        <p:nvPicPr>
          <p:cNvPr id="77" name="Grafik 76">
            <a:extLst>
              <a:ext uri="{FF2B5EF4-FFF2-40B4-BE49-F238E27FC236}">
                <a16:creationId xmlns:a16="http://schemas.microsoft.com/office/drawing/2014/main" id="{FFFB93B2-C53C-4261-7D4C-71DCE87505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2126" y="3208513"/>
            <a:ext cx="882650" cy="882650"/>
          </a:xfrm>
          <a:prstGeom prst="rect">
            <a:avLst/>
          </a:prstGeom>
        </p:spPr>
      </p:pic>
      <p:pic>
        <p:nvPicPr>
          <p:cNvPr id="75" name="Grafik 74">
            <a:extLst>
              <a:ext uri="{FF2B5EF4-FFF2-40B4-BE49-F238E27FC236}">
                <a16:creationId xmlns:a16="http://schemas.microsoft.com/office/drawing/2014/main" id="{C9A9F567-C88B-8C1F-9B5C-9AF7AF1B81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0198" y="2658108"/>
            <a:ext cx="1066800" cy="106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1264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>
            <a:extLst>
              <a:ext uri="{FF2B5EF4-FFF2-40B4-BE49-F238E27FC236}">
                <a16:creationId xmlns:a16="http://schemas.microsoft.com/office/drawing/2014/main" id="{C0AA4FAB-0D79-E663-08EC-77AEA5A3925C}"/>
              </a:ext>
            </a:extLst>
          </p:cNvPr>
          <p:cNvSpPr txBox="1"/>
          <p:nvPr/>
        </p:nvSpPr>
        <p:spPr>
          <a:xfrm>
            <a:off x="1539875" y="915402"/>
            <a:ext cx="9480550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b="1"/>
              <a:t>some more flaws…</a:t>
            </a:r>
          </a:p>
          <a:p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.Net48 / .Net10 gedoppelted Codebase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.Net48 </a:t>
            </a:r>
            <a:r>
              <a:rPr lang="de-DE" b="1"/>
              <a:t>WCF-Server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Codedom! nagelt auf .Net48 fest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JobEntwicklung wurde mit einem </a:t>
            </a:r>
            <a:r>
              <a:rPr lang="de-DE" i="1"/>
              <a:t>Hack</a:t>
            </a:r>
            <a:r>
              <a:rPr lang="de-DE"/>
              <a:t> </a:t>
            </a:r>
            <a:r>
              <a:rPr lang="de-DE" b="1"/>
              <a:t>pipelinefähig</a:t>
            </a:r>
            <a:r>
              <a:rPr lang="de-DE"/>
              <a:t> gemacht; mit dem holistischen Gesamtsystem (fettes LINQPad-Script) ist das so nicht möglich…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Hohe </a:t>
            </a:r>
            <a:r>
              <a:rPr lang="de-DE" i="1"/>
              <a:t>Expertenabhängig</a:t>
            </a:r>
            <a:r>
              <a:rPr lang="de-DE"/>
              <a:t> -&gt; nicht Nachwuchsfähig.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Hoher Schulungsaufwand für Job-Entwicklung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Sperrige und altmodische, in die Jahre gekommene Job-API (IBasejob)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Niemals wirklich AI-fähig!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r>
              <a:rPr lang="de-DE" sz="3600" b="1"/>
              <a:t>Fazit: es skaliert nicht mehr…</a:t>
            </a:r>
          </a:p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64677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50BBE-18B9-1DDD-5255-D1EE6B0E5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B95EA94C-38F5-591E-D9FD-26E4B0482979}"/>
              </a:ext>
            </a:extLst>
          </p:cNvPr>
          <p:cNvGrpSpPr/>
          <p:nvPr/>
        </p:nvGrpSpPr>
        <p:grpSpPr>
          <a:xfrm>
            <a:off x="2765552" y="1204601"/>
            <a:ext cx="6254496" cy="2351399"/>
            <a:chOff x="2911602" y="2068201"/>
            <a:chExt cx="6254496" cy="2351399"/>
          </a:xfrm>
        </p:grpSpPr>
        <p:grpSp>
          <p:nvGrpSpPr>
            <p:cNvPr id="7" name="Gruppieren 6">
              <a:extLst>
                <a:ext uri="{FF2B5EF4-FFF2-40B4-BE49-F238E27FC236}">
                  <a16:creationId xmlns:a16="http://schemas.microsoft.com/office/drawing/2014/main" id="{C4F543A1-F974-944C-7768-7BEE20598B94}"/>
                </a:ext>
              </a:extLst>
            </p:cNvPr>
            <p:cNvGrpSpPr/>
            <p:nvPr/>
          </p:nvGrpSpPr>
          <p:grpSpPr>
            <a:xfrm>
              <a:off x="3105916" y="2584254"/>
              <a:ext cx="1652773" cy="1632146"/>
              <a:chOff x="2013970" y="586290"/>
              <a:chExt cx="1652773" cy="3976566"/>
            </a:xfrm>
          </p:grpSpPr>
          <p:sp>
            <p:nvSpPr>
              <p:cNvPr id="4" name="Rechteck 3">
                <a:extLst>
                  <a:ext uri="{FF2B5EF4-FFF2-40B4-BE49-F238E27FC236}">
                    <a16:creationId xmlns:a16="http://schemas.microsoft.com/office/drawing/2014/main" id="{ACAEF261-0AFD-A473-0D38-5BB18A1354BE}"/>
                  </a:ext>
                </a:extLst>
              </p:cNvPr>
              <p:cNvSpPr/>
              <p:nvPr/>
            </p:nvSpPr>
            <p:spPr>
              <a:xfrm>
                <a:off x="2031236" y="586290"/>
                <a:ext cx="1635507" cy="397656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rgbClr val="7030A0"/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FE23814A-842D-A0C4-226C-84B90FC0854E}"/>
                  </a:ext>
                </a:extLst>
              </p:cNvPr>
              <p:cNvSpPr txBox="1"/>
              <p:nvPr/>
            </p:nvSpPr>
            <p:spPr>
              <a:xfrm>
                <a:off x="2013970" y="594762"/>
                <a:ext cx="10870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>
                    <a:solidFill>
                      <a:srgbClr val="7030A0"/>
                    </a:solidFill>
                  </a:rPr>
                  <a:t>backend</a:t>
                </a:r>
              </a:p>
            </p:txBody>
          </p:sp>
        </p:grpSp>
        <p:grpSp>
          <p:nvGrpSpPr>
            <p:cNvPr id="20" name="Gruppieren 19">
              <a:extLst>
                <a:ext uri="{FF2B5EF4-FFF2-40B4-BE49-F238E27FC236}">
                  <a16:creationId xmlns:a16="http://schemas.microsoft.com/office/drawing/2014/main" id="{766AAFB1-9BCF-A234-F93F-8BB0D3D6F669}"/>
                </a:ext>
              </a:extLst>
            </p:cNvPr>
            <p:cNvGrpSpPr/>
            <p:nvPr/>
          </p:nvGrpSpPr>
          <p:grpSpPr>
            <a:xfrm>
              <a:off x="7402414" y="2590603"/>
              <a:ext cx="1609958" cy="1625798"/>
              <a:chOff x="6606124" y="632008"/>
              <a:chExt cx="1609958" cy="3976567"/>
            </a:xfrm>
            <a:solidFill>
              <a:schemeClr val="bg1">
                <a:lumMod val="95000"/>
              </a:schemeClr>
            </a:solidFill>
          </p:grpSpPr>
          <p:sp>
            <p:nvSpPr>
              <p:cNvPr id="12" name="Rechteck 11">
                <a:extLst>
                  <a:ext uri="{FF2B5EF4-FFF2-40B4-BE49-F238E27FC236}">
                    <a16:creationId xmlns:a16="http://schemas.microsoft.com/office/drawing/2014/main" id="{DFC07FED-600D-4DE7-5721-04134762009E}"/>
                  </a:ext>
                </a:extLst>
              </p:cNvPr>
              <p:cNvSpPr/>
              <p:nvPr/>
            </p:nvSpPr>
            <p:spPr>
              <a:xfrm>
                <a:off x="6606124" y="632008"/>
                <a:ext cx="1609958" cy="3976567"/>
              </a:xfrm>
              <a:prstGeom prst="rect">
                <a:avLst/>
              </a:prstGeom>
              <a:grpFill/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050ED622-67A4-03A0-B579-8272ADDDDA00}"/>
                  </a:ext>
                </a:extLst>
              </p:cNvPr>
              <p:cNvSpPr txBox="1"/>
              <p:nvPr/>
            </p:nvSpPr>
            <p:spPr>
              <a:xfrm>
                <a:off x="6607221" y="632142"/>
                <a:ext cx="51488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job</a:t>
                </a:r>
              </a:p>
            </p:txBody>
          </p:sp>
        </p:grpSp>
        <p:grpSp>
          <p:nvGrpSpPr>
            <p:cNvPr id="25" name="Gruppieren 24">
              <a:extLst>
                <a:ext uri="{FF2B5EF4-FFF2-40B4-BE49-F238E27FC236}">
                  <a16:creationId xmlns:a16="http://schemas.microsoft.com/office/drawing/2014/main" id="{3656935A-914A-3594-2569-CFD4E2974623}"/>
                </a:ext>
              </a:extLst>
            </p:cNvPr>
            <p:cNvGrpSpPr/>
            <p:nvPr/>
          </p:nvGrpSpPr>
          <p:grpSpPr>
            <a:xfrm>
              <a:off x="4812358" y="3182254"/>
              <a:ext cx="3185440" cy="615297"/>
              <a:chOff x="4171385" y="5346379"/>
              <a:chExt cx="1310755" cy="615297"/>
            </a:xfrm>
          </p:grpSpPr>
          <p:sp>
            <p:nvSpPr>
              <p:cNvPr id="22" name="Pfeil: nach links und rechts 21">
                <a:extLst>
                  <a:ext uri="{FF2B5EF4-FFF2-40B4-BE49-F238E27FC236}">
                    <a16:creationId xmlns:a16="http://schemas.microsoft.com/office/drawing/2014/main" id="{D250BC81-0220-4A80-8B23-D6AF68702081}"/>
                  </a:ext>
                </a:extLst>
              </p:cNvPr>
              <p:cNvSpPr/>
              <p:nvPr/>
            </p:nvSpPr>
            <p:spPr>
              <a:xfrm>
                <a:off x="4171385" y="5346379"/>
                <a:ext cx="1031611" cy="615297"/>
              </a:xfrm>
              <a:prstGeom prst="leftRightArrow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B31D5EBB-A89F-35F1-BDFF-4FE0D37A0761}"/>
                  </a:ext>
                </a:extLst>
              </p:cNvPr>
              <p:cNvSpPr txBox="1"/>
              <p:nvPr/>
            </p:nvSpPr>
            <p:spPr>
              <a:xfrm>
                <a:off x="4358408" y="5471494"/>
                <a:ext cx="112373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1600" i="1"/>
                  <a:t>one-to-one</a:t>
                </a:r>
                <a:r>
                  <a:rPr lang="de-DE" i="1"/>
                  <a:t> </a:t>
                </a:r>
                <a:r>
                  <a:rPr lang="de-DE" b="1" i="1"/>
                  <a:t>IPC</a:t>
                </a:r>
              </a:p>
            </p:txBody>
          </p:sp>
        </p:grpSp>
        <p:sp>
          <p:nvSpPr>
            <p:cNvPr id="41" name="Rechteck 40">
              <a:extLst>
                <a:ext uri="{FF2B5EF4-FFF2-40B4-BE49-F238E27FC236}">
                  <a16:creationId xmlns:a16="http://schemas.microsoft.com/office/drawing/2014/main" id="{BE488C41-3E39-E95D-85D1-75AE15220CA5}"/>
                </a:ext>
              </a:extLst>
            </p:cNvPr>
            <p:cNvSpPr/>
            <p:nvPr/>
          </p:nvSpPr>
          <p:spPr>
            <a:xfrm>
              <a:off x="2911602" y="2086489"/>
              <a:ext cx="6254496" cy="2333111"/>
            </a:xfrm>
            <a:prstGeom prst="rect">
              <a:avLst/>
            </a:prstGeom>
            <a:noFill/>
            <a:ln>
              <a:solidFill>
                <a:srgbClr val="00206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2" name="Textfeld 41">
              <a:extLst>
                <a:ext uri="{FF2B5EF4-FFF2-40B4-BE49-F238E27FC236}">
                  <a16:creationId xmlns:a16="http://schemas.microsoft.com/office/drawing/2014/main" id="{6860F192-A780-ACF2-B447-DBCED6349946}"/>
                </a:ext>
              </a:extLst>
            </p:cNvPr>
            <p:cNvSpPr txBox="1"/>
            <p:nvPr/>
          </p:nvSpPr>
          <p:spPr>
            <a:xfrm>
              <a:off x="2977134" y="2068201"/>
              <a:ext cx="224452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400" b="1">
                  <a:solidFill>
                    <a:srgbClr val="002060"/>
                  </a:solidFill>
                </a:rPr>
                <a:t>josyn-platform</a:t>
              </a:r>
            </a:p>
          </p:txBody>
        </p:sp>
        <p:sp>
          <p:nvSpPr>
            <p:cNvPr id="54" name="Textfeld 53">
              <a:extLst>
                <a:ext uri="{FF2B5EF4-FFF2-40B4-BE49-F238E27FC236}">
                  <a16:creationId xmlns:a16="http://schemas.microsoft.com/office/drawing/2014/main" id="{35339789-9892-8B3C-0986-3CE07F4F5B0F}"/>
                </a:ext>
              </a:extLst>
            </p:cNvPr>
            <p:cNvSpPr txBox="1"/>
            <p:nvPr/>
          </p:nvSpPr>
          <p:spPr>
            <a:xfrm>
              <a:off x="8531784" y="3941718"/>
              <a:ext cx="409133" cy="215444"/>
            </a:xfrm>
            <a:prstGeom prst="rect">
              <a:avLst/>
            </a:prstGeom>
            <a:solidFill>
              <a:srgbClr val="FFFF99"/>
            </a:solidFill>
            <a:ln>
              <a:solidFill>
                <a:schemeClr val="tx1"/>
              </a:solidFill>
            </a:ln>
          </p:spPr>
          <p:txBody>
            <a:bodyPr wrap="none" lIns="72000" tIns="0" rIns="72000" bIns="0" rtlCol="0">
              <a:spAutoFit/>
            </a:bodyPr>
            <a:lstStyle/>
            <a:p>
              <a:r>
                <a:rPr lang="de-DE" sz="1400" i="1"/>
                <a:t>exe</a:t>
              </a:r>
            </a:p>
          </p:txBody>
        </p:sp>
        <p:grpSp>
          <p:nvGrpSpPr>
            <p:cNvPr id="45" name="Gruppieren 44">
              <a:extLst>
                <a:ext uri="{FF2B5EF4-FFF2-40B4-BE49-F238E27FC236}">
                  <a16:creationId xmlns:a16="http://schemas.microsoft.com/office/drawing/2014/main" id="{D7D6D2AD-63E5-9095-4FC5-2C10252C76EB}"/>
                </a:ext>
              </a:extLst>
            </p:cNvPr>
            <p:cNvGrpSpPr/>
            <p:nvPr/>
          </p:nvGrpSpPr>
          <p:grpSpPr>
            <a:xfrm>
              <a:off x="3278442" y="3049876"/>
              <a:ext cx="1478776" cy="791538"/>
              <a:chOff x="541429" y="351742"/>
              <a:chExt cx="1478776" cy="791538"/>
            </a:xfrm>
          </p:grpSpPr>
          <p:sp>
            <p:nvSpPr>
              <p:cNvPr id="30" name="Rechteck 29">
                <a:extLst>
                  <a:ext uri="{FF2B5EF4-FFF2-40B4-BE49-F238E27FC236}">
                    <a16:creationId xmlns:a16="http://schemas.microsoft.com/office/drawing/2014/main" id="{2A5786B1-3FB4-0E22-8DA1-DBDDF5C888CC}"/>
                  </a:ext>
                </a:extLst>
              </p:cNvPr>
              <p:cNvSpPr/>
              <p:nvPr/>
            </p:nvSpPr>
            <p:spPr>
              <a:xfrm>
                <a:off x="548021" y="378232"/>
                <a:ext cx="1472184" cy="765048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3610DF32-87F5-5383-6DF3-1DE9594680FB}"/>
                  </a:ext>
                </a:extLst>
              </p:cNvPr>
              <p:cNvSpPr txBox="1"/>
              <p:nvPr/>
            </p:nvSpPr>
            <p:spPr>
              <a:xfrm>
                <a:off x="541429" y="351742"/>
                <a:ext cx="124707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/>
                  <a:t>jap-server</a:t>
                </a:r>
              </a:p>
            </p:txBody>
          </p:sp>
          <p:sp>
            <p:nvSpPr>
              <p:cNvPr id="53" name="Textfeld 52">
                <a:extLst>
                  <a:ext uri="{FF2B5EF4-FFF2-40B4-BE49-F238E27FC236}">
                    <a16:creationId xmlns:a16="http://schemas.microsoft.com/office/drawing/2014/main" id="{1D7ECD08-4890-EEC5-6F3A-A6FCD2CC016F}"/>
                  </a:ext>
                </a:extLst>
              </p:cNvPr>
              <p:cNvSpPr txBox="1"/>
              <p:nvPr/>
            </p:nvSpPr>
            <p:spPr>
              <a:xfrm>
                <a:off x="1558775" y="855775"/>
                <a:ext cx="409133" cy="215444"/>
              </a:xfrm>
              <a:prstGeom prst="rect">
                <a:avLst/>
              </a:prstGeom>
              <a:solidFill>
                <a:srgbClr val="FFFF99"/>
              </a:solidFill>
              <a:ln>
                <a:solidFill>
                  <a:schemeClr val="tx1"/>
                </a:solidFill>
              </a:ln>
            </p:spPr>
            <p:txBody>
              <a:bodyPr wrap="none" lIns="72000" tIns="0" rIns="72000" bIns="0" rtlCol="0">
                <a:spAutoFit/>
              </a:bodyPr>
              <a:lstStyle/>
              <a:p>
                <a:r>
                  <a:rPr lang="de-DE" sz="1400" i="1"/>
                  <a:t>exe</a:t>
                </a:r>
              </a:p>
            </p:txBody>
          </p:sp>
        </p:grpSp>
        <p:grpSp>
          <p:nvGrpSpPr>
            <p:cNvPr id="35" name="Gruppieren 34">
              <a:extLst>
                <a:ext uri="{FF2B5EF4-FFF2-40B4-BE49-F238E27FC236}">
                  <a16:creationId xmlns:a16="http://schemas.microsoft.com/office/drawing/2014/main" id="{AF4BA5D2-C1EB-D6DF-7D31-767359EF3A5F}"/>
                </a:ext>
              </a:extLst>
            </p:cNvPr>
            <p:cNvGrpSpPr/>
            <p:nvPr/>
          </p:nvGrpSpPr>
          <p:grpSpPr>
            <a:xfrm>
              <a:off x="7389405" y="3049876"/>
              <a:ext cx="1485126" cy="791538"/>
              <a:chOff x="482782" y="1498463"/>
              <a:chExt cx="1485126" cy="791538"/>
            </a:xfrm>
          </p:grpSpPr>
          <p:sp>
            <p:nvSpPr>
              <p:cNvPr id="31" name="Rechteck 30">
                <a:extLst>
                  <a:ext uri="{FF2B5EF4-FFF2-40B4-BE49-F238E27FC236}">
                    <a16:creationId xmlns:a16="http://schemas.microsoft.com/office/drawing/2014/main" id="{78C8DC7B-384F-04A5-6923-880D90B4157B}"/>
                  </a:ext>
                </a:extLst>
              </p:cNvPr>
              <p:cNvSpPr/>
              <p:nvPr/>
            </p:nvSpPr>
            <p:spPr>
              <a:xfrm>
                <a:off x="495724" y="1524953"/>
                <a:ext cx="1472184" cy="765048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65513305-956F-6658-DBD8-D938D088654B}"/>
                  </a:ext>
                </a:extLst>
              </p:cNvPr>
              <p:cNvSpPr txBox="1"/>
              <p:nvPr/>
            </p:nvSpPr>
            <p:spPr>
              <a:xfrm>
                <a:off x="482782" y="1498463"/>
                <a:ext cx="10579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job-host</a:t>
                </a:r>
              </a:p>
            </p:txBody>
          </p:sp>
          <p:sp>
            <p:nvSpPr>
              <p:cNvPr id="34" name="Textfeld 33">
                <a:extLst>
                  <a:ext uri="{FF2B5EF4-FFF2-40B4-BE49-F238E27FC236}">
                    <a16:creationId xmlns:a16="http://schemas.microsoft.com/office/drawing/2014/main" id="{8E3B4212-D8F9-751B-2BDE-F0766AF188FC}"/>
                  </a:ext>
                </a:extLst>
              </p:cNvPr>
              <p:cNvSpPr txBox="1"/>
              <p:nvPr/>
            </p:nvSpPr>
            <p:spPr>
              <a:xfrm>
                <a:off x="1332488" y="2003766"/>
                <a:ext cx="580077" cy="215444"/>
              </a:xfrm>
              <a:prstGeom prst="rect">
                <a:avLst/>
              </a:prstGeom>
              <a:solidFill>
                <a:srgbClr val="FFFF99"/>
              </a:solidFill>
              <a:ln>
                <a:solidFill>
                  <a:schemeClr val="tx1"/>
                </a:solidFill>
              </a:ln>
            </p:spPr>
            <p:txBody>
              <a:bodyPr wrap="none" lIns="72000" tIns="0" rIns="72000" bIns="0" rtlCol="0">
                <a:spAutoFit/>
              </a:bodyPr>
              <a:lstStyle/>
              <a:p>
                <a:r>
                  <a:rPr lang="de-DE" sz="1400" i="1"/>
                  <a:t>nuget</a:t>
                </a:r>
              </a:p>
            </p:txBody>
          </p:sp>
        </p:grpSp>
      </p:grpSp>
      <p:sp>
        <p:nvSpPr>
          <p:cNvPr id="2" name="Textfeld 1">
            <a:extLst>
              <a:ext uri="{FF2B5EF4-FFF2-40B4-BE49-F238E27FC236}">
                <a16:creationId xmlns:a16="http://schemas.microsoft.com/office/drawing/2014/main" id="{519E1644-DBCE-0EF7-8B66-ED2E10EBBA6F}"/>
              </a:ext>
            </a:extLst>
          </p:cNvPr>
          <p:cNvSpPr txBox="1"/>
          <p:nvPr/>
        </p:nvSpPr>
        <p:spPr>
          <a:xfrm>
            <a:off x="3069873" y="460642"/>
            <a:ext cx="540115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2800" b="1"/>
              <a:t>Die Lösung für das Kernproblem</a:t>
            </a:r>
            <a:endParaRPr lang="de-DE" b="1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31B0DD6C-1959-F561-62A6-4A45090DC6D2}"/>
              </a:ext>
            </a:extLst>
          </p:cNvPr>
          <p:cNvSpPr txBox="1"/>
          <p:nvPr/>
        </p:nvSpPr>
        <p:spPr>
          <a:xfrm>
            <a:off x="2658820" y="3613865"/>
            <a:ext cx="667567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Trennung in zwei Prozessräume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System.IO.Pipes (als Named-Pipes bzw. Unix-Domain-Sockets)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Schaffung eines leichtgewichtigen one-to-one-Application-Protocols. (JAP)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7E5349DD-7736-0A81-1AC6-477997C0DE28}"/>
              </a:ext>
            </a:extLst>
          </p:cNvPr>
          <p:cNvSpPr txBox="1"/>
          <p:nvPr/>
        </p:nvSpPr>
        <p:spPr>
          <a:xfrm>
            <a:off x="2703271" y="4573680"/>
            <a:ext cx="771921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800"/>
              <a:t>Starke und nachhaltige Entkopplung - nicht nur zur Runtime im Prozessraum:</a:t>
            </a:r>
          </a:p>
          <a:p>
            <a:endParaRPr lang="de-DE" sz="1800"/>
          </a:p>
          <a:p>
            <a:r>
              <a:rPr lang="de-DE" sz="1800" b="1"/>
              <a:t>Zwei logisch, technologisch, architekturell getrennte Domänen</a:t>
            </a:r>
          </a:p>
          <a:p>
            <a:r>
              <a:rPr lang="de-DE" sz="1800"/>
              <a:t>mit einer l</a:t>
            </a:r>
            <a:r>
              <a:rPr lang="de-DE"/>
              <a:t>eichtgewichtige Kopplung über das JAP-Protokoll.</a:t>
            </a:r>
            <a:r>
              <a:rPr lang="de-DE" sz="180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973108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>
            <a:extLst>
              <a:ext uri="{FF2B5EF4-FFF2-40B4-BE49-F238E27FC236}">
                <a16:creationId xmlns:a16="http://schemas.microsoft.com/office/drawing/2014/main" id="{A615FBEC-2241-E2B6-FA16-C690E72808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8078" y="283037"/>
            <a:ext cx="7368244" cy="6146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55798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rafik 16">
            <a:extLst>
              <a:ext uri="{FF2B5EF4-FFF2-40B4-BE49-F238E27FC236}">
                <a16:creationId xmlns:a16="http://schemas.microsoft.com/office/drawing/2014/main" id="{1058F159-EFC9-B7AB-6080-DF9EE48033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3078" y="283037"/>
            <a:ext cx="7475072" cy="6235449"/>
          </a:xfrm>
          <a:prstGeom prst="rect">
            <a:avLst/>
          </a:prstGeom>
        </p:spPr>
      </p:pic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AA8F616E-2807-B6C3-829D-FDD577343009}"/>
              </a:ext>
            </a:extLst>
          </p:cNvPr>
          <p:cNvGrpSpPr/>
          <p:nvPr/>
        </p:nvGrpSpPr>
        <p:grpSpPr>
          <a:xfrm>
            <a:off x="439246" y="357128"/>
            <a:ext cx="10941216" cy="6110876"/>
            <a:chOff x="439246" y="357128"/>
            <a:chExt cx="10941216" cy="6110876"/>
          </a:xfrm>
        </p:grpSpPr>
        <p:sp>
          <p:nvSpPr>
            <p:cNvPr id="9" name="Ellipse 8">
              <a:extLst>
                <a:ext uri="{FF2B5EF4-FFF2-40B4-BE49-F238E27FC236}">
                  <a16:creationId xmlns:a16="http://schemas.microsoft.com/office/drawing/2014/main" id="{0886830C-750E-9067-E272-35C63D77045B}"/>
                </a:ext>
              </a:extLst>
            </p:cNvPr>
            <p:cNvSpPr/>
            <p:nvPr/>
          </p:nvSpPr>
          <p:spPr>
            <a:xfrm>
              <a:off x="8888087" y="4552951"/>
              <a:ext cx="323850" cy="32385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b="1"/>
                <a:t>1</a:t>
              </a:r>
            </a:p>
          </p:txBody>
        </p:sp>
        <p:sp>
          <p:nvSpPr>
            <p:cNvPr id="10" name="Ellipse 9">
              <a:extLst>
                <a:ext uri="{FF2B5EF4-FFF2-40B4-BE49-F238E27FC236}">
                  <a16:creationId xmlns:a16="http://schemas.microsoft.com/office/drawing/2014/main" id="{8AD5D11A-7072-1F4B-8B05-ACE9C6868137}"/>
                </a:ext>
              </a:extLst>
            </p:cNvPr>
            <p:cNvSpPr/>
            <p:nvPr/>
          </p:nvSpPr>
          <p:spPr>
            <a:xfrm>
              <a:off x="9097637" y="2552632"/>
              <a:ext cx="323850" cy="32385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b="1"/>
                <a:t>1</a:t>
              </a:r>
            </a:p>
          </p:txBody>
        </p:sp>
        <p:sp>
          <p:nvSpPr>
            <p:cNvPr id="11" name="Ellipse 10">
              <a:extLst>
                <a:ext uri="{FF2B5EF4-FFF2-40B4-BE49-F238E27FC236}">
                  <a16:creationId xmlns:a16="http://schemas.microsoft.com/office/drawing/2014/main" id="{D19331EE-5F45-D8D9-3A3A-5A63D036C846}"/>
                </a:ext>
              </a:extLst>
            </p:cNvPr>
            <p:cNvSpPr/>
            <p:nvPr/>
          </p:nvSpPr>
          <p:spPr>
            <a:xfrm>
              <a:off x="9097637" y="1028563"/>
              <a:ext cx="323850" cy="32385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b="1"/>
                <a:t>1</a:t>
              </a:r>
            </a:p>
          </p:txBody>
        </p:sp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BE94DA8D-07B6-7102-EEB2-7A8BBD1A9E85}"/>
                </a:ext>
              </a:extLst>
            </p:cNvPr>
            <p:cNvSpPr/>
            <p:nvPr/>
          </p:nvSpPr>
          <p:spPr>
            <a:xfrm>
              <a:off x="9097637" y="1800157"/>
              <a:ext cx="323850" cy="32385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b="1"/>
                <a:t>2</a:t>
              </a:r>
            </a:p>
          </p:txBody>
        </p:sp>
        <p:sp>
          <p:nvSpPr>
            <p:cNvPr id="13" name="Ellipse 12">
              <a:extLst>
                <a:ext uri="{FF2B5EF4-FFF2-40B4-BE49-F238E27FC236}">
                  <a16:creationId xmlns:a16="http://schemas.microsoft.com/office/drawing/2014/main" id="{6B95A0EC-0590-C00F-AAC7-0EFD23342259}"/>
                </a:ext>
              </a:extLst>
            </p:cNvPr>
            <p:cNvSpPr/>
            <p:nvPr/>
          </p:nvSpPr>
          <p:spPr>
            <a:xfrm>
              <a:off x="11056612" y="3581332"/>
              <a:ext cx="323850" cy="323850"/>
            </a:xfrm>
            <a:prstGeom prst="ellipse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b="1"/>
                <a:t>4</a:t>
              </a:r>
            </a:p>
          </p:txBody>
        </p:sp>
        <p:sp>
          <p:nvSpPr>
            <p:cNvPr id="14" name="Ellipse 13">
              <a:extLst>
                <a:ext uri="{FF2B5EF4-FFF2-40B4-BE49-F238E27FC236}">
                  <a16:creationId xmlns:a16="http://schemas.microsoft.com/office/drawing/2014/main" id="{8314FF22-36E3-945A-0978-55032430CCB0}"/>
                </a:ext>
              </a:extLst>
            </p:cNvPr>
            <p:cNvSpPr/>
            <p:nvPr/>
          </p:nvSpPr>
          <p:spPr>
            <a:xfrm>
              <a:off x="6240137" y="3600382"/>
              <a:ext cx="323850" cy="323850"/>
            </a:xfrm>
            <a:prstGeom prst="ellipse">
              <a:avLst/>
            </a:prstGeom>
            <a:solidFill>
              <a:schemeClr val="accent5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b="1"/>
                <a:t>5</a:t>
              </a:r>
            </a:p>
          </p:txBody>
        </p:sp>
        <p:sp>
          <p:nvSpPr>
            <p:cNvPr id="15" name="Ellipse 14">
              <a:extLst>
                <a:ext uri="{FF2B5EF4-FFF2-40B4-BE49-F238E27FC236}">
                  <a16:creationId xmlns:a16="http://schemas.microsoft.com/office/drawing/2014/main" id="{1E7CBD4F-282E-AD84-D134-1BF7122E52B2}"/>
                </a:ext>
              </a:extLst>
            </p:cNvPr>
            <p:cNvSpPr/>
            <p:nvPr/>
          </p:nvSpPr>
          <p:spPr>
            <a:xfrm>
              <a:off x="8878563" y="5610362"/>
              <a:ext cx="323850" cy="32385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b="1"/>
                <a:t>3</a:t>
              </a:r>
            </a:p>
          </p:txBody>
        </p:sp>
        <p:grpSp>
          <p:nvGrpSpPr>
            <p:cNvPr id="29" name="Gruppieren 28">
              <a:extLst>
                <a:ext uri="{FF2B5EF4-FFF2-40B4-BE49-F238E27FC236}">
                  <a16:creationId xmlns:a16="http://schemas.microsoft.com/office/drawing/2014/main" id="{529B4878-47E6-2A68-0C0E-70885CAAA946}"/>
                </a:ext>
              </a:extLst>
            </p:cNvPr>
            <p:cNvGrpSpPr/>
            <p:nvPr/>
          </p:nvGrpSpPr>
          <p:grpSpPr>
            <a:xfrm>
              <a:off x="439246" y="357128"/>
              <a:ext cx="3868230" cy="6110876"/>
              <a:chOff x="439246" y="376178"/>
              <a:chExt cx="3868230" cy="6110876"/>
            </a:xfrm>
          </p:grpSpPr>
          <p:grpSp>
            <p:nvGrpSpPr>
              <p:cNvPr id="26" name="Gruppieren 25">
                <a:extLst>
                  <a:ext uri="{FF2B5EF4-FFF2-40B4-BE49-F238E27FC236}">
                    <a16:creationId xmlns:a16="http://schemas.microsoft.com/office/drawing/2014/main" id="{16712B7D-636F-4DD2-F8AD-E63A3B11B065}"/>
                  </a:ext>
                </a:extLst>
              </p:cNvPr>
              <p:cNvGrpSpPr/>
              <p:nvPr/>
            </p:nvGrpSpPr>
            <p:grpSpPr>
              <a:xfrm>
                <a:off x="439246" y="376178"/>
                <a:ext cx="3868230" cy="6110876"/>
                <a:chOff x="533400" y="709954"/>
                <a:chExt cx="3868230" cy="6008239"/>
              </a:xfrm>
            </p:grpSpPr>
            <p:sp>
              <p:nvSpPr>
                <p:cNvPr id="25" name="Rechteck 24">
                  <a:extLst>
                    <a:ext uri="{FF2B5EF4-FFF2-40B4-BE49-F238E27FC236}">
                      <a16:creationId xmlns:a16="http://schemas.microsoft.com/office/drawing/2014/main" id="{7B747D87-04D4-2074-F96B-9C2E5405ADC9}"/>
                    </a:ext>
                  </a:extLst>
                </p:cNvPr>
                <p:cNvSpPr/>
                <p:nvPr/>
              </p:nvSpPr>
              <p:spPr>
                <a:xfrm>
                  <a:off x="533400" y="714694"/>
                  <a:ext cx="3868230" cy="6003499"/>
                </a:xfrm>
                <a:prstGeom prst="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  <a:ln w="952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24" name="Gruppieren 23">
                  <a:extLst>
                    <a:ext uri="{FF2B5EF4-FFF2-40B4-BE49-F238E27FC236}">
                      <a16:creationId xmlns:a16="http://schemas.microsoft.com/office/drawing/2014/main" id="{A77A9728-58C9-0037-9878-7944917C23DE}"/>
                    </a:ext>
                  </a:extLst>
                </p:cNvPr>
                <p:cNvGrpSpPr/>
                <p:nvPr/>
              </p:nvGrpSpPr>
              <p:grpSpPr>
                <a:xfrm>
                  <a:off x="690329" y="709954"/>
                  <a:ext cx="3711301" cy="5794928"/>
                  <a:chOff x="8477360" y="773912"/>
                  <a:chExt cx="3711301" cy="5794928"/>
                </a:xfrm>
              </p:grpSpPr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8C6037E1-70AE-9798-6858-303404BF448A}"/>
                      </a:ext>
                    </a:extLst>
                  </p:cNvPr>
                  <p:cNvSpPr txBox="1"/>
                  <p:nvPr/>
                </p:nvSpPr>
                <p:spPr>
                  <a:xfrm>
                    <a:off x="8825240" y="773912"/>
                    <a:ext cx="3363421" cy="5794928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endParaRPr lang="de-DE" b="1"/>
                  </a:p>
                  <a:p>
                    <a:endParaRPr lang="de-DE" b="1"/>
                  </a:p>
                  <a:p>
                    <a:r>
                      <a:rPr lang="de-DE" sz="2000" b="1"/>
                      <a:t>josyn-foundation</a:t>
                    </a:r>
                  </a:p>
                  <a:p>
                    <a:r>
                      <a:rPr lang="de-DE" i="1"/>
                      <a:t>- eternal!</a:t>
                    </a:r>
                  </a:p>
                  <a:p>
                    <a:r>
                      <a:rPr lang="de-DE" i="1"/>
                      <a:t>- 3 nugets</a:t>
                    </a:r>
                  </a:p>
                  <a:p>
                    <a:endParaRPr lang="de-DE"/>
                  </a:p>
                  <a:p>
                    <a:r>
                      <a:rPr lang="de-DE" sz="2000" b="1"/>
                      <a:t>josyn-jap</a:t>
                    </a:r>
                  </a:p>
                  <a:p>
                    <a:r>
                      <a:rPr lang="de-DE" i="1"/>
                      <a:t>- the jap-protocol-</a:t>
                    </a:r>
                    <a:r>
                      <a:rPr lang="de-DE" b="1" i="1"/>
                      <a:t>contract</a:t>
                    </a:r>
                  </a:p>
                  <a:p>
                    <a:r>
                      <a:rPr lang="de-DE" i="1"/>
                      <a:t>- meant for evolution…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endParaRPr lang="de-DE"/>
                  </a:p>
                  <a:p>
                    <a:r>
                      <a:rPr lang="de-DE" sz="2000" b="1"/>
                      <a:t>josyn-commons</a:t>
                    </a:r>
                  </a:p>
                  <a:p>
                    <a:r>
                      <a:rPr lang="de-DE" i="1"/>
                      <a:t>- the useful satellite…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endParaRPr lang="de-DE"/>
                  </a:p>
                  <a:p>
                    <a:r>
                      <a:rPr lang="de-DE" sz="2000" b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</a:rPr>
                      <a:t>josyn-job-host</a:t>
                    </a:r>
                  </a:p>
                  <a:p>
                    <a:r>
                      <a:rPr lang="de-DE" i="1"/>
                      <a:t>- „one“ nuget</a:t>
                    </a:r>
                  </a:p>
                  <a:p>
                    <a:r>
                      <a:rPr lang="de-DE" b="1" i="1"/>
                      <a:t>- the developers perpective!</a:t>
                    </a:r>
                  </a:p>
                  <a:p>
                    <a:r>
                      <a:rPr lang="de-DE" sz="1400" i="1"/>
                      <a:t>- implements the jap-client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endParaRPr lang="de-DE"/>
                  </a:p>
                  <a:p>
                    <a:r>
                      <a:rPr lang="de-DE" sz="2000" b="1">
                        <a:solidFill>
                          <a:srgbClr val="7030A0"/>
                        </a:solidFill>
                      </a:rPr>
                      <a:t>josyn-backend</a:t>
                    </a:r>
                  </a:p>
                  <a:p>
                    <a:r>
                      <a:rPr lang="de-DE" i="1"/>
                      <a:t>- </a:t>
                    </a:r>
                    <a:r>
                      <a:rPr lang="de-DE" b="1" i="1"/>
                      <a:t>jap-server</a:t>
                    </a:r>
                    <a:r>
                      <a:rPr lang="de-DE" i="1"/>
                      <a:t> with a special role</a:t>
                    </a:r>
                  </a:p>
                  <a:p>
                    <a:r>
                      <a:rPr lang="de-DE" sz="1100" i="1"/>
                      <a:t>- the rest of the backend-iceberg out of scope here…</a:t>
                    </a:r>
                  </a:p>
                </p:txBody>
              </p:sp>
              <p:sp>
                <p:nvSpPr>
                  <p:cNvPr id="18" name="Ellipse 17">
                    <a:extLst>
                      <a:ext uri="{FF2B5EF4-FFF2-40B4-BE49-F238E27FC236}">
                        <a16:creationId xmlns:a16="http://schemas.microsoft.com/office/drawing/2014/main" id="{A92592C4-56D5-0262-68D0-18D0111A8A35}"/>
                      </a:ext>
                    </a:extLst>
                  </p:cNvPr>
                  <p:cNvSpPr/>
                  <p:nvPr/>
                </p:nvSpPr>
                <p:spPr>
                  <a:xfrm>
                    <a:off x="8477360" y="1373452"/>
                    <a:ext cx="323850" cy="323850"/>
                  </a:xfrm>
                  <a:prstGeom prst="ellipse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2000" b="1"/>
                      <a:t>1</a:t>
                    </a:r>
                  </a:p>
                </p:txBody>
              </p:sp>
              <p:sp>
                <p:nvSpPr>
                  <p:cNvPr id="19" name="Ellipse 18">
                    <a:extLst>
                      <a:ext uri="{FF2B5EF4-FFF2-40B4-BE49-F238E27FC236}">
                        <a16:creationId xmlns:a16="http://schemas.microsoft.com/office/drawing/2014/main" id="{D6190D3D-AD2E-3B23-9023-80BB6E2098F4}"/>
                      </a:ext>
                    </a:extLst>
                  </p:cNvPr>
                  <p:cNvSpPr/>
                  <p:nvPr/>
                </p:nvSpPr>
                <p:spPr>
                  <a:xfrm>
                    <a:off x="8477360" y="2474423"/>
                    <a:ext cx="323850" cy="323850"/>
                  </a:xfrm>
                  <a:prstGeom prst="ellipse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2000" b="1"/>
                      <a:t>2</a:t>
                    </a:r>
                  </a:p>
                </p:txBody>
              </p:sp>
              <p:sp>
                <p:nvSpPr>
                  <p:cNvPr id="20" name="Ellipse 19">
                    <a:extLst>
                      <a:ext uri="{FF2B5EF4-FFF2-40B4-BE49-F238E27FC236}">
                        <a16:creationId xmlns:a16="http://schemas.microsoft.com/office/drawing/2014/main" id="{F45B0A08-B968-B101-27CA-16CA54D81C07}"/>
                      </a:ext>
                    </a:extLst>
                  </p:cNvPr>
                  <p:cNvSpPr/>
                  <p:nvPr/>
                </p:nvSpPr>
                <p:spPr>
                  <a:xfrm>
                    <a:off x="8477360" y="3579550"/>
                    <a:ext cx="323850" cy="323850"/>
                  </a:xfrm>
                  <a:prstGeom prst="ellipse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2000" b="1"/>
                      <a:t>3</a:t>
                    </a:r>
                  </a:p>
                </p:txBody>
              </p:sp>
              <p:sp>
                <p:nvSpPr>
                  <p:cNvPr id="21" name="Ellipse 20">
                    <a:extLst>
                      <a:ext uri="{FF2B5EF4-FFF2-40B4-BE49-F238E27FC236}">
                        <a16:creationId xmlns:a16="http://schemas.microsoft.com/office/drawing/2014/main" id="{587D9FCF-DE67-CA31-CFE5-77166A0F3E4E}"/>
                      </a:ext>
                    </a:extLst>
                  </p:cNvPr>
                  <p:cNvSpPr/>
                  <p:nvPr/>
                </p:nvSpPr>
                <p:spPr>
                  <a:xfrm>
                    <a:off x="8477360" y="4408934"/>
                    <a:ext cx="323850" cy="323850"/>
                  </a:xfrm>
                  <a:prstGeom prst="ellipse">
                    <a:avLst/>
                  </a:prstGeom>
                  <a:solidFill>
                    <a:schemeClr val="tx2">
                      <a:lumMod val="50000"/>
                      <a:lumOff val="5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2000" b="1"/>
                      <a:t>4</a:t>
                    </a:r>
                  </a:p>
                </p:txBody>
              </p:sp>
              <p:sp>
                <p:nvSpPr>
                  <p:cNvPr id="22" name="Ellipse 21">
                    <a:extLst>
                      <a:ext uri="{FF2B5EF4-FFF2-40B4-BE49-F238E27FC236}">
                        <a16:creationId xmlns:a16="http://schemas.microsoft.com/office/drawing/2014/main" id="{2BFDA55F-8388-D4B9-467C-19A7E4DB472F}"/>
                      </a:ext>
                    </a:extLst>
                  </p:cNvPr>
                  <p:cNvSpPr/>
                  <p:nvPr/>
                </p:nvSpPr>
                <p:spPr>
                  <a:xfrm>
                    <a:off x="8477360" y="5724893"/>
                    <a:ext cx="323850" cy="323850"/>
                  </a:xfrm>
                  <a:prstGeom prst="ellipse">
                    <a:avLst/>
                  </a:prstGeom>
                  <a:solidFill>
                    <a:schemeClr val="accent5">
                      <a:lumMod val="7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2000" b="1"/>
                      <a:t>5</a:t>
                    </a:r>
                  </a:p>
                </p:txBody>
              </p:sp>
            </p:grpSp>
          </p:grpSp>
          <p:sp>
            <p:nvSpPr>
              <p:cNvPr id="28" name="Textfeld 27">
                <a:extLst>
                  <a:ext uri="{FF2B5EF4-FFF2-40B4-BE49-F238E27FC236}">
                    <a16:creationId xmlns:a16="http://schemas.microsoft.com/office/drawing/2014/main" id="{04754427-7E09-2C7B-5A39-7749017684A5}"/>
                  </a:ext>
                </a:extLst>
              </p:cNvPr>
              <p:cNvSpPr txBox="1"/>
              <p:nvPr/>
            </p:nvSpPr>
            <p:spPr>
              <a:xfrm>
                <a:off x="477344" y="409046"/>
                <a:ext cx="2519855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sz="2800" b="1">
                    <a:solidFill>
                      <a:srgbClr val="002060"/>
                    </a:solidFill>
                  </a:rPr>
                  <a:t>josyn-repos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541290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89E0415C-A757-917C-379A-0039CA852BB4}"/>
              </a:ext>
            </a:extLst>
          </p:cNvPr>
          <p:cNvSpPr txBox="1"/>
          <p:nvPr/>
        </p:nvSpPr>
        <p:spPr>
          <a:xfrm>
            <a:off x="2230935" y="2806184"/>
            <a:ext cx="773012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5400"/>
              <a:t>--- ab hier Rohmaterial ---</a:t>
            </a:r>
          </a:p>
        </p:txBody>
      </p:sp>
    </p:spTree>
    <p:extLst>
      <p:ext uri="{BB962C8B-B14F-4D97-AF65-F5344CB8AC3E}">
        <p14:creationId xmlns:p14="http://schemas.microsoft.com/office/powerpoint/2010/main" val="18095125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D2B19-C08D-B552-B330-A7AF940A4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0687EFC0-3FFA-864C-0F36-D95D08751114}"/>
              </a:ext>
            </a:extLst>
          </p:cNvPr>
          <p:cNvSpPr txBox="1"/>
          <p:nvPr/>
        </p:nvSpPr>
        <p:spPr>
          <a:xfrm>
            <a:off x="1029742" y="863084"/>
            <a:ext cx="10411915" cy="38779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/>
              <a:t>Requirements / Propsals / Desicions / Questions</a:t>
            </a:r>
          </a:p>
          <a:p>
            <a:r>
              <a:rPr lang="de-DE" b="1"/>
              <a:t>Proposals/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sz="14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/>
              <a:t>Weiterhin nur eine „pro-Server-Installation“. Kein Load-Balancing, keine Fallback-Mechanismen.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/>
              <a:t>Jeder Server ist entweder ein PROD, INT oder DEV-Server.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/>
              <a:t>Deployment soll komplett CI/CD/Pipelinefähig sein.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/>
              <a:t>Ein Pfad zu Linux/Docker muss vorhanden sein.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/>
              <a:t>Der Dualismus „josyn als domain-agnostisches system“ und „josyn als teil der hävg-domäne“ muss in allen Punkten sauber geplant und abgebildet sein! =&gt; </a:t>
            </a:r>
            <a:r>
              <a:rPr lang="de-DE" sz="1400" b="1"/>
              <a:t>company fit</a:t>
            </a:r>
            <a:r>
              <a:rPr lang="de-DE" sz="1400"/>
              <a:t> (Unser Entwicklungsprozess, Sicherheit, Audits, Change-Prozess, „Adapter“ für HÄVG-Komponenten, unsere Config 2.0, Entra, more…)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sz="1400"/>
          </a:p>
          <a:p>
            <a:endParaRPr lang="de-DE" sz="1400"/>
          </a:p>
        </p:txBody>
      </p:sp>
    </p:spTree>
    <p:extLst>
      <p:ext uri="{BB962C8B-B14F-4D97-AF65-F5344CB8AC3E}">
        <p14:creationId xmlns:p14="http://schemas.microsoft.com/office/powerpoint/2010/main" val="36511679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>
            <a:extLst>
              <a:ext uri="{FF2B5EF4-FFF2-40B4-BE49-F238E27FC236}">
                <a16:creationId xmlns:a16="http://schemas.microsoft.com/office/drawing/2014/main" id="{2C80B424-DBC0-1283-17AB-A58174836B2D}"/>
              </a:ext>
            </a:extLst>
          </p:cNvPr>
          <p:cNvSpPr txBox="1"/>
          <p:nvPr/>
        </p:nvSpPr>
        <p:spPr>
          <a:xfrm>
            <a:off x="1362075" y="1108919"/>
            <a:ext cx="4848225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de-DE"/>
          </a:p>
          <a:p>
            <a:r>
              <a:rPr lang="de-DE"/>
              <a:t>storage-realm</a:t>
            </a:r>
          </a:p>
          <a:p>
            <a:r>
              <a:rPr lang="de-DE"/>
              <a:t>	Db</a:t>
            </a:r>
          </a:p>
          <a:p>
            <a:r>
              <a:rPr lang="de-DE"/>
              <a:t>	josyn-backend-session-store</a:t>
            </a:r>
          </a:p>
          <a:p>
            <a:r>
              <a:rPr lang="de-DE"/>
              <a:t>	josyn-backend-config-store</a:t>
            </a:r>
          </a:p>
          <a:p>
            <a:r>
              <a:rPr lang="de-DE"/>
              <a:t>	josyn-backend-job-registry</a:t>
            </a:r>
          </a:p>
          <a:p>
            <a:r>
              <a:rPr lang="de-DE"/>
              <a:t>	josyn-backend-error-handler</a:t>
            </a:r>
          </a:p>
          <a:p>
            <a:endParaRPr lang="de-DE"/>
          </a:p>
          <a:p>
            <a:r>
              <a:rPr lang="de-DE"/>
              <a:t>contoso</a:t>
            </a:r>
          </a:p>
          <a:p>
            <a:r>
              <a:rPr lang="de-DE"/>
              <a:t>	josyn-backend-adapter-contracts</a:t>
            </a:r>
          </a:p>
          <a:p>
            <a:endParaRPr lang="de-DE"/>
          </a:p>
          <a:p>
            <a:r>
              <a:rPr lang="de-DE"/>
              <a:t>boostrap</a:t>
            </a:r>
          </a:p>
          <a:p>
            <a:r>
              <a:rPr lang="de-DE"/>
              <a:t>	josyn-backend-bootstrap-config</a:t>
            </a:r>
          </a:p>
          <a:p>
            <a:endParaRPr lang="de-DE"/>
          </a:p>
          <a:p>
            <a:r>
              <a:rPr lang="de-DE"/>
              <a:t>Special-guest</a:t>
            </a:r>
          </a:p>
          <a:p>
            <a:r>
              <a:rPr lang="de-DE"/>
              <a:t>	josyn-backend-jap-server</a:t>
            </a:r>
          </a:p>
          <a:p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4F4843BA-15A6-9122-3634-97B03B219E72}"/>
              </a:ext>
            </a:extLst>
          </p:cNvPr>
          <p:cNvSpPr txBox="1"/>
          <p:nvPr/>
        </p:nvSpPr>
        <p:spPr>
          <a:xfrm>
            <a:off x="857250" y="533400"/>
            <a:ext cx="11953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BACKEND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00D7F217-43D6-4BBB-A171-E90D94B87D1B}"/>
              </a:ext>
            </a:extLst>
          </p:cNvPr>
          <p:cNvSpPr txBox="1"/>
          <p:nvPr/>
        </p:nvSpPr>
        <p:spPr>
          <a:xfrm>
            <a:off x="6591300" y="2570113"/>
            <a:ext cx="4448175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3 Exen</a:t>
            </a:r>
          </a:p>
          <a:p>
            <a:r>
              <a:rPr lang="de-DE"/>
              <a:t>	josyn-backend-cli</a:t>
            </a:r>
          </a:p>
          <a:p>
            <a:r>
              <a:rPr lang="de-DE"/>
              <a:t>	josyn-backend-listener</a:t>
            </a:r>
          </a:p>
          <a:p>
            <a:r>
              <a:rPr lang="de-DE"/>
              <a:t>	josyn-backend-ticker</a:t>
            </a:r>
          </a:p>
          <a:p>
            <a:endParaRPr lang="de-DE"/>
          </a:p>
          <a:p>
            <a:r>
              <a:rPr lang="de-DE"/>
              <a:t>Für die 3 Exen</a:t>
            </a:r>
          </a:p>
          <a:p>
            <a:r>
              <a:rPr lang="de-DE"/>
              <a:t>	josyn-backend-session-starter</a:t>
            </a:r>
          </a:p>
        </p:txBody>
      </p:sp>
    </p:spTree>
    <p:extLst>
      <p:ext uri="{BB962C8B-B14F-4D97-AF65-F5344CB8AC3E}">
        <p14:creationId xmlns:p14="http://schemas.microsoft.com/office/powerpoint/2010/main" val="36912939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feld 5">
            <a:extLst>
              <a:ext uri="{FF2B5EF4-FFF2-40B4-BE49-F238E27FC236}">
                <a16:creationId xmlns:a16="http://schemas.microsoft.com/office/drawing/2014/main" id="{1378A166-C683-26B2-2B8B-EB6C9821C42E}"/>
              </a:ext>
            </a:extLst>
          </p:cNvPr>
          <p:cNvSpPr txBox="1"/>
          <p:nvPr/>
        </p:nvSpPr>
        <p:spPr>
          <a:xfrm>
            <a:off x="657225" y="723900"/>
            <a:ext cx="43557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b="1"/>
              <a:t>Jap-Server Dependencies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ABCE4CD-01B1-8E57-EF8F-03E4359F6E56}"/>
              </a:ext>
            </a:extLst>
          </p:cNvPr>
          <p:cNvSpPr txBox="1"/>
          <p:nvPr/>
        </p:nvSpPr>
        <p:spPr>
          <a:xfrm>
            <a:off x="3357562" y="1170176"/>
            <a:ext cx="6748463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de-DE" sz="1200"/>
          </a:p>
          <a:p>
            <a:r>
              <a:rPr lang="de-DE" sz="1200"/>
              <a:t>&lt;PackageReference Include="JOSYN.Foundation.JIP"             Version="1.0.0-preview01"/&gt;</a:t>
            </a:r>
          </a:p>
          <a:p>
            <a:r>
              <a:rPr lang="de-DE" sz="1200"/>
              <a:t>&lt;PackageReference Include="JOSYN.Foundation.PropertyBag"     Version="1.0.0-preview01"/&gt;</a:t>
            </a:r>
          </a:p>
          <a:p>
            <a:r>
              <a:rPr lang="de-DE" sz="1200"/>
              <a:t>&lt;PackageReference Include="JOSYN.Foundation.ResultPattern"   Version="1.0.0-preview01"/&gt;</a:t>
            </a:r>
          </a:p>
          <a:p>
            <a:endParaRPr lang="de-DE" sz="1200"/>
          </a:p>
          <a:p>
            <a:r>
              <a:rPr lang="de-DE" sz="1200"/>
              <a:t>&lt;PackageReference Include="JOSYN.Jap.Contract"        Version="1.0.0-preview01"/&gt;</a:t>
            </a:r>
          </a:p>
          <a:p>
            <a:endParaRPr lang="de-DE" sz="1200"/>
          </a:p>
          <a:p>
            <a:r>
              <a:rPr lang="de-DE" sz="1200"/>
              <a:t>&lt;PackageReference Include="JOSYN.Commons.Log"             Version="1.0.0-preview01"/&gt;</a:t>
            </a:r>
          </a:p>
          <a:p>
            <a:endParaRPr lang="de-DE" sz="1200"/>
          </a:p>
          <a:p>
            <a:r>
              <a:rPr lang="de-DE" sz="1200"/>
              <a:t>----------------------------------------</a:t>
            </a:r>
          </a:p>
          <a:p>
            <a:endParaRPr lang="de-DE" sz="1200"/>
          </a:p>
          <a:p>
            <a:r>
              <a:rPr lang="de-DE" sz="1200"/>
              <a:t>&lt;PackageReference Include="JOSYN.Backend.BootstrapConfig"      Version="1.0.0-preview01"/&gt;</a:t>
            </a:r>
          </a:p>
          <a:p>
            <a:endParaRPr lang="de-DE" sz="1200"/>
          </a:p>
          <a:p>
            <a:r>
              <a:rPr lang="de-DE" sz="1200"/>
              <a:t>&lt;PackageReference Include="JOSYN.Backend.AdapterContracts"  Version="1.0.0-preview01"/&gt;</a:t>
            </a:r>
          </a:p>
          <a:p>
            <a:endParaRPr lang="de-DE" sz="1200"/>
          </a:p>
          <a:p>
            <a:r>
              <a:rPr lang="de-DE" sz="1200"/>
              <a:t>&lt;PackageReference Include="JOSYN.Backend.ConfigStore"        Version="1.0.0-preview01"/&gt;</a:t>
            </a:r>
          </a:p>
          <a:p>
            <a:r>
              <a:rPr lang="de-DE" sz="1200"/>
              <a:t>&lt;PackageReference Include="JOSYN.Backend.ErrorHandler"       Version="1.0.0-preview01"/&gt;</a:t>
            </a:r>
          </a:p>
          <a:p>
            <a:r>
              <a:rPr lang="de-DE" sz="1200"/>
              <a:t>&lt;PackageReference Include="JOSYN.Backend.SessionStore"       Version="1.0.0-preview01"/&gt;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7DAB8E91-0B3C-2429-8C9C-5356A1CD3995}"/>
              </a:ext>
            </a:extLst>
          </p:cNvPr>
          <p:cNvSpPr txBox="1"/>
          <p:nvPr/>
        </p:nvSpPr>
        <p:spPr>
          <a:xfrm>
            <a:off x="819150" y="5041493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800">
                <a:solidFill>
                  <a:srgbClr val="FF0000"/>
                </a:solidFill>
              </a:rPr>
              <a:t>JOSYN.Jap.Shared.Contract</a:t>
            </a:r>
          </a:p>
          <a:p>
            <a:r>
              <a:rPr lang="de-DE">
                <a:solidFill>
                  <a:srgbClr val="FF0000"/>
                </a:solidFill>
              </a:rPr>
              <a:t>Shared im Namen ist überflüssig?</a:t>
            </a:r>
          </a:p>
        </p:txBody>
      </p:sp>
    </p:spTree>
    <p:extLst>
      <p:ext uri="{BB962C8B-B14F-4D97-AF65-F5344CB8AC3E}">
        <p14:creationId xmlns:p14="http://schemas.microsoft.com/office/powerpoint/2010/main" val="29067295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4F5483BE-BCC0-D8A1-F472-C90B8F7469A1}"/>
              </a:ext>
            </a:extLst>
          </p:cNvPr>
          <p:cNvSpPr txBox="1"/>
          <p:nvPr/>
        </p:nvSpPr>
        <p:spPr>
          <a:xfrm>
            <a:off x="511332" y="346026"/>
            <a:ext cx="3532634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/>
              <a:t>round-trip</a:t>
            </a:r>
          </a:p>
          <a:p>
            <a:endParaRPr lang="de-DE"/>
          </a:p>
          <a:p>
            <a:r>
              <a:rPr lang="de-DE"/>
              <a:t>	live zeigen</a:t>
            </a:r>
          </a:p>
          <a:p>
            <a:endParaRPr lang="de-DE"/>
          </a:p>
          <a:p>
            <a:r>
              <a:rPr lang="de-DE"/>
              <a:t>	a-spawns-b  diagram(s)  </a:t>
            </a:r>
          </a:p>
          <a:p>
            <a:r>
              <a:rPr lang="de-DE"/>
              <a:t> </a:t>
            </a:r>
          </a:p>
          <a:p>
            <a:endParaRPr lang="de-DE"/>
          </a:p>
          <a:p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0ADD3679-4C9F-5B5C-F563-34CFEFC1BB9A}"/>
              </a:ext>
            </a:extLst>
          </p:cNvPr>
          <p:cNvSpPr txBox="1"/>
          <p:nvPr/>
        </p:nvSpPr>
        <p:spPr>
          <a:xfrm>
            <a:off x="7560174" y="367010"/>
            <a:ext cx="4017831" cy="59093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/>
          </a:p>
          <a:p>
            <a:r>
              <a:rPr lang="de-DE"/>
              <a:t>-------------</a:t>
            </a:r>
          </a:p>
          <a:p>
            <a:endParaRPr lang="de-DE"/>
          </a:p>
          <a:p>
            <a:r>
              <a:rPr lang="de-DE" b="1"/>
              <a:t>error-routing</a:t>
            </a:r>
          </a:p>
          <a:p>
            <a:endParaRPr lang="de-DE"/>
          </a:p>
          <a:p>
            <a:r>
              <a:rPr lang="de-DE"/>
              <a:t>---------</a:t>
            </a:r>
          </a:p>
          <a:p>
            <a:endParaRPr lang="de-DE"/>
          </a:p>
          <a:p>
            <a:r>
              <a:rPr lang="de-DE" b="1"/>
              <a:t>company-fit</a:t>
            </a:r>
          </a:p>
          <a:p>
            <a:r>
              <a:rPr lang="de-DE"/>
              <a:t>	contoso</a:t>
            </a:r>
          </a:p>
          <a:p>
            <a:r>
              <a:rPr lang="de-DE"/>
              <a:t>	Governance</a:t>
            </a:r>
          </a:p>
          <a:p>
            <a:r>
              <a:rPr lang="de-DE"/>
              <a:t>	hävg-dev-process</a:t>
            </a:r>
          </a:p>
          <a:p>
            <a:r>
              <a:rPr lang="de-DE"/>
              <a:t>	Pipeline-ready</a:t>
            </a:r>
          </a:p>
          <a:p>
            <a:r>
              <a:rPr lang="de-DE"/>
              <a:t>	evolution: docker/lniux</a:t>
            </a:r>
          </a:p>
          <a:p>
            <a:r>
              <a:rPr lang="de-DE"/>
              <a:t>	migration!</a:t>
            </a:r>
          </a:p>
          <a:p>
            <a:r>
              <a:rPr lang="de-DE"/>
              <a:t>	tpm-story</a:t>
            </a:r>
          </a:p>
          <a:p>
            <a:r>
              <a:rPr lang="de-DE"/>
              <a:t>	project?</a:t>
            </a:r>
          </a:p>
          <a:p>
            <a:r>
              <a:rPr lang="de-DE"/>
              <a:t>	entscheidungen</a:t>
            </a:r>
          </a:p>
          <a:p>
            <a:r>
              <a:rPr lang="de-DE"/>
              <a:t>	people</a:t>
            </a:r>
          </a:p>
          <a:p>
            <a:endParaRPr lang="de-DE"/>
          </a:p>
          <a:p>
            <a:r>
              <a:rPr lang="de-DE"/>
              <a:t>josyn als domain-agnostisches system</a:t>
            </a:r>
          </a:p>
          <a:p>
            <a:r>
              <a:rPr lang="de-DE"/>
              <a:t>Josyn als teil der domäne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7D516507-CF40-55A8-65B1-B3768EBC5AC5}"/>
              </a:ext>
            </a:extLst>
          </p:cNvPr>
          <p:cNvSpPr txBox="1"/>
          <p:nvPr/>
        </p:nvSpPr>
        <p:spPr>
          <a:xfrm>
            <a:off x="752475" y="4400550"/>
            <a:ext cx="584852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/>
              <a:t>einleitung</a:t>
            </a:r>
          </a:p>
          <a:p>
            <a:r>
              <a:rPr lang="de-DE"/>
              <a:t>	kurz die core-flaws des alten systems erwähnen</a:t>
            </a:r>
          </a:p>
          <a:p>
            <a:r>
              <a:rPr lang="de-DE"/>
              <a:t>	Ai zitieren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1D9146EC-A86F-4C5E-21C9-6FED7F4C3F1C}"/>
              </a:ext>
            </a:extLst>
          </p:cNvPr>
          <p:cNvSpPr txBox="1"/>
          <p:nvPr/>
        </p:nvSpPr>
        <p:spPr>
          <a:xfrm>
            <a:off x="3831983" y="2754481"/>
            <a:ext cx="3707682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/>
              <a:t>die anderen repos</a:t>
            </a:r>
          </a:p>
          <a:p>
            <a:r>
              <a:rPr lang="de-DE"/>
              <a:t>	Platform / ai /sanity-check</a:t>
            </a:r>
          </a:p>
          <a:p>
            <a:r>
              <a:rPr lang="de-DE"/>
              <a:t>	Tooling</a:t>
            </a:r>
          </a:p>
          <a:p>
            <a:r>
              <a:rPr lang="de-DE"/>
              <a:t>	Playground</a:t>
            </a:r>
          </a:p>
          <a:p>
            <a:r>
              <a:rPr lang="de-DE"/>
              <a:t>	docs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C52FF86-D522-2513-C318-9F6B99D33531}"/>
              </a:ext>
            </a:extLst>
          </p:cNvPr>
          <p:cNvSpPr txBox="1"/>
          <p:nvPr/>
        </p:nvSpPr>
        <p:spPr>
          <a:xfrm>
            <a:off x="3966505" y="5664101"/>
            <a:ext cx="273934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/>
              <a:t>urls zur vefügung stellen</a:t>
            </a:r>
          </a:p>
          <a:p>
            <a:r>
              <a:rPr lang="de-DE"/>
              <a:t>	ckluth/github</a:t>
            </a:r>
          </a:p>
          <a:p>
            <a:r>
              <a:rPr lang="de-DE"/>
              <a:t>	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29C18F3B-60AA-F446-2720-EE185F5A41E4}"/>
              </a:ext>
            </a:extLst>
          </p:cNvPr>
          <p:cNvSpPr txBox="1"/>
          <p:nvPr/>
        </p:nvSpPr>
        <p:spPr>
          <a:xfrm>
            <a:off x="4268169" y="367010"/>
            <a:ext cx="355299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1"/>
              <a:t>storgae-realm</a:t>
            </a:r>
            <a:r>
              <a:rPr lang="de-DE"/>
              <a:t> / db</a:t>
            </a:r>
          </a:p>
          <a:p>
            <a:endParaRPr lang="de-DE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F94EA407-9AED-2092-C6FC-7B7B9FA446E2}"/>
              </a:ext>
            </a:extLst>
          </p:cNvPr>
          <p:cNvSpPr txBox="1"/>
          <p:nvPr/>
        </p:nvSpPr>
        <p:spPr>
          <a:xfrm>
            <a:off x="1316872" y="2495550"/>
            <a:ext cx="1709571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/>
              <a:t>principles</a:t>
            </a:r>
          </a:p>
          <a:p>
            <a:pPr lvl="1"/>
            <a:r>
              <a:rPr lang="de-DE"/>
              <a:t>NRT</a:t>
            </a:r>
          </a:p>
          <a:p>
            <a:pPr lvl="1"/>
            <a:r>
              <a:rPr lang="de-DE"/>
              <a:t>RP-Usage</a:t>
            </a:r>
          </a:p>
          <a:p>
            <a:pPr lvl="1"/>
            <a:r>
              <a:rPr lang="de-DE"/>
              <a:t>Functional</a:t>
            </a:r>
          </a:p>
          <a:p>
            <a:pPr lvl="1"/>
            <a:r>
              <a:rPr lang="de-DE"/>
              <a:t>Contracts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BD489293-44C7-2752-5AF2-8256A73E879E}"/>
              </a:ext>
            </a:extLst>
          </p:cNvPr>
          <p:cNvSpPr txBox="1"/>
          <p:nvPr/>
        </p:nvSpPr>
        <p:spPr>
          <a:xfrm>
            <a:off x="4268343" y="1782946"/>
            <a:ext cx="27041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1"/>
              <a:t>deployment / bootsrip</a:t>
            </a:r>
          </a:p>
        </p:txBody>
      </p:sp>
    </p:spTree>
    <p:extLst>
      <p:ext uri="{BB962C8B-B14F-4D97-AF65-F5344CB8AC3E}">
        <p14:creationId xmlns:p14="http://schemas.microsoft.com/office/powerpoint/2010/main" val="21967849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473CBD-2654-7327-F74E-4D7EE4DD1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EEB7E298-9FAF-2DCD-50B2-2255FE09FCAF}"/>
              </a:ext>
            </a:extLst>
          </p:cNvPr>
          <p:cNvSpPr txBox="1"/>
          <p:nvPr/>
        </p:nvSpPr>
        <p:spPr>
          <a:xfrm>
            <a:off x="2078535" y="491609"/>
            <a:ext cx="4804585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TODO</a:t>
            </a:r>
          </a:p>
          <a:p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Backend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Company-Fit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Offene Fragen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Josyn-guide zurückbauen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Gute „AI-Zitate“ einbauen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r>
              <a:rPr lang="de-DE"/>
              <a:t>Vorher von gitgub-ckluth =&gt; github-hävg!!!!!!!!!!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118392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DD6CB7-EB88-909D-C082-49E7E1D492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BA2A3B80-F6E1-8BA5-5B3F-A9D11EA225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1205" y="1576129"/>
            <a:ext cx="7449590" cy="3705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18684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BCD0E-B049-B53B-B888-3DAE81785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1BAF3D59-551E-F0E5-9357-DDE2BAC9643E}"/>
              </a:ext>
            </a:extLst>
          </p:cNvPr>
          <p:cNvGrpSpPr/>
          <p:nvPr/>
        </p:nvGrpSpPr>
        <p:grpSpPr>
          <a:xfrm>
            <a:off x="2617474" y="1098354"/>
            <a:ext cx="1652773" cy="3976566"/>
            <a:chOff x="2013970" y="586290"/>
            <a:chExt cx="1652773" cy="3976566"/>
          </a:xfrm>
        </p:grpSpPr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F399BA7C-486C-B484-16AD-094D33F59A68}"/>
                </a:ext>
              </a:extLst>
            </p:cNvPr>
            <p:cNvSpPr/>
            <p:nvPr/>
          </p:nvSpPr>
          <p:spPr>
            <a:xfrm>
              <a:off x="2031236" y="586290"/>
              <a:ext cx="1635507" cy="397656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7030A0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A37E0375-1869-E126-06F4-9223184DC40B}"/>
                </a:ext>
              </a:extLst>
            </p:cNvPr>
            <p:cNvSpPr txBox="1"/>
            <p:nvPr/>
          </p:nvSpPr>
          <p:spPr>
            <a:xfrm>
              <a:off x="2013970" y="594762"/>
              <a:ext cx="108702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rgbClr val="7030A0"/>
                  </a:solidFill>
                </a:rPr>
                <a:t>backend</a:t>
              </a:r>
            </a:p>
          </p:txBody>
        </p:sp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D33C9ED9-7646-38FA-583B-F8CF70453BAE}"/>
              </a:ext>
            </a:extLst>
          </p:cNvPr>
          <p:cNvGrpSpPr/>
          <p:nvPr/>
        </p:nvGrpSpPr>
        <p:grpSpPr>
          <a:xfrm>
            <a:off x="6913972" y="1098352"/>
            <a:ext cx="1609958" cy="3976567"/>
            <a:chOff x="6606124" y="632008"/>
            <a:chExt cx="1609958" cy="3976567"/>
          </a:xfrm>
          <a:solidFill>
            <a:schemeClr val="bg1">
              <a:lumMod val="95000"/>
            </a:schemeClr>
          </a:solidFill>
        </p:grpSpPr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31767582-C3AF-B85E-5F6D-D243A3F3A08B}"/>
                </a:ext>
              </a:extLst>
            </p:cNvPr>
            <p:cNvSpPr/>
            <p:nvPr/>
          </p:nvSpPr>
          <p:spPr>
            <a:xfrm>
              <a:off x="6606124" y="632008"/>
              <a:ext cx="1609958" cy="3976567"/>
            </a:xfrm>
            <a:prstGeom prst="rect">
              <a:avLst/>
            </a:prstGeom>
            <a:grpFill/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6B1C0CC8-D053-11F6-CC3E-ABF928FC1E6F}"/>
                </a:ext>
              </a:extLst>
            </p:cNvPr>
            <p:cNvSpPr txBox="1"/>
            <p:nvPr/>
          </p:nvSpPr>
          <p:spPr>
            <a:xfrm>
              <a:off x="6607221" y="632142"/>
              <a:ext cx="5148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job</a:t>
              </a:r>
            </a:p>
          </p:txBody>
        </p:sp>
      </p:grpSp>
      <p:grpSp>
        <p:nvGrpSpPr>
          <p:cNvPr id="40" name="Gruppieren 39">
            <a:extLst>
              <a:ext uri="{FF2B5EF4-FFF2-40B4-BE49-F238E27FC236}">
                <a16:creationId xmlns:a16="http://schemas.microsoft.com/office/drawing/2014/main" id="{95D86320-5473-84AD-7FCE-622515606E5F}"/>
              </a:ext>
            </a:extLst>
          </p:cNvPr>
          <p:cNvGrpSpPr/>
          <p:nvPr/>
        </p:nvGrpSpPr>
        <p:grpSpPr>
          <a:xfrm>
            <a:off x="4323916" y="1105230"/>
            <a:ext cx="3185440" cy="2901871"/>
            <a:chOff x="4366189" y="2950077"/>
            <a:chExt cx="3185440" cy="2901871"/>
          </a:xfrm>
        </p:grpSpPr>
        <p:grpSp>
          <p:nvGrpSpPr>
            <p:cNvPr id="25" name="Gruppieren 24">
              <a:extLst>
                <a:ext uri="{FF2B5EF4-FFF2-40B4-BE49-F238E27FC236}">
                  <a16:creationId xmlns:a16="http://schemas.microsoft.com/office/drawing/2014/main" id="{B4331FC3-0CC5-61EB-39B4-6DCBB5747A20}"/>
                </a:ext>
              </a:extLst>
            </p:cNvPr>
            <p:cNvGrpSpPr/>
            <p:nvPr/>
          </p:nvGrpSpPr>
          <p:grpSpPr>
            <a:xfrm>
              <a:off x="4366189" y="5236651"/>
              <a:ext cx="3185440" cy="615297"/>
              <a:chOff x="4171385" y="5346379"/>
              <a:chExt cx="1310755" cy="615297"/>
            </a:xfrm>
          </p:grpSpPr>
          <p:sp>
            <p:nvSpPr>
              <p:cNvPr id="22" name="Pfeil: nach links und rechts 21">
                <a:extLst>
                  <a:ext uri="{FF2B5EF4-FFF2-40B4-BE49-F238E27FC236}">
                    <a16:creationId xmlns:a16="http://schemas.microsoft.com/office/drawing/2014/main" id="{73ABA095-B8C8-4312-EDBB-FE5B036E2326}"/>
                  </a:ext>
                </a:extLst>
              </p:cNvPr>
              <p:cNvSpPr/>
              <p:nvPr/>
            </p:nvSpPr>
            <p:spPr>
              <a:xfrm>
                <a:off x="4171385" y="5346379"/>
                <a:ext cx="1031611" cy="615297"/>
              </a:xfrm>
              <a:prstGeom prst="leftRightArrow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8C523DA3-34E9-9038-B9C9-59B80A26A3EF}"/>
                  </a:ext>
                </a:extLst>
              </p:cNvPr>
              <p:cNvSpPr txBox="1"/>
              <p:nvPr/>
            </p:nvSpPr>
            <p:spPr>
              <a:xfrm>
                <a:off x="4358408" y="5471494"/>
                <a:ext cx="112373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1600" i="1"/>
                  <a:t>one-to-one</a:t>
                </a:r>
                <a:r>
                  <a:rPr lang="de-DE" i="1"/>
                  <a:t> </a:t>
                </a:r>
                <a:r>
                  <a:rPr lang="de-DE" b="1" i="1"/>
                  <a:t>IPC</a:t>
                </a:r>
              </a:p>
            </p:txBody>
          </p:sp>
        </p:grpSp>
        <p:grpSp>
          <p:nvGrpSpPr>
            <p:cNvPr id="39" name="Gruppieren 38">
              <a:extLst>
                <a:ext uri="{FF2B5EF4-FFF2-40B4-BE49-F238E27FC236}">
                  <a16:creationId xmlns:a16="http://schemas.microsoft.com/office/drawing/2014/main" id="{624D37AD-83CB-57BD-1A5A-14ABA35EA4F5}"/>
                </a:ext>
              </a:extLst>
            </p:cNvPr>
            <p:cNvGrpSpPr/>
            <p:nvPr/>
          </p:nvGrpSpPr>
          <p:grpSpPr>
            <a:xfrm>
              <a:off x="4509873" y="2950077"/>
              <a:ext cx="2259244" cy="1933271"/>
              <a:chOff x="4452536" y="3661405"/>
              <a:chExt cx="2259244" cy="1933271"/>
            </a:xfrm>
          </p:grpSpPr>
          <p:sp>
            <p:nvSpPr>
              <p:cNvPr id="33" name="Rechteck 32">
                <a:extLst>
                  <a:ext uri="{FF2B5EF4-FFF2-40B4-BE49-F238E27FC236}">
                    <a16:creationId xmlns:a16="http://schemas.microsoft.com/office/drawing/2014/main" id="{5FBD6A96-CE08-26EB-35A9-F23C6D874D2A}"/>
                  </a:ext>
                </a:extLst>
              </p:cNvPr>
              <p:cNvSpPr/>
              <p:nvPr/>
            </p:nvSpPr>
            <p:spPr>
              <a:xfrm>
                <a:off x="4452536" y="4950286"/>
                <a:ext cx="2257200" cy="64439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6" name="Rechteck 35">
                <a:extLst>
                  <a:ext uri="{FF2B5EF4-FFF2-40B4-BE49-F238E27FC236}">
                    <a16:creationId xmlns:a16="http://schemas.microsoft.com/office/drawing/2014/main" id="{76DEB7D6-CDA6-A1D6-B8D6-C25AB3AB21DA}"/>
                  </a:ext>
                </a:extLst>
              </p:cNvPr>
              <p:cNvSpPr/>
              <p:nvPr/>
            </p:nvSpPr>
            <p:spPr>
              <a:xfrm>
                <a:off x="4454099" y="4306086"/>
                <a:ext cx="2257200" cy="64439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7" name="Rechteck 36">
                <a:extLst>
                  <a:ext uri="{FF2B5EF4-FFF2-40B4-BE49-F238E27FC236}">
                    <a16:creationId xmlns:a16="http://schemas.microsoft.com/office/drawing/2014/main" id="{3DC271B0-4C44-9C3F-9A89-1677343AD282}"/>
                  </a:ext>
                </a:extLst>
              </p:cNvPr>
              <p:cNvSpPr/>
              <p:nvPr/>
            </p:nvSpPr>
            <p:spPr>
              <a:xfrm>
                <a:off x="4454098" y="3661405"/>
                <a:ext cx="2257682" cy="64439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8" name="Textfeld 37">
                <a:extLst>
                  <a:ext uri="{FF2B5EF4-FFF2-40B4-BE49-F238E27FC236}">
                    <a16:creationId xmlns:a16="http://schemas.microsoft.com/office/drawing/2014/main" id="{9B6E896D-8E04-ADD6-F9DB-F0D845FDB96E}"/>
                  </a:ext>
                </a:extLst>
              </p:cNvPr>
              <p:cNvSpPr txBox="1"/>
              <p:nvPr/>
            </p:nvSpPr>
            <p:spPr>
              <a:xfrm>
                <a:off x="4602889" y="3716107"/>
                <a:ext cx="2055050" cy="4924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400" i="1"/>
                  <a:t>PropertyBag</a:t>
                </a:r>
                <a:r>
                  <a:rPr lang="de-DE" sz="1400"/>
                  <a:t> </a:t>
                </a:r>
              </a:p>
              <a:p>
                <a:pPr algn="ctr"/>
                <a:r>
                  <a:rPr lang="de-DE" sz="1200"/>
                  <a:t>(Serialisierungs-Konvention)</a:t>
                </a:r>
              </a:p>
            </p:txBody>
          </p:sp>
          <p:sp>
            <p:nvSpPr>
              <p:cNvPr id="27" name="Textfeld 26">
                <a:extLst>
                  <a:ext uri="{FF2B5EF4-FFF2-40B4-BE49-F238E27FC236}">
                    <a16:creationId xmlns:a16="http://schemas.microsoft.com/office/drawing/2014/main" id="{0884282C-CC1A-97A5-BA07-89A3A1F586D7}"/>
                  </a:ext>
                </a:extLst>
              </p:cNvPr>
              <p:cNvSpPr txBox="1"/>
              <p:nvPr/>
            </p:nvSpPr>
            <p:spPr>
              <a:xfrm>
                <a:off x="4673154" y="4362510"/>
                <a:ext cx="1876668" cy="5232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:r>
                  <a:rPr lang="de-DE" sz="2200" b="1">
                    <a:solidFill>
                      <a:srgbClr val="002060"/>
                    </a:solidFill>
                  </a:rPr>
                  <a:t>JAP</a:t>
                </a:r>
                <a:r>
                  <a:rPr lang="de-DE"/>
                  <a:t> </a:t>
                </a:r>
              </a:p>
              <a:p>
                <a:pPr algn="ctr"/>
                <a:r>
                  <a:rPr lang="de-DE" sz="1200"/>
                  <a:t>(Josyn-Application-Protocol)</a:t>
                </a:r>
              </a:p>
            </p:txBody>
          </p:sp>
          <p:sp>
            <p:nvSpPr>
              <p:cNvPr id="26" name="Textfeld 25">
                <a:extLst>
                  <a:ext uri="{FF2B5EF4-FFF2-40B4-BE49-F238E27FC236}">
                    <a16:creationId xmlns:a16="http://schemas.microsoft.com/office/drawing/2014/main" id="{6FBB204C-145D-A804-3817-359B9C46C1CF}"/>
                  </a:ext>
                </a:extLst>
              </p:cNvPr>
              <p:cNvSpPr txBox="1"/>
              <p:nvPr/>
            </p:nvSpPr>
            <p:spPr>
              <a:xfrm>
                <a:off x="4506666" y="5002292"/>
                <a:ext cx="2190600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600" b="1"/>
                  <a:t>JIP</a:t>
                </a:r>
                <a:r>
                  <a:rPr lang="de-DE"/>
                  <a:t> </a:t>
                </a:r>
              </a:p>
              <a:p>
                <a:pPr algn="ctr"/>
                <a:r>
                  <a:rPr lang="de-DE" sz="1200"/>
                  <a:t>(Josyn-Inter-Process-Protocol)</a:t>
                </a:r>
              </a:p>
            </p:txBody>
          </p:sp>
        </p:grpSp>
      </p:grpSp>
      <p:sp>
        <p:nvSpPr>
          <p:cNvPr id="41" name="Rechteck 40">
            <a:extLst>
              <a:ext uri="{FF2B5EF4-FFF2-40B4-BE49-F238E27FC236}">
                <a16:creationId xmlns:a16="http://schemas.microsoft.com/office/drawing/2014/main" id="{F13693AA-EE15-974D-6A2D-109956D93A5E}"/>
              </a:ext>
            </a:extLst>
          </p:cNvPr>
          <p:cNvSpPr/>
          <p:nvPr/>
        </p:nvSpPr>
        <p:spPr>
          <a:xfrm>
            <a:off x="2423160" y="594238"/>
            <a:ext cx="6254496" cy="5175227"/>
          </a:xfrm>
          <a:prstGeom prst="rect">
            <a:avLst/>
          </a:prstGeom>
          <a:noFill/>
          <a:ln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D37D42F0-1FBE-4A66-E270-4CBA9C02E931}"/>
              </a:ext>
            </a:extLst>
          </p:cNvPr>
          <p:cNvSpPr txBox="1"/>
          <p:nvPr/>
        </p:nvSpPr>
        <p:spPr>
          <a:xfrm>
            <a:off x="2488692" y="575951"/>
            <a:ext cx="22445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>
                <a:solidFill>
                  <a:srgbClr val="002060"/>
                </a:solidFill>
              </a:rPr>
              <a:t>josyn-platform</a:t>
            </a:r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A2A5DB11-EB10-2CA9-CB76-69B6524C2798}"/>
              </a:ext>
            </a:extLst>
          </p:cNvPr>
          <p:cNvSpPr txBox="1"/>
          <p:nvPr/>
        </p:nvSpPr>
        <p:spPr>
          <a:xfrm>
            <a:off x="2765601" y="2077144"/>
            <a:ext cx="137236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i="1">
                <a:solidFill>
                  <a:srgbClr val="7030A0"/>
                </a:solidFill>
              </a:rPr>
              <a:t>Die Backend-</a:t>
            </a:r>
          </a:p>
          <a:p>
            <a:pPr algn="ctr"/>
            <a:r>
              <a:rPr lang="de-DE" sz="1600" i="1">
                <a:solidFill>
                  <a:srgbClr val="7030A0"/>
                </a:solidFill>
              </a:rPr>
              <a:t>Domäne</a:t>
            </a: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141E2B27-4233-536A-7D5F-18278B5DCE6C}"/>
              </a:ext>
            </a:extLst>
          </p:cNvPr>
          <p:cNvSpPr txBox="1"/>
          <p:nvPr/>
        </p:nvSpPr>
        <p:spPr>
          <a:xfrm>
            <a:off x="7063519" y="2061836"/>
            <a:ext cx="130497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i="1">
                <a:solidFill>
                  <a:schemeClr val="tx2">
                    <a:lumMod val="75000"/>
                    <a:lumOff val="25000"/>
                  </a:schemeClr>
                </a:solidFill>
              </a:rPr>
              <a:t>Die Job-Dev-</a:t>
            </a:r>
          </a:p>
          <a:p>
            <a:pPr algn="ctr"/>
            <a:r>
              <a:rPr lang="de-DE" sz="1600" i="1">
                <a:solidFill>
                  <a:schemeClr val="tx2">
                    <a:lumMod val="75000"/>
                    <a:lumOff val="25000"/>
                  </a:schemeClr>
                </a:solidFill>
              </a:rPr>
              <a:t>Domäne</a:t>
            </a:r>
          </a:p>
        </p:txBody>
      </p:sp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EE823AF3-9521-0905-838A-7344983F8593}"/>
              </a:ext>
            </a:extLst>
          </p:cNvPr>
          <p:cNvGrpSpPr/>
          <p:nvPr/>
        </p:nvGrpSpPr>
        <p:grpSpPr>
          <a:xfrm>
            <a:off x="4778425" y="4266463"/>
            <a:ext cx="1615269" cy="495116"/>
            <a:chOff x="5359908" y="5411908"/>
            <a:chExt cx="1615269" cy="495116"/>
          </a:xfrm>
        </p:grpSpPr>
        <p:sp>
          <p:nvSpPr>
            <p:cNvPr id="46" name="Rechteck 45">
              <a:extLst>
                <a:ext uri="{FF2B5EF4-FFF2-40B4-BE49-F238E27FC236}">
                  <a16:creationId xmlns:a16="http://schemas.microsoft.com/office/drawing/2014/main" id="{53931757-4D18-9E83-8E4E-02D445167FE3}"/>
                </a:ext>
              </a:extLst>
            </p:cNvPr>
            <p:cNvSpPr/>
            <p:nvPr/>
          </p:nvSpPr>
          <p:spPr>
            <a:xfrm>
              <a:off x="5359908" y="5411908"/>
              <a:ext cx="1609958" cy="49511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8" name="Textfeld 47">
              <a:extLst>
                <a:ext uri="{FF2B5EF4-FFF2-40B4-BE49-F238E27FC236}">
                  <a16:creationId xmlns:a16="http://schemas.microsoft.com/office/drawing/2014/main" id="{4A73663D-9BD0-461E-75E5-5E38CC4C15FA}"/>
                </a:ext>
              </a:extLst>
            </p:cNvPr>
            <p:cNvSpPr txBox="1"/>
            <p:nvPr/>
          </p:nvSpPr>
          <p:spPr>
            <a:xfrm>
              <a:off x="5416737" y="5469482"/>
              <a:ext cx="15584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i="1"/>
                <a:t>result-pattern</a:t>
              </a:r>
            </a:p>
          </p:txBody>
        </p:sp>
      </p:grpSp>
      <p:sp>
        <p:nvSpPr>
          <p:cNvPr id="54" name="Textfeld 53">
            <a:extLst>
              <a:ext uri="{FF2B5EF4-FFF2-40B4-BE49-F238E27FC236}">
                <a16:creationId xmlns:a16="http://schemas.microsoft.com/office/drawing/2014/main" id="{A90046F5-B61F-B94B-4732-BD4F05F4B529}"/>
              </a:ext>
            </a:extLst>
          </p:cNvPr>
          <p:cNvSpPr txBox="1"/>
          <p:nvPr/>
        </p:nvSpPr>
        <p:spPr>
          <a:xfrm>
            <a:off x="8043342" y="4767218"/>
            <a:ext cx="409133" cy="215444"/>
          </a:xfrm>
          <a:prstGeom prst="rect">
            <a:avLst/>
          </a:prstGeom>
          <a:solidFill>
            <a:srgbClr val="FFFF99"/>
          </a:solidFill>
          <a:ln>
            <a:solidFill>
              <a:schemeClr val="tx1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de-DE" sz="1400" i="1"/>
              <a:t>exe</a:t>
            </a:r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1545B1D8-412B-4C54-6954-9A770CCB46EB}"/>
              </a:ext>
            </a:extLst>
          </p:cNvPr>
          <p:cNvSpPr/>
          <p:nvPr/>
        </p:nvSpPr>
        <p:spPr>
          <a:xfrm>
            <a:off x="4682645" y="5207483"/>
            <a:ext cx="1810819" cy="3626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1150EFE-C115-E4E3-DF07-33F82957C6A6}"/>
              </a:ext>
            </a:extLst>
          </p:cNvPr>
          <p:cNvSpPr txBox="1"/>
          <p:nvPr/>
        </p:nvSpPr>
        <p:spPr>
          <a:xfrm>
            <a:off x="5108993" y="5236916"/>
            <a:ext cx="97174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/>
              <a:t>commons</a:t>
            </a:r>
          </a:p>
        </p:txBody>
      </p:sp>
      <p:cxnSp>
        <p:nvCxnSpPr>
          <p:cNvPr id="14" name="Verbinder: gewinkelt 13">
            <a:extLst>
              <a:ext uri="{FF2B5EF4-FFF2-40B4-BE49-F238E27FC236}">
                <a16:creationId xmlns:a16="http://schemas.microsoft.com/office/drawing/2014/main" id="{17417DA6-BE9A-5AF2-06A0-7D809F546F62}"/>
              </a:ext>
            </a:extLst>
          </p:cNvPr>
          <p:cNvCxnSpPr>
            <a:cxnSpLocks/>
            <a:stCxn id="4" idx="2"/>
            <a:endCxn id="3" idx="1"/>
          </p:cNvCxnSpPr>
          <p:nvPr/>
        </p:nvCxnSpPr>
        <p:spPr>
          <a:xfrm rot="16200000" flipH="1">
            <a:off x="3910628" y="4616785"/>
            <a:ext cx="313883" cy="1230151"/>
          </a:xfrm>
          <a:prstGeom prst="bentConnector2">
            <a:avLst/>
          </a:prstGeom>
          <a:ln w="95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Verbinder: gewinkelt 22">
            <a:extLst>
              <a:ext uri="{FF2B5EF4-FFF2-40B4-BE49-F238E27FC236}">
                <a16:creationId xmlns:a16="http://schemas.microsoft.com/office/drawing/2014/main" id="{E64F10DB-D51F-4117-6FC3-68EFB72C3CC0}"/>
              </a:ext>
            </a:extLst>
          </p:cNvPr>
          <p:cNvCxnSpPr>
            <a:cxnSpLocks/>
            <a:stCxn id="12" idx="2"/>
            <a:endCxn id="3" idx="3"/>
          </p:cNvCxnSpPr>
          <p:nvPr/>
        </p:nvCxnSpPr>
        <p:spPr>
          <a:xfrm rot="5400000">
            <a:off x="6949266" y="4619118"/>
            <a:ext cx="313884" cy="1225487"/>
          </a:xfrm>
          <a:prstGeom prst="bentConnector2">
            <a:avLst/>
          </a:prstGeom>
          <a:ln w="95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5" name="Gruppieren 44">
            <a:extLst>
              <a:ext uri="{FF2B5EF4-FFF2-40B4-BE49-F238E27FC236}">
                <a16:creationId xmlns:a16="http://schemas.microsoft.com/office/drawing/2014/main" id="{E78E623B-CB8E-01B4-1620-3047F3603FCA}"/>
              </a:ext>
            </a:extLst>
          </p:cNvPr>
          <p:cNvGrpSpPr/>
          <p:nvPr/>
        </p:nvGrpSpPr>
        <p:grpSpPr>
          <a:xfrm>
            <a:off x="2790000" y="3259426"/>
            <a:ext cx="1478776" cy="791538"/>
            <a:chOff x="541429" y="351742"/>
            <a:chExt cx="1478776" cy="791538"/>
          </a:xfrm>
        </p:grpSpPr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4149715C-FDB5-2F7B-ADAC-60A402817315}"/>
                </a:ext>
              </a:extLst>
            </p:cNvPr>
            <p:cNvSpPr/>
            <p:nvPr/>
          </p:nvSpPr>
          <p:spPr>
            <a:xfrm>
              <a:off x="548021" y="378232"/>
              <a:ext cx="1472184" cy="765048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D7D1E508-0130-675F-4AEF-A4680A9131C7}"/>
                </a:ext>
              </a:extLst>
            </p:cNvPr>
            <p:cNvSpPr txBox="1"/>
            <p:nvPr/>
          </p:nvSpPr>
          <p:spPr>
            <a:xfrm>
              <a:off x="541429" y="351742"/>
              <a:ext cx="12470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/>
                <a:t>jap-server</a:t>
              </a:r>
            </a:p>
          </p:txBody>
        </p:sp>
        <p:sp>
          <p:nvSpPr>
            <p:cNvPr id="53" name="Textfeld 52">
              <a:extLst>
                <a:ext uri="{FF2B5EF4-FFF2-40B4-BE49-F238E27FC236}">
                  <a16:creationId xmlns:a16="http://schemas.microsoft.com/office/drawing/2014/main" id="{ADE2207A-5807-A4DB-8566-62A04047F8D0}"/>
                </a:ext>
              </a:extLst>
            </p:cNvPr>
            <p:cNvSpPr txBox="1"/>
            <p:nvPr/>
          </p:nvSpPr>
          <p:spPr>
            <a:xfrm>
              <a:off x="1558775" y="855775"/>
              <a:ext cx="409133" cy="215444"/>
            </a:xfrm>
            <a:prstGeom prst="rect">
              <a:avLst/>
            </a:prstGeom>
            <a:solidFill>
              <a:srgbClr val="FFFF99"/>
            </a:solidFill>
            <a:ln>
              <a:solidFill>
                <a:schemeClr val="tx1"/>
              </a:solidFill>
            </a:ln>
          </p:spPr>
          <p:txBody>
            <a:bodyPr wrap="none" lIns="72000" tIns="0" rIns="72000" bIns="0" rtlCol="0">
              <a:spAutoFit/>
            </a:bodyPr>
            <a:lstStyle/>
            <a:p>
              <a:r>
                <a:rPr lang="de-DE" sz="1400" i="1"/>
                <a:t>exe</a:t>
              </a:r>
            </a:p>
          </p:txBody>
        </p:sp>
      </p:grp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A24D6DA9-E6F1-C819-1CF2-7BA1B95484B9}"/>
              </a:ext>
            </a:extLst>
          </p:cNvPr>
          <p:cNvGrpSpPr/>
          <p:nvPr/>
        </p:nvGrpSpPr>
        <p:grpSpPr>
          <a:xfrm>
            <a:off x="6900963" y="3259426"/>
            <a:ext cx="1485126" cy="791538"/>
            <a:chOff x="482782" y="1498463"/>
            <a:chExt cx="1485126" cy="791538"/>
          </a:xfrm>
        </p:grpSpPr>
        <p:sp>
          <p:nvSpPr>
            <p:cNvPr id="31" name="Rechteck 30">
              <a:extLst>
                <a:ext uri="{FF2B5EF4-FFF2-40B4-BE49-F238E27FC236}">
                  <a16:creationId xmlns:a16="http://schemas.microsoft.com/office/drawing/2014/main" id="{79A01BC2-F4AE-1395-95C8-3F3D592FF21E}"/>
                </a:ext>
              </a:extLst>
            </p:cNvPr>
            <p:cNvSpPr/>
            <p:nvPr/>
          </p:nvSpPr>
          <p:spPr>
            <a:xfrm>
              <a:off x="495724" y="1524953"/>
              <a:ext cx="1472184" cy="765048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3F0004E6-94BC-BDE5-C21F-EF8B134297B1}"/>
                </a:ext>
              </a:extLst>
            </p:cNvPr>
            <p:cNvSpPr txBox="1"/>
            <p:nvPr/>
          </p:nvSpPr>
          <p:spPr>
            <a:xfrm>
              <a:off x="482782" y="1498463"/>
              <a:ext cx="10579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job-host</a:t>
              </a:r>
            </a:p>
          </p:txBody>
        </p:sp>
        <p:sp>
          <p:nvSpPr>
            <p:cNvPr id="34" name="Textfeld 33">
              <a:extLst>
                <a:ext uri="{FF2B5EF4-FFF2-40B4-BE49-F238E27FC236}">
                  <a16:creationId xmlns:a16="http://schemas.microsoft.com/office/drawing/2014/main" id="{9518B670-0E28-A235-4230-C112668803C1}"/>
                </a:ext>
              </a:extLst>
            </p:cNvPr>
            <p:cNvSpPr txBox="1"/>
            <p:nvPr/>
          </p:nvSpPr>
          <p:spPr>
            <a:xfrm>
              <a:off x="1332488" y="2003766"/>
              <a:ext cx="580077" cy="215444"/>
            </a:xfrm>
            <a:prstGeom prst="rect">
              <a:avLst/>
            </a:prstGeom>
            <a:solidFill>
              <a:srgbClr val="FFFF99"/>
            </a:solidFill>
            <a:ln>
              <a:solidFill>
                <a:schemeClr val="tx1"/>
              </a:solidFill>
            </a:ln>
          </p:spPr>
          <p:txBody>
            <a:bodyPr wrap="none" lIns="72000" tIns="0" rIns="72000" bIns="0" rtlCol="0">
              <a:spAutoFit/>
            </a:bodyPr>
            <a:lstStyle/>
            <a:p>
              <a:r>
                <a:rPr lang="de-DE" sz="1400" i="1"/>
                <a:t>nuget</a:t>
              </a:r>
            </a:p>
          </p:txBody>
        </p:sp>
      </p:grp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BDEBFD5A-F51B-9CE9-43D7-C7F938F12E29}"/>
              </a:ext>
            </a:extLst>
          </p:cNvPr>
          <p:cNvCxnSpPr>
            <a:cxnSpLocks/>
            <a:stCxn id="3" idx="0"/>
            <a:endCxn id="46" idx="2"/>
          </p:cNvCxnSpPr>
          <p:nvPr/>
        </p:nvCxnSpPr>
        <p:spPr>
          <a:xfrm flipH="1" flipV="1">
            <a:off x="5583404" y="4761579"/>
            <a:ext cx="4651" cy="44590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64C30896-5027-8C04-98A6-7683B69390F7}"/>
              </a:ext>
            </a:extLst>
          </p:cNvPr>
          <p:cNvCxnSpPr>
            <a:cxnSpLocks/>
            <a:stCxn id="22" idx="5"/>
            <a:endCxn id="46" idx="0"/>
          </p:cNvCxnSpPr>
          <p:nvPr/>
        </p:nvCxnSpPr>
        <p:spPr>
          <a:xfrm>
            <a:off x="5577444" y="3853277"/>
            <a:ext cx="5960" cy="41318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714AE6AB-4D55-011C-2F94-AD4959EE9000}"/>
              </a:ext>
            </a:extLst>
          </p:cNvPr>
          <p:cNvCxnSpPr>
            <a:cxnSpLocks/>
            <a:endCxn id="46" idx="1"/>
          </p:cNvCxnSpPr>
          <p:nvPr/>
        </p:nvCxnSpPr>
        <p:spPr>
          <a:xfrm>
            <a:off x="4270247" y="4514021"/>
            <a:ext cx="508178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 Verbindung mit Pfeil 71">
            <a:extLst>
              <a:ext uri="{FF2B5EF4-FFF2-40B4-BE49-F238E27FC236}">
                <a16:creationId xmlns:a16="http://schemas.microsoft.com/office/drawing/2014/main" id="{C0A3AAFD-0D01-454B-CE60-1F7B4FBA677C}"/>
              </a:ext>
            </a:extLst>
          </p:cNvPr>
          <p:cNvCxnSpPr>
            <a:cxnSpLocks/>
            <a:endCxn id="46" idx="3"/>
          </p:cNvCxnSpPr>
          <p:nvPr/>
        </p:nvCxnSpPr>
        <p:spPr>
          <a:xfrm flipH="1">
            <a:off x="6388383" y="4514021"/>
            <a:ext cx="525522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Pfeil: nach oben 99">
            <a:extLst>
              <a:ext uri="{FF2B5EF4-FFF2-40B4-BE49-F238E27FC236}">
                <a16:creationId xmlns:a16="http://schemas.microsoft.com/office/drawing/2014/main" id="{51B9400E-7AA8-7637-F052-3C910712658E}"/>
              </a:ext>
            </a:extLst>
          </p:cNvPr>
          <p:cNvSpPr/>
          <p:nvPr/>
        </p:nvSpPr>
        <p:spPr>
          <a:xfrm>
            <a:off x="5466978" y="3109203"/>
            <a:ext cx="203200" cy="350142"/>
          </a:xfrm>
          <a:prstGeom prst="upArrow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1" name="Pfeil: nach oben 100">
            <a:extLst>
              <a:ext uri="{FF2B5EF4-FFF2-40B4-BE49-F238E27FC236}">
                <a16:creationId xmlns:a16="http://schemas.microsoft.com/office/drawing/2014/main" id="{6F7032E1-D5C5-6B5A-263E-E943BDFFF6C9}"/>
              </a:ext>
            </a:extLst>
          </p:cNvPr>
          <p:cNvSpPr/>
          <p:nvPr/>
        </p:nvSpPr>
        <p:spPr>
          <a:xfrm>
            <a:off x="4522788" y="1150405"/>
            <a:ext cx="103159" cy="1821394"/>
          </a:xfrm>
          <a:prstGeom prst="upArrow">
            <a:avLst>
              <a:gd name="adj1" fmla="val 31533"/>
              <a:gd name="adj2" fmla="val 107708"/>
            </a:avLst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EA5C7B00-C408-E87B-AB18-BDB09D8A4281}"/>
              </a:ext>
            </a:extLst>
          </p:cNvPr>
          <p:cNvSpPr/>
          <p:nvPr/>
        </p:nvSpPr>
        <p:spPr>
          <a:xfrm rot="16200000">
            <a:off x="3917831" y="1971594"/>
            <a:ext cx="1320610" cy="19428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CA71FF72-8234-5756-5BF5-3D9176751508}"/>
              </a:ext>
            </a:extLst>
          </p:cNvPr>
          <p:cNvSpPr txBox="1"/>
          <p:nvPr/>
        </p:nvSpPr>
        <p:spPr>
          <a:xfrm rot="16200000">
            <a:off x="3908631" y="1974749"/>
            <a:ext cx="1320609" cy="184666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r>
              <a:rPr lang="de-DE" sz="1200" b="1">
                <a:solidFill>
                  <a:srgbClr val="002060"/>
                </a:solidFill>
              </a:rPr>
              <a:t>JAP</a:t>
            </a:r>
            <a:r>
              <a:rPr lang="de-DE" sz="1200">
                <a:solidFill>
                  <a:srgbClr val="002060"/>
                </a:solidFill>
              </a:rPr>
              <a:t> protocol-stack</a:t>
            </a:r>
          </a:p>
        </p:txBody>
      </p:sp>
    </p:spTree>
    <p:extLst>
      <p:ext uri="{BB962C8B-B14F-4D97-AF65-F5344CB8AC3E}">
        <p14:creationId xmlns:p14="http://schemas.microsoft.com/office/powerpoint/2010/main" val="9413113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796</Words>
  <Application>Microsoft Office PowerPoint</Application>
  <PresentationFormat>Breitbild</PresentationFormat>
  <Paragraphs>224</Paragraphs>
  <Slides>13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Christofer Kluth</dc:creator>
  <cp:lastModifiedBy>Kluth, Christofer</cp:lastModifiedBy>
  <cp:revision>7</cp:revision>
  <dcterms:created xsi:type="dcterms:W3CDTF">2026-06-10T06:03:57Z</dcterms:created>
  <dcterms:modified xsi:type="dcterms:W3CDTF">2026-06-11T15:49:14Z</dcterms:modified>
</cp:coreProperties>
</file>