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62" r:id="rId9"/>
    <p:sldId id="270" r:id="rId10"/>
    <p:sldId id="269" r:id="rId11"/>
    <p:sldId id="25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/>
              <a:t>Nach </a:t>
            </a:r>
            <a:r>
              <a:rPr lang="de-DE" sz="4400" b="1" i="1"/>
              <a:t>10</a:t>
            </a:r>
            <a:r>
              <a:rPr lang="de-DE" sz="4400" i="1"/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4400" b="1"/>
          </a:p>
          <a:p>
            <a:pPr algn="ctr"/>
            <a:r>
              <a:rPr lang="de-DE" sz="4400"/>
              <a:t>Noch fit für die Zukunft?</a:t>
            </a:r>
          </a:p>
          <a:p>
            <a:pPr algn="ctr"/>
            <a:r>
              <a:rPr lang="de-DE" sz="4400"/>
              <a:t>Zeit für die Rente?</a:t>
            </a:r>
          </a:p>
          <a:p>
            <a:pPr algn="ctr"/>
            <a:r>
              <a:rPr lang="de-DE" sz="4400" b="1" i="1"/>
              <a:t>Was kommt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/>
              <a:t>WCF-Server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Schulungsaufwand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Zukunft? 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941191" y="260230"/>
            <a:ext cx="10309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Diagnosen-Liste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>
                <a:solidFill>
                  <a:srgbClr val="FF0000"/>
                </a:solidFill>
              </a:rPr>
              <a:t>„company-fit“</a:t>
            </a:r>
            <a:r>
              <a:rPr lang="de-DE"/>
              <a:t>: das System ist z.B. nicht fit, eine zukünftige, härtere </a:t>
            </a:r>
            <a:r>
              <a:rPr lang="de-DE" b="1"/>
              <a:t>change-policy</a:t>
            </a:r>
            <a:r>
              <a:rPr lang="de-DE"/>
              <a:t> mitzugehen. Eine vollständige, saubere </a:t>
            </a:r>
            <a:r>
              <a:rPr lang="de-DE" b="1"/>
              <a:t>CI/CD-Integration</a:t>
            </a:r>
            <a:r>
              <a:rPr lang="de-DE"/>
              <a:t> und ein - im besten Fall automatisches – sauberes </a:t>
            </a:r>
            <a:r>
              <a:rPr lang="de-DE" b="1"/>
              <a:t>change-audit</a:t>
            </a:r>
            <a:r>
              <a:rPr lang="de-DE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 die mit dem JobHost per CLI-Calls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24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Aufwand! </a:t>
            </a:r>
          </a:p>
          <a:p>
            <a:pPr algn="ctr"/>
            <a:r>
              <a:rPr lang="de-DE" sz="24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 (falls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oder TPM-Initiative?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Wie, Wer, Was…. </a:t>
            </a:r>
          </a:p>
          <a:p>
            <a:r>
              <a:rPr lang="de-DE" sz="2000" b="1"/>
              <a:t>=&gt; Hausaufgaben für den Owner dieses Termins, oder andere Leute…</a:t>
            </a:r>
            <a:r>
              <a:rPr lang="de-DE" sz="3200" b="1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4F1D6A53-778D-D4CA-DF28-B32614F2BC67}"/>
              </a:ext>
            </a:extLst>
          </p:cNvPr>
          <p:cNvCxnSpPr>
            <a:cxnSpLocks/>
          </p:cNvCxnSpPr>
          <p:nvPr/>
        </p:nvCxnSpPr>
        <p:spPr>
          <a:xfrm>
            <a:off x="7102757" y="1426819"/>
            <a:ext cx="34835" cy="4038599"/>
          </a:xfrm>
          <a:prstGeom prst="line">
            <a:avLst/>
          </a:prstGeom>
          <a:ln w="28575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7BD7EA1E-C351-FA16-597F-C8904AEE55E8}"/>
              </a:ext>
            </a:extLst>
          </p:cNvPr>
          <p:cNvSpPr txBox="1"/>
          <p:nvPr/>
        </p:nvSpPr>
        <p:spPr>
          <a:xfrm>
            <a:off x="7328885" y="1160517"/>
            <a:ext cx="3508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„CKL-Domain“ </a:t>
            </a:r>
            <a:r>
              <a:rPr lang="de-DE" sz="2400">
                <a:solidFill>
                  <a:srgbClr val="002060"/>
                </a:solidFill>
              </a:rPr>
              <a:t>(GitHub)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48A6FD9-47FD-C5EB-4F97-78E97694F368}"/>
              </a:ext>
            </a:extLst>
          </p:cNvPr>
          <p:cNvSpPr txBox="1"/>
          <p:nvPr/>
        </p:nvSpPr>
        <p:spPr>
          <a:xfrm>
            <a:off x="1341628" y="1119007"/>
            <a:ext cx="2193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HÄVG-Domain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D900BFE-C88A-3A8A-B9AB-D4E4F9F8A368}"/>
              </a:ext>
            </a:extLst>
          </p:cNvPr>
          <p:cNvSpPr txBox="1"/>
          <p:nvPr/>
        </p:nvSpPr>
        <p:spPr>
          <a:xfrm>
            <a:off x="4331617" y="1091885"/>
            <a:ext cx="228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„Staging-Area“</a:t>
            </a:r>
          </a:p>
        </p:txBody>
      </p:sp>
      <p:sp>
        <p:nvSpPr>
          <p:cNvPr id="15" name="Pfeil: nach links 14">
            <a:extLst>
              <a:ext uri="{FF2B5EF4-FFF2-40B4-BE49-F238E27FC236}">
                <a16:creationId xmlns:a16="http://schemas.microsoft.com/office/drawing/2014/main" id="{2C0A912A-2832-E5FD-10A4-D85EAC1FA583}"/>
              </a:ext>
            </a:extLst>
          </p:cNvPr>
          <p:cNvSpPr/>
          <p:nvPr/>
        </p:nvSpPr>
        <p:spPr>
          <a:xfrm>
            <a:off x="6504181" y="3292980"/>
            <a:ext cx="1131789" cy="392399"/>
          </a:xfrm>
          <a:prstGeom prst="leftArrow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258206-4131-12A3-660F-17B889C6B58A}"/>
              </a:ext>
            </a:extLst>
          </p:cNvPr>
          <p:cNvSpPr/>
          <p:nvPr/>
        </p:nvSpPr>
        <p:spPr>
          <a:xfrm>
            <a:off x="4652324" y="3114618"/>
            <a:ext cx="1507308" cy="74295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Proposal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1B297BD-EB29-7936-AFE6-4B0B3CCC06CA}"/>
              </a:ext>
            </a:extLst>
          </p:cNvPr>
          <p:cNvSpPr/>
          <p:nvPr/>
        </p:nvSpPr>
        <p:spPr>
          <a:xfrm>
            <a:off x="4666906" y="4144686"/>
            <a:ext cx="1507308" cy="74295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Proposal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0575A8D-8C72-B615-A545-E12FE53533E5}"/>
              </a:ext>
            </a:extLst>
          </p:cNvPr>
          <p:cNvSpPr/>
          <p:nvPr/>
        </p:nvSpPr>
        <p:spPr>
          <a:xfrm>
            <a:off x="4652324" y="2070503"/>
            <a:ext cx="1507308" cy="74295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Proposal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2063DA56-F4AD-AC48-CCFA-10F491C2F167}"/>
              </a:ext>
            </a:extLst>
          </p:cNvPr>
          <p:cNvSpPr/>
          <p:nvPr/>
        </p:nvSpPr>
        <p:spPr>
          <a:xfrm>
            <a:off x="1534315" y="1943669"/>
            <a:ext cx="1507308" cy="7429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Decision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6BCAFD35-9659-BAB9-4F1B-2ACD5A03309D}"/>
              </a:ext>
            </a:extLst>
          </p:cNvPr>
          <p:cNvSpPr/>
          <p:nvPr/>
        </p:nvSpPr>
        <p:spPr>
          <a:xfrm>
            <a:off x="1534315" y="3093694"/>
            <a:ext cx="1507308" cy="7429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Decision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7C1F23F-BCC7-4F6C-01C3-846DEC0EFEC0}"/>
              </a:ext>
            </a:extLst>
          </p:cNvPr>
          <p:cNvSpPr/>
          <p:nvPr/>
        </p:nvSpPr>
        <p:spPr>
          <a:xfrm>
            <a:off x="1514132" y="4208119"/>
            <a:ext cx="1507308" cy="7429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Decision</a:t>
            </a:r>
          </a:p>
        </p:txBody>
      </p:sp>
      <p:sp>
        <p:nvSpPr>
          <p:cNvPr id="25" name="Pfeil: nach oben 24">
            <a:extLst>
              <a:ext uri="{FF2B5EF4-FFF2-40B4-BE49-F238E27FC236}">
                <a16:creationId xmlns:a16="http://schemas.microsoft.com/office/drawing/2014/main" id="{CB618802-2A98-C1E1-C645-F0980876EF22}"/>
              </a:ext>
            </a:extLst>
          </p:cNvPr>
          <p:cNvSpPr/>
          <p:nvPr/>
        </p:nvSpPr>
        <p:spPr>
          <a:xfrm>
            <a:off x="8771563" y="1707299"/>
            <a:ext cx="1886122" cy="3674326"/>
          </a:xfrm>
          <a:prstGeom prst="upArrow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D624151-C93A-C1A6-942A-96A2AF69F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0521" y="5829802"/>
            <a:ext cx="953091" cy="953091"/>
          </a:xfrm>
          <a:prstGeom prst="rect">
            <a:avLst/>
          </a:prstGeom>
        </p:spPr>
      </p:pic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D9EE726-1AF9-8340-FED4-B3EFF74430DA}"/>
              </a:ext>
            </a:extLst>
          </p:cNvPr>
          <p:cNvCxnSpPr>
            <a:cxnSpLocks/>
          </p:cNvCxnSpPr>
          <p:nvPr/>
        </p:nvCxnSpPr>
        <p:spPr>
          <a:xfrm>
            <a:off x="3838575" y="1426819"/>
            <a:ext cx="18730" cy="403859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952CADCB-1CB0-F1CA-741C-CB151AC44414}"/>
              </a:ext>
            </a:extLst>
          </p:cNvPr>
          <p:cNvSpPr/>
          <p:nvPr/>
        </p:nvSpPr>
        <p:spPr>
          <a:xfrm>
            <a:off x="3429296" y="2686619"/>
            <a:ext cx="888973" cy="1590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Pfeil: nach links 26">
            <a:extLst>
              <a:ext uri="{FF2B5EF4-FFF2-40B4-BE49-F238E27FC236}">
                <a16:creationId xmlns:a16="http://schemas.microsoft.com/office/drawing/2014/main" id="{D78CB09B-750F-9588-B243-6B065C35AC72}"/>
              </a:ext>
            </a:extLst>
          </p:cNvPr>
          <p:cNvSpPr/>
          <p:nvPr/>
        </p:nvSpPr>
        <p:spPr>
          <a:xfrm>
            <a:off x="3221126" y="3202294"/>
            <a:ext cx="1131789" cy="392399"/>
          </a:xfrm>
          <a:prstGeom prst="leftArrow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B265D967-E0F6-75E0-AD93-28D8EEA450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4382" y="2614658"/>
            <a:ext cx="660908" cy="660908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18167" y="60504"/>
            <a:ext cx="68514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Vorschlag für einen </a:t>
            </a:r>
            <a:r>
              <a:rPr lang="de-DE" sz="2400" b="1">
                <a:solidFill>
                  <a:srgbClr val="0070C0"/>
                </a:solidFill>
              </a:rPr>
              <a:t>effizienteten</a:t>
            </a:r>
            <a:r>
              <a:rPr lang="de-DE" sz="2400" b="1"/>
              <a:t> Arbeitsmodus</a:t>
            </a:r>
          </a:p>
          <a:p>
            <a:r>
              <a:rPr lang="de-DE" sz="2400" b="1"/>
              <a:t>für die ersten Milestones… </a:t>
            </a:r>
            <a:r>
              <a:rPr lang="de-DE" sz="2400"/>
              <a:t>(„logisches Modell“)</a:t>
            </a:r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606A1F1B-FF16-5FB9-1B7C-71990D18D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477288" y="3339313"/>
            <a:ext cx="742950" cy="742950"/>
          </a:xfrm>
          <a:prstGeom prst="rect">
            <a:avLst/>
          </a:prstGeom>
        </p:spPr>
      </p:pic>
      <p:pic>
        <p:nvPicPr>
          <p:cNvPr id="42" name="Grafik 41">
            <a:extLst>
              <a:ext uri="{FF2B5EF4-FFF2-40B4-BE49-F238E27FC236}">
                <a16:creationId xmlns:a16="http://schemas.microsoft.com/office/drawing/2014/main" id="{5774CF2A-F904-6D24-37CE-0FFA714580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54049">
            <a:off x="9034888" y="2988045"/>
            <a:ext cx="1455857" cy="1455857"/>
          </a:xfrm>
          <a:prstGeom prst="rect">
            <a:avLst/>
          </a:prstGeom>
        </p:spPr>
      </p:pic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76BD3CD9-1AA6-01F6-ECFD-1B3E54261B80}"/>
              </a:ext>
            </a:extLst>
          </p:cNvPr>
          <p:cNvCxnSpPr>
            <a:cxnSpLocks/>
          </p:cNvCxnSpPr>
          <p:nvPr/>
        </p:nvCxnSpPr>
        <p:spPr>
          <a:xfrm>
            <a:off x="4373581" y="5465418"/>
            <a:ext cx="2245072" cy="0"/>
          </a:xfrm>
          <a:prstGeom prst="line">
            <a:avLst/>
          </a:prstGeom>
          <a:ln w="28575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feil: nach links 29">
            <a:extLst>
              <a:ext uri="{FF2B5EF4-FFF2-40B4-BE49-F238E27FC236}">
                <a16:creationId xmlns:a16="http://schemas.microsoft.com/office/drawing/2014/main" id="{23F6AB9C-6C3F-7896-F149-587F6EA65541}"/>
              </a:ext>
            </a:extLst>
          </p:cNvPr>
          <p:cNvSpPr/>
          <p:nvPr/>
        </p:nvSpPr>
        <p:spPr>
          <a:xfrm rot="16200000">
            <a:off x="5070455" y="5233551"/>
            <a:ext cx="742952" cy="392399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4CE273E4-DACC-18FE-B1F2-F22205DF295C}"/>
              </a:ext>
            </a:extLst>
          </p:cNvPr>
          <p:cNvSpPr/>
          <p:nvPr/>
        </p:nvSpPr>
        <p:spPr>
          <a:xfrm>
            <a:off x="7793318" y="3074643"/>
            <a:ext cx="1240011" cy="74295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/>
              <a:t>Raw</a:t>
            </a:r>
          </a:p>
        </p:txBody>
      </p:sp>
      <p:pic>
        <p:nvPicPr>
          <p:cNvPr id="54" name="Grafik 53">
            <a:extLst>
              <a:ext uri="{FF2B5EF4-FFF2-40B4-BE49-F238E27FC236}">
                <a16:creationId xmlns:a16="http://schemas.microsoft.com/office/drawing/2014/main" id="{F4B67388-3290-E097-0F90-89890F1565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07654" y="4866655"/>
            <a:ext cx="742950" cy="742950"/>
          </a:xfrm>
          <a:prstGeom prst="rect">
            <a:avLst/>
          </a:prstGeom>
        </p:spPr>
      </p:pic>
      <p:pic>
        <p:nvPicPr>
          <p:cNvPr id="55" name="Grafik 54">
            <a:extLst>
              <a:ext uri="{FF2B5EF4-FFF2-40B4-BE49-F238E27FC236}">
                <a16:creationId xmlns:a16="http://schemas.microsoft.com/office/drawing/2014/main" id="{BB923A5B-0DCC-6EC9-543A-79CED09BB2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508192" y="3662543"/>
            <a:ext cx="74295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4812358" y="3182254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278442" y="3049876"/>
              <a:ext cx="1478776" cy="791538"/>
              <a:chOff x="541429" y="351742"/>
              <a:chExt cx="1478776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548021" y="378232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541429" y="351742"/>
                <a:ext cx="1247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jap-server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1558775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791538"/>
              <a:chOff x="482782" y="1498463"/>
              <a:chExt cx="1485126" cy="791538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219255" y="395109"/>
            <a:ext cx="54011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Die Lösung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Schaffung eines leichtgewichtigen one-to-one-Application-Protocols.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!):</a:t>
            </a:r>
          </a:p>
          <a:p>
            <a:endParaRPr lang="de-DE" sz="1800"/>
          </a:p>
          <a:p>
            <a:r>
              <a:rPr lang="de-DE" sz="1800" b="1"/>
              <a:t>Zwei logisch, technologisch, architekturell getrennte </a:t>
            </a:r>
            <a:r>
              <a:rPr lang="de-DE" sz="1800" b="1" i="1"/>
              <a:t>Domänen</a:t>
            </a:r>
          </a:p>
          <a:p>
            <a:r>
              <a:rPr lang="de-DE" sz="1800"/>
              <a:t>mit einer l</a:t>
            </a:r>
            <a:r>
              <a:rPr lang="de-DE"/>
              <a:t>eichtgewichtige Kopplung über das JAP-Protokoll.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983234" y="1244658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7279732" y="12446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4689676" y="1251534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2788920" y="740542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854452" y="722255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131361" y="2223448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7429279" y="2208140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5144185" y="44127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8409102" y="49135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5048405" y="53537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5474753" y="53832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4276388" y="4763089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7315026" y="47654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3155760" y="3405730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7266723" y="3405730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949164" y="49078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943204" y="39995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636007" y="4660325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754143" y="46603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5832738" y="32555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4888548" y="12967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4283591" y="2117898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4274391" y="212105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893</Words>
  <Application>Microsoft Office PowerPoint</Application>
  <PresentationFormat>Breitbild</PresentationFormat>
  <Paragraphs>162</Paragraphs>
  <Slides>11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13</cp:revision>
  <dcterms:created xsi:type="dcterms:W3CDTF">2026-06-10T06:03:57Z</dcterms:created>
  <dcterms:modified xsi:type="dcterms:W3CDTF">2026-06-13T06:36:17Z</dcterms:modified>
</cp:coreProperties>
</file>