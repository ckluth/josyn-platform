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99" d="100"/>
          <a:sy n="99" d="100"/>
        </p:scale>
        <p:origin x="666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z.B.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D73ECB46-C9A9-DAF5-D3DE-40D24C072F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569" y="2886721"/>
            <a:ext cx="842786" cy="84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effizienten Arbeitsmodus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ersten Milestones - bis zu einem </a:t>
            </a:r>
            <a:r>
              <a:rPr lang="de-DE" sz="2000" i="1"/>
              <a:t>expliziten Moduswechsel</a:t>
            </a:r>
            <a:r>
              <a:rPr lang="de-DE" sz="2000"/>
              <a:t> - (ein „</a:t>
            </a:r>
            <a:r>
              <a:rPr lang="de-DE" sz="2000">
                <a:solidFill>
                  <a:srgbClr val="7030A0"/>
                </a:solidFill>
              </a:rPr>
              <a:t>logisches</a:t>
            </a:r>
            <a:r>
              <a:rPr lang="de-DE" sz="2000"/>
              <a:t> </a:t>
            </a:r>
            <a:r>
              <a:rPr lang="de-DE" sz="2000" b="1">
                <a:solidFill>
                  <a:srgbClr val="7030A0"/>
                </a:solidFill>
              </a:rPr>
              <a:t>Modell</a:t>
            </a:r>
            <a:r>
              <a:rPr lang="de-DE" sz="2000"/>
              <a:t>“)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F9DF1980-87A5-DF9B-4C35-F25E1B10BBE9}"/>
              </a:ext>
            </a:extLst>
          </p:cNvPr>
          <p:cNvGrpSpPr/>
          <p:nvPr/>
        </p:nvGrpSpPr>
        <p:grpSpPr>
          <a:xfrm>
            <a:off x="410130" y="965799"/>
            <a:ext cx="10681992" cy="5738097"/>
            <a:chOff x="410130" y="965799"/>
            <a:chExt cx="10681992" cy="5738097"/>
          </a:xfrm>
        </p:grpSpPr>
        <p:graphicFrame>
          <p:nvGraphicFramePr>
            <p:cNvPr id="2" name="Objekt 1">
              <a:extLst>
                <a:ext uri="{FF2B5EF4-FFF2-40B4-BE49-F238E27FC236}">
                  <a16:creationId xmlns:a16="http://schemas.microsoft.com/office/drawing/2014/main" id="{D5ECA142-B412-E0D5-06F1-656EF56CD97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32221289"/>
                </p:ext>
              </p:extLst>
            </p:nvPr>
          </p:nvGraphicFramePr>
          <p:xfrm>
            <a:off x="3268342" y="965799"/>
            <a:ext cx="1009391" cy="4907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Image" r:id="rId3" imgW="10638619" imgH="5172693" progId="Photoshop.Image.7">
                    <p:embed/>
                  </p:oleObj>
                </mc:Choice>
                <mc:Fallback>
                  <p:oleObj name="Image" r:id="rId3" imgW="10638619" imgH="5172693" progId="Photoshop.Image.7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3268342" y="965799"/>
                          <a:ext cx="1009391" cy="4907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4F1D6A53-778D-D4CA-DF28-B32614F2BC67}"/>
                </a:ext>
              </a:extLst>
            </p:cNvPr>
            <p:cNvCxnSpPr>
              <a:cxnSpLocks/>
            </p:cNvCxnSpPr>
            <p:nvPr/>
          </p:nvCxnSpPr>
          <p:spPr>
            <a:xfrm>
              <a:off x="4427643" y="1378047"/>
              <a:ext cx="34835" cy="4038599"/>
            </a:xfrm>
            <a:prstGeom prst="line">
              <a:avLst/>
            </a:prstGeom>
            <a:ln w="28575"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7BD7EA1E-C351-FA16-597F-C8904AEE55E8}"/>
                </a:ext>
              </a:extLst>
            </p:cNvPr>
            <p:cNvSpPr txBox="1"/>
            <p:nvPr/>
          </p:nvSpPr>
          <p:spPr>
            <a:xfrm>
              <a:off x="410130" y="996619"/>
              <a:ext cx="326467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2400" b="1">
                  <a:solidFill>
                    <a:srgbClr val="002060"/>
                  </a:solidFill>
                </a:rPr>
                <a:t>„speedboat-lane“ </a:t>
              </a:r>
            </a:p>
            <a:p>
              <a:pPr algn="ctr"/>
              <a:r>
                <a:rPr lang="de-DE" sz="2400">
                  <a:solidFill>
                    <a:srgbClr val="002060"/>
                  </a:solidFill>
                </a:rPr>
                <a:t>(ckluth/haevg - GitHub)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F48A6FD9-47FD-C5EB-4F97-78E97694F368}"/>
                </a:ext>
              </a:extLst>
            </p:cNvPr>
            <p:cNvSpPr txBox="1"/>
            <p:nvPr/>
          </p:nvSpPr>
          <p:spPr>
            <a:xfrm>
              <a:off x="8143751" y="1012888"/>
              <a:ext cx="29483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chemeClr val="accent6">
                      <a:lumMod val="50000"/>
                    </a:schemeClr>
                  </a:solidFill>
                </a:rPr>
                <a:t>HÄVG-SWE-Domain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D900BFE-C88A-3A8A-B9AB-D4E4F9F8A368}"/>
                </a:ext>
              </a:extLst>
            </p:cNvPr>
            <p:cNvSpPr txBox="1"/>
            <p:nvPr/>
          </p:nvSpPr>
          <p:spPr>
            <a:xfrm>
              <a:off x="4963072" y="1012888"/>
              <a:ext cx="22279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70C0"/>
                  </a:solidFill>
                </a:rPr>
                <a:t>„staging-pipe“</a:t>
              </a: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39258206-4131-12A3-660F-17B889C6B58A}"/>
                </a:ext>
              </a:extLst>
            </p:cNvPr>
            <p:cNvSpPr/>
            <p:nvPr/>
          </p:nvSpPr>
          <p:spPr>
            <a:xfrm>
              <a:off x="5283779" y="3035621"/>
              <a:ext cx="1507308" cy="7429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Proposal</a:t>
              </a: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71B297BD-EB29-7936-AFE6-4B0B3CCC06CA}"/>
                </a:ext>
              </a:extLst>
            </p:cNvPr>
            <p:cNvSpPr/>
            <p:nvPr/>
          </p:nvSpPr>
          <p:spPr>
            <a:xfrm>
              <a:off x="5298361" y="4065689"/>
              <a:ext cx="1507308" cy="7429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Proposal</a:t>
              </a: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90575A8D-8C72-B615-A545-E12FE53533E5}"/>
                </a:ext>
              </a:extLst>
            </p:cNvPr>
            <p:cNvSpPr/>
            <p:nvPr/>
          </p:nvSpPr>
          <p:spPr>
            <a:xfrm>
              <a:off x="5283779" y="1991506"/>
              <a:ext cx="1507308" cy="7429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Proposal</a:t>
              </a: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2063DA56-F4AD-AC48-CCFA-10F491C2F167}"/>
                </a:ext>
              </a:extLst>
            </p:cNvPr>
            <p:cNvSpPr/>
            <p:nvPr/>
          </p:nvSpPr>
          <p:spPr>
            <a:xfrm>
              <a:off x="8806465" y="1912429"/>
              <a:ext cx="1507308" cy="74295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Decision</a:t>
              </a: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6BCAFD35-9659-BAB9-4F1B-2ACD5A03309D}"/>
                </a:ext>
              </a:extLst>
            </p:cNvPr>
            <p:cNvSpPr/>
            <p:nvPr/>
          </p:nvSpPr>
          <p:spPr>
            <a:xfrm>
              <a:off x="8806465" y="3062454"/>
              <a:ext cx="1507308" cy="74295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Decision</a:t>
              </a:r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57C1F23F-BCC7-4F6C-01C3-846DEC0EFEC0}"/>
                </a:ext>
              </a:extLst>
            </p:cNvPr>
            <p:cNvSpPr/>
            <p:nvPr/>
          </p:nvSpPr>
          <p:spPr>
            <a:xfrm>
              <a:off x="8786282" y="4176879"/>
              <a:ext cx="1507308" cy="74295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Decision</a:t>
              </a:r>
            </a:p>
          </p:txBody>
        </p:sp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FD624151-C93A-C1A6-942A-96A2AF69F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31976" y="5750805"/>
              <a:ext cx="953091" cy="953091"/>
            </a:xfrm>
            <a:prstGeom prst="rect">
              <a:avLst/>
            </a:prstGeom>
          </p:spPr>
        </p:pic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D9EE726-1AF9-8340-FED4-B3EFF74430DA}"/>
                </a:ext>
              </a:extLst>
            </p:cNvPr>
            <p:cNvCxnSpPr>
              <a:cxnSpLocks/>
            </p:cNvCxnSpPr>
            <p:nvPr/>
          </p:nvCxnSpPr>
          <p:spPr>
            <a:xfrm>
              <a:off x="7870828" y="1330703"/>
              <a:ext cx="18730" cy="4038599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952CADCB-1CB0-F1CA-741C-CB151AC44414}"/>
                </a:ext>
              </a:extLst>
            </p:cNvPr>
            <p:cNvSpPr/>
            <p:nvPr/>
          </p:nvSpPr>
          <p:spPr>
            <a:xfrm>
              <a:off x="7461549" y="2590503"/>
              <a:ext cx="888973" cy="15901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Pfeil: nach links 26">
              <a:extLst>
                <a:ext uri="{FF2B5EF4-FFF2-40B4-BE49-F238E27FC236}">
                  <a16:creationId xmlns:a16="http://schemas.microsoft.com/office/drawing/2014/main" id="{D78CB09B-750F-9588-B243-6B065C35AC72}"/>
                </a:ext>
              </a:extLst>
            </p:cNvPr>
            <p:cNvSpPr/>
            <p:nvPr/>
          </p:nvSpPr>
          <p:spPr>
            <a:xfrm rot="10800000">
              <a:off x="7396254" y="3106178"/>
              <a:ext cx="1131789" cy="392399"/>
            </a:xfrm>
            <a:prstGeom prst="leftArrow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B265D967-E0F6-75E0-AD93-28D8EEA45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16635" y="2518542"/>
              <a:ext cx="660908" cy="660908"/>
            </a:xfrm>
            <a:prstGeom prst="rect">
              <a:avLst/>
            </a:prstGeom>
          </p:spPr>
        </p:pic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606A1F1B-FF16-5FB9-1B7C-71990D18D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09541" y="3243197"/>
              <a:ext cx="742950" cy="742950"/>
            </a:xfrm>
            <a:prstGeom prst="rect">
              <a:avLst/>
            </a:prstGeom>
          </p:spPr>
        </p:pic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76BD3CD9-1AA6-01F6-ECFD-1B3E54261B80}"/>
                </a:ext>
              </a:extLst>
            </p:cNvPr>
            <p:cNvCxnSpPr>
              <a:cxnSpLocks/>
            </p:cNvCxnSpPr>
            <p:nvPr/>
          </p:nvCxnSpPr>
          <p:spPr>
            <a:xfrm>
              <a:off x="5005036" y="5386421"/>
              <a:ext cx="2245072" cy="0"/>
            </a:xfrm>
            <a:prstGeom prst="line">
              <a:avLst/>
            </a:prstGeom>
            <a:ln w="28575"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Pfeil: nach links 29">
              <a:extLst>
                <a:ext uri="{FF2B5EF4-FFF2-40B4-BE49-F238E27FC236}">
                  <a16:creationId xmlns:a16="http://schemas.microsoft.com/office/drawing/2014/main" id="{23F6AB9C-6C3F-7896-F149-587F6EA65541}"/>
                </a:ext>
              </a:extLst>
            </p:cNvPr>
            <p:cNvSpPr/>
            <p:nvPr/>
          </p:nvSpPr>
          <p:spPr>
            <a:xfrm rot="16200000">
              <a:off x="5701910" y="5135504"/>
              <a:ext cx="742952" cy="392399"/>
            </a:xfrm>
            <a:prstGeom prst="left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4CE273E4-DACC-18FE-B1F2-F22205DF295C}"/>
                </a:ext>
              </a:extLst>
            </p:cNvPr>
            <p:cNvSpPr/>
            <p:nvPr/>
          </p:nvSpPr>
          <p:spPr>
            <a:xfrm>
              <a:off x="2280797" y="2988826"/>
              <a:ext cx="1240011" cy="7429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Raw</a:t>
              </a:r>
            </a:p>
          </p:txBody>
        </p:sp>
        <p:pic>
          <p:nvPicPr>
            <p:cNvPr id="54" name="Grafik 53">
              <a:extLst>
                <a:ext uri="{FF2B5EF4-FFF2-40B4-BE49-F238E27FC236}">
                  <a16:creationId xmlns:a16="http://schemas.microsoft.com/office/drawing/2014/main" id="{F4B67388-3290-E097-0F90-89890F156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139109" y="4787658"/>
              <a:ext cx="742950" cy="742950"/>
            </a:xfrm>
            <a:prstGeom prst="rect">
              <a:avLst/>
            </a:prstGeom>
          </p:spPr>
        </p:pic>
        <p:pic>
          <p:nvPicPr>
            <p:cNvPr id="55" name="Grafik 54">
              <a:extLst>
                <a:ext uri="{FF2B5EF4-FFF2-40B4-BE49-F238E27FC236}">
                  <a16:creationId xmlns:a16="http://schemas.microsoft.com/office/drawing/2014/main" id="{BB923A5B-0DCC-6EC9-543A-79CED09BB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40445" y="3566427"/>
              <a:ext cx="742950" cy="742950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5A5D133E-2F3E-D728-61FD-48C7E29F3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757477">
              <a:off x="946418" y="2829472"/>
              <a:ext cx="1570399" cy="1570399"/>
            </a:xfrm>
            <a:prstGeom prst="rect">
              <a:avLst/>
            </a:prstGeom>
          </p:spPr>
        </p:pic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F5D6EF1-60CC-73F2-4B3E-569488FA4AC9}"/>
                </a:ext>
              </a:extLst>
            </p:cNvPr>
            <p:cNvSpPr/>
            <p:nvPr/>
          </p:nvSpPr>
          <p:spPr>
            <a:xfrm>
              <a:off x="3994770" y="2734456"/>
              <a:ext cx="888973" cy="1251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feil: nach links 14">
              <a:extLst>
                <a:ext uri="{FF2B5EF4-FFF2-40B4-BE49-F238E27FC236}">
                  <a16:creationId xmlns:a16="http://schemas.microsoft.com/office/drawing/2014/main" id="{2C0A912A-2832-E5FD-10A4-D85EAC1FA583}"/>
                </a:ext>
              </a:extLst>
            </p:cNvPr>
            <p:cNvSpPr/>
            <p:nvPr/>
          </p:nvSpPr>
          <p:spPr>
            <a:xfrm rot="10800000">
              <a:off x="3920844" y="3189355"/>
              <a:ext cx="1131789" cy="392399"/>
            </a:xfrm>
            <a:prstGeom prst="left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54884" y="1204601"/>
            <a:ext cx="6265164" cy="2351399"/>
            <a:chOff x="2900934" y="2068201"/>
            <a:chExt cx="6265164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00934" y="2068201"/>
              <a:ext cx="61375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one logical job-session-process in two separate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951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71015"/>
            <a:ext cx="84187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/>
              <a:t>Schaffung eines leichtgewichtigen </a:t>
            </a:r>
            <a:r>
              <a:rPr lang="de-DE" sz="1600" b="1" i="1"/>
              <a:t>one-to-one-IPC-Application-Protocols</a:t>
            </a:r>
            <a:r>
              <a:rPr lang="de-DE" sz="1600" b="1"/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</a:t>
            </a:r>
          </a:p>
          <a:p>
            <a:r>
              <a:rPr lang="de-DE" sz="1600"/>
              <a:t>Auf einer Maschine - unterhalb des Netzwerkstacks (keine Firewall, etc.)</a:t>
            </a:r>
          </a:p>
          <a:p>
            <a:endParaRPr lang="de-DE" sz="1800"/>
          </a:p>
          <a:p>
            <a:r>
              <a:rPr lang="de-DE" sz="1800" b="1">
                <a:solidFill>
                  <a:srgbClr val="0070C0"/>
                </a:solidFill>
              </a:rPr>
              <a:t>Zwei</a:t>
            </a:r>
            <a:r>
              <a:rPr lang="de-DE" sz="1800" b="1"/>
              <a:t> logisch, technologisch und architekturell getrennte </a:t>
            </a:r>
            <a:r>
              <a:rPr lang="de-DE" sz="1800" b="1" i="1">
                <a:solidFill>
                  <a:srgbClr val="0070C0"/>
                </a:solidFill>
              </a:rPr>
              <a:t>Domänen</a:t>
            </a:r>
            <a:r>
              <a:rPr lang="de-DE" sz="1800" b="1" i="1"/>
              <a:t>…</a:t>
            </a:r>
          </a:p>
          <a:p>
            <a:r>
              <a:rPr lang="de-DE" sz="1800"/>
              <a:t>…mit einer l</a:t>
            </a:r>
            <a:r>
              <a:rPr lang="de-DE"/>
              <a:t>eichtgewichtige Kopplung über das </a:t>
            </a:r>
            <a:r>
              <a:rPr lang="de-DE" b="1"/>
              <a:t>JAP-Protokoll</a:t>
            </a:r>
            <a:r>
              <a:rPr lang="de-DE"/>
              <a:t>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459455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6730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204343" y="1614489"/>
              <a:ext cx="7051045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</a:t>
              </a:r>
              <a:r>
                <a:rPr lang="de-DE" sz="1400" i="1">
                  <a:solidFill>
                    <a:srgbClr val="002060"/>
                  </a:solidFill>
                </a:rPr>
                <a:t>ssh</a:t>
              </a:r>
              <a:r>
                <a:rPr lang="de-DE" sz="1400">
                  <a:solidFill>
                    <a:srgbClr val="002060"/>
                  </a:solidFill>
                </a:rPr>
                <a:t> or a 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73288" y="1242713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459455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6226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70161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764772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(„Vision“/PoC/Proposal)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124452" y="266971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589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064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92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32231" y="48797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138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1060</Words>
  <Application>Microsoft Office PowerPoint</Application>
  <PresentationFormat>Breitbild</PresentationFormat>
  <Paragraphs>198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Adobe Photoshop-Bild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19</cp:revision>
  <dcterms:created xsi:type="dcterms:W3CDTF">2026-06-10T06:03:57Z</dcterms:created>
  <dcterms:modified xsi:type="dcterms:W3CDTF">2026-06-21T19:27:45Z</dcterms:modified>
</cp:coreProperties>
</file>