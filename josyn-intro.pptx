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146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26541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 b="1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 b="1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</a:t>
            </a:r>
            <a:r>
              <a:rPr lang="de-DE">
                <a:solidFill>
                  <a:srgbClr val="FF0000"/>
                </a:solidFill>
              </a:rPr>
              <a:t>Patches</a:t>
            </a:r>
            <a:r>
              <a:rPr lang="de-DE"/>
              <a:t>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</a:t>
            </a:r>
            <a:r>
              <a:rPr lang="de-DE">
                <a:solidFill>
                  <a:srgbClr val="FF0000"/>
                </a:solidFill>
              </a:rPr>
              <a:t>das versteht die zukünftige Generation von Maintainern nicht mehr</a:t>
            </a:r>
            <a:r>
              <a:rPr lang="de-DE"/>
              <a:t>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- </a:t>
            </a:r>
            <a:r>
              <a:rPr lang="de-DE" sz="2000" i="1"/>
              <a:t>z.Bsp.</a:t>
            </a:r>
            <a:r>
              <a:rPr lang="de-DE" sz="2000"/>
              <a:t> -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(Schärfere Anforderungen wären nur durch „hacks“, „nervige handarbeit“ und „dont-ask-dont-tell“-Kompromisse mühsam mitzugehen…)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67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</a:t>
            </a:r>
            <a:r>
              <a:rPr lang="de-DE" b="1" i="1"/>
              <a:t>System</a:t>
            </a:r>
            <a:r>
              <a:rPr lang="de-DE" b="1"/>
              <a:t> und </a:t>
            </a:r>
            <a:r>
              <a:rPr lang="de-DE" b="1" i="1"/>
              <a:t>Job</a:t>
            </a:r>
            <a:r>
              <a:rPr lang="de-DE" b="1"/>
              <a:t>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476367" y="4883816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Dependency-Space“: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B02146-A086-858D-2DD5-1A4C53E506CF}"/>
              </a:ext>
            </a:extLst>
          </p:cNvPr>
          <p:cNvSpPr txBox="1"/>
          <p:nvPr/>
        </p:nvSpPr>
        <p:spPr>
          <a:xfrm>
            <a:off x="1235029" y="4454455"/>
            <a:ext cx="97413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>
                <a:solidFill>
                  <a:srgbClr val="FF0000"/>
                </a:solidFill>
              </a:rPr>
              <a:t>…and then i‘m gonna spoil it all, by designing </a:t>
            </a:r>
            <a:r>
              <a:rPr lang="de-DE" sz="1600" i="1">
                <a:solidFill>
                  <a:srgbClr val="FF0000"/>
                </a:solidFill>
              </a:rPr>
              <a:t>something stupid</a:t>
            </a:r>
            <a:r>
              <a:rPr lang="de-DE" sz="1600">
                <a:solidFill>
                  <a:srgbClr val="FF0000"/>
                </a:solidFill>
              </a:rPr>
              <a:t> like </a:t>
            </a:r>
            <a:r>
              <a:rPr lang="de-DE" sz="1600" i="1">
                <a:solidFill>
                  <a:srgbClr val="FF0000"/>
                </a:solidFill>
              </a:rPr>
              <a:t>„a shared runtime-dependency space“</a:t>
            </a:r>
            <a:r>
              <a:rPr lang="de-DE" sz="1600">
                <a:solidFill>
                  <a:srgbClr val="FF0000"/>
                </a:solidFill>
              </a:rPr>
              <a:t>…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A25E764E-C7B9-FCD9-7DC0-0CD5146617EA}"/>
              </a:ext>
            </a:extLst>
          </p:cNvPr>
          <p:cNvGrpSpPr/>
          <p:nvPr/>
        </p:nvGrpSpPr>
        <p:grpSpPr>
          <a:xfrm>
            <a:off x="1885965" y="1754290"/>
            <a:ext cx="8293682" cy="2713228"/>
            <a:chOff x="1718946" y="1754290"/>
            <a:chExt cx="8293682" cy="2713228"/>
          </a:xfrm>
        </p:grpSpPr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45F580C5-8F3A-EDDB-125F-5CD169EFA36D}"/>
                </a:ext>
              </a:extLst>
            </p:cNvPr>
            <p:cNvGrpSpPr/>
            <p:nvPr/>
          </p:nvGrpSpPr>
          <p:grpSpPr>
            <a:xfrm>
              <a:off x="1718946" y="1754290"/>
              <a:ext cx="2992631" cy="2689384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1D6CEA9-DE63-5C3E-1FC1-F87CE5390BF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06971D2B-11F1-F847-86D5-A05053D8999A}"/>
                  </a:ext>
                </a:extLst>
              </p:cNvPr>
              <p:cNvSpPr txBox="1"/>
              <p:nvPr/>
            </p:nvSpPr>
            <p:spPr>
              <a:xfrm>
                <a:off x="6607221" y="632143"/>
                <a:ext cx="1032705" cy="5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Das Backend</a:t>
                </a:r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B20A8C9F-F57C-4D2B-2026-E1D2C374B37C}"/>
                </a:ext>
              </a:extLst>
            </p:cNvPr>
            <p:cNvGrpSpPr/>
            <p:nvPr/>
          </p:nvGrpSpPr>
          <p:grpSpPr>
            <a:xfrm>
              <a:off x="5588638" y="1778134"/>
              <a:ext cx="4423990" cy="2689384"/>
              <a:chOff x="6606125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6921B3CE-E7A0-EC84-AE42-D587DB52C342}"/>
                  </a:ext>
                </a:extLst>
              </p:cNvPr>
              <p:cNvSpPr/>
              <p:nvPr/>
            </p:nvSpPr>
            <p:spPr>
              <a:xfrm>
                <a:off x="6606125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C331E49-AA54-F3AD-0A2F-79D0B4B9BE38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899942" cy="6599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Jobhost.exe</a:t>
                </a:r>
              </a:p>
            </p:txBody>
          </p: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41C2E713-FEED-828B-784C-F67174EC88F8}"/>
                </a:ext>
              </a:extLst>
            </p:cNvPr>
            <p:cNvGrpSpPr/>
            <p:nvPr/>
          </p:nvGrpSpPr>
          <p:grpSpPr>
            <a:xfrm>
              <a:off x="5902346" y="2168594"/>
              <a:ext cx="3922316" cy="708234"/>
              <a:chOff x="164209" y="1516532"/>
              <a:chExt cx="1803699" cy="773469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F5734D98-A5B2-DFFF-01E1-0795FEF53E54}"/>
                  </a:ext>
                </a:extLst>
              </p:cNvPr>
              <p:cNvSpPr/>
              <p:nvPr/>
            </p:nvSpPr>
            <p:spPr>
              <a:xfrm>
                <a:off x="164209" y="1524953"/>
                <a:ext cx="1803699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7201EE90-CEA3-3A25-B815-CBC87BEDB594}"/>
                  </a:ext>
                </a:extLst>
              </p:cNvPr>
              <p:cNvSpPr txBox="1"/>
              <p:nvPr/>
            </p:nvSpPr>
            <p:spPr>
              <a:xfrm>
                <a:off x="198602" y="1516532"/>
                <a:ext cx="11095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Base-job</a:t>
                </a:r>
              </a:p>
            </p:txBody>
          </p:sp>
        </p:grp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840FE24B-8ABF-C58F-FA7B-285D8FF784A4}"/>
                </a:ext>
              </a:extLst>
            </p:cNvPr>
            <p:cNvGrpSpPr/>
            <p:nvPr/>
          </p:nvGrpSpPr>
          <p:grpSpPr>
            <a:xfrm>
              <a:off x="2903364" y="2233666"/>
              <a:ext cx="1803699" cy="643577"/>
              <a:chOff x="164209" y="1588453"/>
              <a:chExt cx="1803699" cy="643577"/>
            </a:xfrm>
          </p:grpSpPr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5339CB1C-0982-812A-5B00-A1C734F2D7B9}"/>
                  </a:ext>
                </a:extLst>
              </p:cNvPr>
              <p:cNvSpPr/>
              <p:nvPr/>
            </p:nvSpPr>
            <p:spPr>
              <a:xfrm>
                <a:off x="164209" y="1588453"/>
                <a:ext cx="1803699" cy="6435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Textfeld 57">
                <a:extLst>
                  <a:ext uri="{FF2B5EF4-FFF2-40B4-BE49-F238E27FC236}">
                    <a16:creationId xmlns:a16="http://schemas.microsoft.com/office/drawing/2014/main" id="{FDA82363-6616-3120-15F7-E15ADFD3A277}"/>
                  </a:ext>
                </a:extLst>
              </p:cNvPr>
              <p:cNvSpPr txBox="1"/>
              <p:nvPr/>
            </p:nvSpPr>
            <p:spPr>
              <a:xfrm>
                <a:off x="216082" y="1606413"/>
                <a:ext cx="17413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SessionStarter</a:t>
                </a:r>
              </a:p>
            </p:txBody>
          </p:sp>
        </p:grpSp>
        <p:sp>
          <p:nvSpPr>
            <p:cNvPr id="60" name="Pfeil: nach rechts 59">
              <a:extLst>
                <a:ext uri="{FF2B5EF4-FFF2-40B4-BE49-F238E27FC236}">
                  <a16:creationId xmlns:a16="http://schemas.microsoft.com/office/drawing/2014/main" id="{3E79FB88-779C-13F8-B2BF-A117237A18A3}"/>
                </a:ext>
              </a:extLst>
            </p:cNvPr>
            <p:cNvSpPr/>
            <p:nvPr/>
          </p:nvSpPr>
          <p:spPr>
            <a:xfrm>
              <a:off x="4728528" y="2461294"/>
              <a:ext cx="841320" cy="445626"/>
            </a:xfrm>
            <a:prstGeom prst="rightArrow">
              <a:avLst/>
            </a:prstGeom>
            <a:solidFill>
              <a:schemeClr val="accent6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62C7E6E6-A5E4-68DB-279A-D74781522F4F}"/>
                </a:ext>
              </a:extLst>
            </p:cNvPr>
            <p:cNvSpPr txBox="1"/>
            <p:nvPr/>
          </p:nvSpPr>
          <p:spPr>
            <a:xfrm>
              <a:off x="4671461" y="2092876"/>
              <a:ext cx="955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spawns</a:t>
              </a:r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16156912-CE86-DB36-D615-C741938FB6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1445" y="2743843"/>
              <a:ext cx="827913" cy="827913"/>
            </a:xfrm>
            <a:prstGeom prst="rect">
              <a:avLst/>
            </a:prstGeom>
          </p:spPr>
        </p:pic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FFFB93B2-C53C-4261-7D4C-71DCE87505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7150" y="3523366"/>
              <a:ext cx="882650" cy="882650"/>
            </a:xfrm>
            <a:prstGeom prst="rect">
              <a:avLst/>
            </a:prstGeom>
          </p:spPr>
        </p:pic>
        <p:pic>
          <p:nvPicPr>
            <p:cNvPr id="75" name="Grafik 74">
              <a:extLst>
                <a:ext uri="{FF2B5EF4-FFF2-40B4-BE49-F238E27FC236}">
                  <a16:creationId xmlns:a16="http://schemas.microsoft.com/office/drawing/2014/main" id="{C9A9F567-C88B-8C1F-9B5C-9AF7AF1B8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5222" y="2972961"/>
              <a:ext cx="1066800" cy="1066800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F5CA87CD-B0E2-EF48-F35C-73E9BD66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2035" y="2414818"/>
              <a:ext cx="424688" cy="424688"/>
            </a:xfrm>
            <a:prstGeom prst="rect">
              <a:avLst/>
            </a:prstGeom>
          </p:spPr>
        </p:pic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C9BAA056-9695-2603-7174-263B8AE3C60F}"/>
              </a:ext>
            </a:extLst>
          </p:cNvPr>
          <p:cNvSpPr txBox="1"/>
          <p:nvPr/>
        </p:nvSpPr>
        <p:spPr>
          <a:xfrm>
            <a:off x="711423" y="1169515"/>
            <a:ext cx="1031876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>
                <a:solidFill>
                  <a:srgbClr val="00B050"/>
                </a:solidFill>
              </a:rPr>
              <a:t>(prinzipiell ein sehr cooles „decoupling and isolation-concept“: </a:t>
            </a:r>
          </a:p>
          <a:p>
            <a:pPr algn="ctr"/>
            <a:r>
              <a:rPr lang="de-DE" sz="1600" i="1">
                <a:solidFill>
                  <a:srgbClr val="00B050"/>
                </a:solidFill>
              </a:rPr>
              <a:t>session-starter fires -&gt; continuation in a fresh, isolated process-space!...)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9E876-3E58-EEB0-EE5C-A21BCC6D1A3A}"/>
              </a:ext>
            </a:extLst>
          </p:cNvPr>
          <p:cNvGrpSpPr/>
          <p:nvPr/>
        </p:nvGrpSpPr>
        <p:grpSpPr>
          <a:xfrm>
            <a:off x="3947598" y="3087397"/>
            <a:ext cx="6217936" cy="1169551"/>
            <a:chOff x="3804723" y="3039772"/>
            <a:chExt cx="6217936" cy="1169551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00681D04-726D-1F17-2FF4-63D66A1BAB7E}"/>
                </a:ext>
              </a:extLst>
            </p:cNvPr>
            <p:cNvGrpSpPr/>
            <p:nvPr/>
          </p:nvGrpSpPr>
          <p:grpSpPr>
            <a:xfrm>
              <a:off x="8010929" y="3397254"/>
              <a:ext cx="1822489" cy="765048"/>
              <a:chOff x="164209" y="1524953"/>
              <a:chExt cx="1822489" cy="765048"/>
            </a:xfrm>
          </p:grpSpPr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EE7FD0AE-ABF6-2A9B-559B-9DECBD0D518D}"/>
                  </a:ext>
                </a:extLst>
              </p:cNvPr>
              <p:cNvSpPr/>
              <p:nvPr/>
            </p:nvSpPr>
            <p:spPr>
              <a:xfrm>
                <a:off x="164209" y="1524953"/>
                <a:ext cx="1803699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6E59F33-9673-BF9A-2A76-B7ED8A290DEA}"/>
                  </a:ext>
                </a:extLst>
              </p:cNvPr>
              <p:cNvSpPr txBox="1"/>
              <p:nvPr/>
            </p:nvSpPr>
            <p:spPr>
              <a:xfrm>
                <a:off x="182999" y="1686886"/>
                <a:ext cx="1803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job-assemblies</a:t>
                </a:r>
              </a:p>
            </p:txBody>
          </p:sp>
        </p:grp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AB395DAA-F396-28B1-E9C1-A745386E2EEB}"/>
                </a:ext>
              </a:extLst>
            </p:cNvPr>
            <p:cNvSpPr txBox="1"/>
            <p:nvPr/>
          </p:nvSpPr>
          <p:spPr>
            <a:xfrm>
              <a:off x="5129329" y="3039772"/>
              <a:ext cx="2472944" cy="1169551"/>
            </a:xfrm>
            <a:prstGeom prst="rect">
              <a:avLst/>
            </a:prstGeom>
            <a:solidFill>
              <a:srgbClr val="FF9999"/>
            </a:solidFill>
          </p:spPr>
          <p:txBody>
            <a:bodyPr wrap="square">
              <a:spAutoFit/>
            </a:bodyPr>
            <a:lstStyle/>
            <a:p>
              <a:r>
                <a:rPr lang="de-DE" sz="1000" b="1"/>
                <a:t>HaevgRZ.JobSystem.SessionStore.dll</a:t>
              </a:r>
            </a:p>
            <a:p>
              <a:r>
                <a:rPr lang="de-DE" sz="1000" b="1"/>
                <a:t>HaevgRZ.JobSystem.Core.dll</a:t>
              </a:r>
            </a:p>
            <a:p>
              <a:r>
                <a:rPr lang="de-DE" sz="1000" b="1"/>
                <a:t>HaevgRZ.JobSystem.Contracts.dll</a:t>
              </a:r>
            </a:p>
            <a:p>
              <a:r>
                <a:rPr lang="de-DE" sz="1000" b="1"/>
                <a:t>HaevgRZ.JobSystem.Lib.Core.dll</a:t>
              </a:r>
            </a:p>
            <a:p>
              <a:r>
                <a:rPr lang="de-DE" sz="1000" b="1"/>
                <a:t>HaevgRZ.JobSystem.Lib.Messaging.dll</a:t>
              </a:r>
            </a:p>
            <a:p>
              <a:r>
                <a:rPr lang="de-DE" sz="1000" b="1"/>
                <a:t>„GlobalConfig“</a:t>
              </a:r>
            </a:p>
            <a:p>
              <a:r>
                <a:rPr lang="de-DE" sz="1000" b="1"/>
                <a:t>…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35A56320-1BAA-14D4-257E-BC2DD55217FB}"/>
                </a:ext>
              </a:extLst>
            </p:cNvPr>
            <p:cNvSpPr txBox="1"/>
            <p:nvPr/>
          </p:nvSpPr>
          <p:spPr>
            <a:xfrm>
              <a:off x="7932206" y="3039772"/>
              <a:ext cx="1905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FF0000"/>
                  </a:solidFill>
                </a:rPr>
                <a:t>AssemblyResolve:</a:t>
              </a:r>
            </a:p>
          </p:txBody>
        </p:sp>
        <p:sp>
          <p:nvSpPr>
            <p:cNvPr id="70" name="Pfeil: nach links 69">
              <a:extLst>
                <a:ext uri="{FF2B5EF4-FFF2-40B4-BE49-F238E27FC236}">
                  <a16:creationId xmlns:a16="http://schemas.microsoft.com/office/drawing/2014/main" id="{1536D43B-1E69-F7B8-4F87-A0FD5F362E85}"/>
                </a:ext>
              </a:extLst>
            </p:cNvPr>
            <p:cNvSpPr/>
            <p:nvPr/>
          </p:nvSpPr>
          <p:spPr>
            <a:xfrm>
              <a:off x="3804723" y="3284218"/>
              <a:ext cx="1311905" cy="707281"/>
            </a:xfrm>
            <a:prstGeom prst="leftArrow">
              <a:avLst/>
            </a:prstGeom>
            <a:solidFill>
              <a:srgbClr val="C0000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6A00C80A-8D50-378A-0B7B-84DC8F866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5459" y="3157799"/>
              <a:ext cx="457200" cy="457200"/>
            </a:xfrm>
            <a:prstGeom prst="rect">
              <a:avLst/>
            </a:prstGeom>
          </p:spPr>
        </p:pic>
        <p:pic>
          <p:nvPicPr>
            <p:cNvPr id="2" name="Grafik 1">
              <a:extLst>
                <a:ext uri="{FF2B5EF4-FFF2-40B4-BE49-F238E27FC236}">
                  <a16:creationId xmlns:a16="http://schemas.microsoft.com/office/drawing/2014/main" id="{D73ECB46-C9A9-DAF5-D3DE-40D24C072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21593" y="3201574"/>
              <a:ext cx="842786" cy="8427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 strike="sngStrike"/>
              <a:t>Projekt</a:t>
            </a:r>
            <a:r>
              <a:rPr lang="de-DE" sz="2400" b="1"/>
              <a:t> – eine </a:t>
            </a:r>
            <a:r>
              <a:rPr lang="de-DE" sz="2400" b="1" i="1"/>
              <a:t>Initiative</a:t>
            </a:r>
            <a:r>
              <a:rPr lang="de-DE" sz="2400" b="1"/>
              <a:t> -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39" y="1716972"/>
            <a:ext cx="946033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TPM-Initiative? </a:t>
            </a:r>
            <a:r>
              <a:rPr lang="de-DE" sz="2400" i="1"/>
              <a:t>(oder reicht ein gutes „Pflegestation“-Konzept?)</a:t>
            </a:r>
          </a:p>
          <a:p>
            <a:r>
              <a:rPr lang="de-DE" sz="2400" i="1"/>
              <a:t>ja! | nein! | ja, aber nur wenn…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 i="1">
                <a:solidFill>
                  <a:srgbClr val="0070C0"/>
                </a:solidFill>
              </a:rPr>
              <a:t>Constraints / Rules / Rahmenbedingungen / People / Methodik / Risiken / Kommunikation / Evaluation / Kosten / Time-Line / Exit-Strategie / …</a:t>
            </a:r>
          </a:p>
          <a:p>
            <a:r>
              <a:rPr lang="de-DE" sz="2000"/>
              <a:t>=&gt;</a:t>
            </a:r>
            <a:r>
              <a:rPr lang="de-DE" sz="2000" b="1"/>
              <a:t> Hausaufgaben!</a:t>
            </a:r>
            <a:r>
              <a:rPr lang="de-DE" sz="2000"/>
              <a:t> - für den Owner dieses Termins, und/oder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2110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/>
              <a:t>Vorschlag für einen effizienten </a:t>
            </a:r>
            <a:r>
              <a:rPr lang="de-DE" sz="2000" b="1">
                <a:solidFill>
                  <a:srgbClr val="0070C0"/>
                </a:solidFill>
              </a:rPr>
              <a:t>Arbeitsmodus</a:t>
            </a:r>
            <a:r>
              <a:rPr lang="de-DE" sz="2000" b="1"/>
              <a:t> einer potentiellen </a:t>
            </a:r>
            <a:r>
              <a:rPr lang="de-DE" sz="2000" b="1">
                <a:solidFill>
                  <a:srgbClr val="0070C0"/>
                </a:solidFill>
              </a:rPr>
              <a:t>TPM-Initiative</a:t>
            </a:r>
            <a:r>
              <a:rPr lang="de-DE" sz="2000" b="1"/>
              <a:t>. </a:t>
            </a:r>
            <a:r>
              <a:rPr lang="de-DE" sz="2000"/>
              <a:t>(ein „logisches </a:t>
            </a:r>
            <a:r>
              <a:rPr lang="de-DE" sz="2000" b="1"/>
              <a:t>Modell</a:t>
            </a:r>
            <a:r>
              <a:rPr lang="de-DE" sz="2000"/>
              <a:t>“)</a:t>
            </a:r>
            <a:endParaRPr lang="de-DE" sz="2000" b="1"/>
          </a:p>
          <a:p>
            <a:r>
              <a:rPr lang="de-DE" sz="2000"/>
              <a:t>Cave!: nur 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Moduswechsel!</a:t>
            </a:r>
            <a:r>
              <a:rPr lang="de-DE" sz="2000"/>
              <a:t>  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816352" y="864241"/>
            <a:ext cx="6254496" cy="2488559"/>
            <a:chOff x="2911602" y="1931041"/>
            <a:chExt cx="6254496" cy="248855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3396234" y="1931041"/>
              <a:ext cx="536986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b="1">
                  <a:solidFill>
                    <a:srgbClr val="002060"/>
                  </a:solidFill>
                </a:rPr>
                <a:t>one </a:t>
              </a:r>
              <a:r>
                <a:rPr lang="de-DE" sz="1400" b="1" i="1">
                  <a:solidFill>
                    <a:srgbClr val="002060"/>
                  </a:solidFill>
                </a:rPr>
                <a:t>logical</a:t>
              </a:r>
              <a:r>
                <a:rPr lang="de-DE" sz="1400" b="1">
                  <a:solidFill>
                    <a:srgbClr val="002060"/>
                  </a:solidFill>
                </a:rPr>
                <a:t> job-session-process in two </a:t>
              </a:r>
              <a:r>
                <a:rPr lang="de-DE" sz="1400" b="1" i="1">
                  <a:solidFill>
                    <a:srgbClr val="002060"/>
                  </a:solidFill>
                </a:rPr>
                <a:t>physical</a:t>
              </a:r>
              <a:r>
                <a:rPr lang="de-DE" sz="1400" b="1">
                  <a:solidFill>
                    <a:srgbClr val="002060"/>
                  </a:solidFill>
                </a:rPr>
                <a:t>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062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1824755" y="4024158"/>
            <a:ext cx="84187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8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0070C0"/>
                </a:solidFill>
              </a:rPr>
              <a:t>Schaffung eines leichtgewichtigen </a:t>
            </a:r>
            <a:r>
              <a:rPr lang="de-DE" sz="1600" b="1" i="1">
                <a:solidFill>
                  <a:srgbClr val="0070C0"/>
                </a:solidFill>
              </a:rPr>
              <a:t>one-to-one-IPC-Application-Protocols</a:t>
            </a:r>
            <a:r>
              <a:rPr lang="de-DE" sz="1600" b="1">
                <a:solidFill>
                  <a:srgbClr val="0070C0"/>
                </a:solidFill>
              </a:rPr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1851449" y="5774811"/>
            <a:ext cx="9126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Wir bekommen</a:t>
            </a:r>
            <a:r>
              <a:rPr lang="de-DE" b="1">
                <a:solidFill>
                  <a:srgbClr val="0070C0"/>
                </a:solidFill>
              </a:rPr>
              <a:t> zwei</a:t>
            </a:r>
            <a:r>
              <a:rPr lang="de-DE" b="1"/>
              <a:t> logisch, technologisch und architekturell getrennte </a:t>
            </a:r>
            <a:r>
              <a:rPr lang="de-DE" b="1" i="1">
                <a:solidFill>
                  <a:srgbClr val="0070C0"/>
                </a:solidFill>
              </a:rPr>
              <a:t>Domänen</a:t>
            </a:r>
            <a:r>
              <a:rPr lang="de-DE" b="1" i="1"/>
              <a:t>…</a:t>
            </a:r>
          </a:p>
          <a:p>
            <a:r>
              <a:rPr lang="de-DE"/>
              <a:t>(…mit einer leichtgewichtige Kopplung über das </a:t>
            </a:r>
            <a:r>
              <a:rPr lang="de-DE" b="1"/>
              <a:t>JAP-Protokoll</a:t>
            </a:r>
            <a:r>
              <a:rPr lang="de-DE"/>
              <a:t>… 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8C6DEE4-170E-61FC-5510-46EBF737CCF9}"/>
              </a:ext>
            </a:extLst>
          </p:cNvPr>
          <p:cNvSpPr txBox="1"/>
          <p:nvPr/>
        </p:nvSpPr>
        <p:spPr>
          <a:xfrm>
            <a:off x="1853020" y="3460782"/>
            <a:ext cx="92884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Die Grundidee </a:t>
            </a:r>
            <a:r>
              <a:rPr lang="de-DE" sz="1800" i="1"/>
              <a:t>„decpoupling and isolation by spawning another process“</a:t>
            </a:r>
            <a:r>
              <a:rPr lang="de-DE" sz="1800"/>
              <a:t> wird nicht verworfen, sondern konsequent weitergeführt und „richtig implementiert: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80A37DA-2AFA-6576-2076-87CB4BA793B6}"/>
              </a:ext>
            </a:extLst>
          </p:cNvPr>
          <p:cNvSpPr txBox="1"/>
          <p:nvPr/>
        </p:nvSpPr>
        <p:spPr>
          <a:xfrm>
            <a:off x="1850155" y="5086947"/>
            <a:ext cx="8534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Starke und nachhaltige Entkopplung (- nicht nur </a:t>
            </a:r>
            <a:r>
              <a:rPr lang="de-DE" i="1"/>
              <a:t>zur Runtime im Prozessraum</a:t>
            </a:r>
            <a:r>
              <a:rPr lang="de-DE"/>
              <a:t>!)</a:t>
            </a:r>
          </a:p>
          <a:p>
            <a:r>
              <a:rPr lang="de-DE"/>
              <a:t>Auf einer Maschine - unterhalb des Netzwerkstacks (keine Firewall, etc.)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9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a </a:t>
              </a:r>
              <a:r>
                <a:rPr lang="de-DE" sz="1400" i="1">
                  <a:solidFill>
                    <a:srgbClr val="002060"/>
                  </a:solidFill>
                </a:rPr>
                <a:t>ssh-like </a:t>
              </a:r>
              <a:r>
                <a:rPr lang="de-DE" sz="1400">
                  <a:solidFill>
                    <a:srgbClr val="002060"/>
                  </a:solidFill>
                </a:rPr>
                <a:t>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2296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5435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job-repository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3990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699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753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(working PoC)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22706" y="4870197"/>
            <a:ext cx="33293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20231"/>
            <a:ext cx="5960" cy="40683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1209</Words>
  <Application>Microsoft Office PowerPoint</Application>
  <PresentationFormat>Breitbild</PresentationFormat>
  <Paragraphs>220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28</cp:revision>
  <dcterms:created xsi:type="dcterms:W3CDTF">2026-06-10T06:03:57Z</dcterms:created>
  <dcterms:modified xsi:type="dcterms:W3CDTF">2026-06-24T11:45:37Z</dcterms:modified>
</cp:coreProperties>
</file>