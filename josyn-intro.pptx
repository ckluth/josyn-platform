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73" r:id="rId2"/>
    <p:sldId id="271" r:id="rId3"/>
    <p:sldId id="272" r:id="rId4"/>
    <p:sldId id="260" r:id="rId5"/>
    <p:sldId id="274" r:id="rId6"/>
    <p:sldId id="275" r:id="rId7"/>
    <p:sldId id="276" r:id="rId8"/>
    <p:sldId id="270" r:id="rId9"/>
    <p:sldId id="269" r:id="rId10"/>
    <p:sldId id="277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07D"/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24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226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2139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9D7C-19A8-F8B9-9B82-D782E1A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1C1C68-C6E4-A750-7F54-AC26A8A23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592884-356A-4F7F-C37A-7000A8D8D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199996-2A3F-6F5D-5B5A-F5FAFC13C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226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>
                <a:solidFill>
                  <a:srgbClr val="00B050"/>
                </a:solidFill>
              </a:rPr>
              <a:t>Nach </a:t>
            </a:r>
            <a:r>
              <a:rPr lang="de-DE" sz="4400" b="1" i="1">
                <a:solidFill>
                  <a:srgbClr val="00B050"/>
                </a:solidFill>
              </a:rPr>
              <a:t>10</a:t>
            </a:r>
            <a:r>
              <a:rPr lang="de-DE" sz="4400" i="1">
                <a:solidFill>
                  <a:srgbClr val="00B050"/>
                </a:solidFill>
              </a:rPr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1400" i="1"/>
          </a:p>
          <a:p>
            <a:pPr algn="ctr"/>
            <a:r>
              <a:rPr lang="de-DE" sz="4400" i="1"/>
              <a:t>Noch fit für die Zukunft?</a:t>
            </a:r>
          </a:p>
          <a:p>
            <a:pPr algn="ctr"/>
            <a:endParaRPr lang="de-DE" i="1"/>
          </a:p>
          <a:p>
            <a:pPr algn="ctr"/>
            <a:r>
              <a:rPr lang="de-DE" sz="4400">
                <a:solidFill>
                  <a:srgbClr val="FF0000"/>
                </a:solidFill>
              </a:rPr>
              <a:t>Zeit für die Rente?...</a:t>
            </a:r>
          </a:p>
          <a:p>
            <a:pPr algn="ctr"/>
            <a:endParaRPr lang="de-DE" sz="1200">
              <a:solidFill>
                <a:srgbClr val="FF0000"/>
              </a:solidFill>
            </a:endParaRPr>
          </a:p>
          <a:p>
            <a:pPr algn="ctr"/>
            <a:r>
              <a:rPr lang="de-DE" sz="4400" b="1" i="1"/>
              <a:t>=&gt; …was käme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07110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  <a:endParaRPr lang="de-DE" sz="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>
                <a:solidFill>
                  <a:srgbClr val="FF0000"/>
                </a:solidFill>
              </a:rPr>
              <a:t>WCF</a:t>
            </a:r>
            <a:r>
              <a:rPr lang="de-DE" b="1"/>
              <a:t>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Scheduling =&gt; als ewiges Provisorium als XML auf den einzelnen Servern -&gt; </a:t>
            </a:r>
            <a:r>
              <a:rPr lang="de-DE">
                <a:solidFill>
                  <a:srgbClr val="FF0000"/>
                </a:solidFill>
              </a:rPr>
              <a:t>headless-blocker</a:t>
            </a:r>
            <a:r>
              <a:rPr lang="de-DE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Schulungsaufwand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Scaffolding-Aufwand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Zukunft? </a:t>
            </a:r>
            <a:r>
              <a:rPr lang="de-DE"/>
              <a:t>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769741" y="260230"/>
            <a:ext cx="10621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„</a:t>
            </a:r>
            <a:r>
              <a:rPr lang="de-DE" sz="2400" b="1" i="1">
                <a:solidFill>
                  <a:srgbClr val="002060"/>
                </a:solidFill>
              </a:rPr>
              <a:t>Diagnosen-Liste“</a:t>
            </a:r>
            <a:r>
              <a:rPr lang="de-DE" sz="2400" b="1"/>
              <a:t>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Patches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das versteht die zukünftige Generation von Maintainern nicht mehr: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>
                <a:solidFill>
                  <a:srgbClr val="FF0000"/>
                </a:solidFill>
              </a:rPr>
              <a:t>„company-fit“</a:t>
            </a:r>
            <a:r>
              <a:rPr lang="de-DE" sz="2000"/>
              <a:t>: das System ist z.B. nicht fit, eine zukünftige, härtere </a:t>
            </a:r>
            <a:r>
              <a:rPr lang="de-DE" sz="2000" b="1"/>
              <a:t>change-policy</a:t>
            </a:r>
            <a:r>
              <a:rPr lang="de-DE" sz="2000"/>
              <a:t> mitzugehen. Eine vollständige, saubere </a:t>
            </a:r>
            <a:r>
              <a:rPr lang="de-DE" sz="2000" b="1"/>
              <a:t>CI/CD-Integration</a:t>
            </a:r>
            <a:r>
              <a:rPr lang="de-DE" sz="2000"/>
              <a:t> und ein - im besten Fall automatisches – sauberes </a:t>
            </a:r>
            <a:r>
              <a:rPr lang="de-DE" sz="2000" b="1"/>
              <a:t>change-audit</a:t>
            </a:r>
            <a:r>
              <a:rPr lang="de-DE" sz="2000"/>
              <a:t> sind kaum machbar.  Schärfere Anforderungen wären nur durch „stunts“, „nervige handarbeit“ und „dont-ask-dont-tell“-Kompromisse mühsam mitzugehen…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45F580C5-8F3A-EDDB-125F-5CD169EFA36D}"/>
              </a:ext>
            </a:extLst>
          </p:cNvPr>
          <p:cNvGrpSpPr/>
          <p:nvPr/>
        </p:nvGrpSpPr>
        <p:grpSpPr>
          <a:xfrm>
            <a:off x="1713922" y="1439437"/>
            <a:ext cx="2992631" cy="2689384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91D6CEA9-DE63-5C3E-1FC1-F87CE5390BFE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06971D2B-11F1-F847-86D5-A05053D8999A}"/>
                </a:ext>
              </a:extLst>
            </p:cNvPr>
            <p:cNvSpPr txBox="1"/>
            <p:nvPr/>
          </p:nvSpPr>
          <p:spPr>
            <a:xfrm>
              <a:off x="6607221" y="632143"/>
              <a:ext cx="1032705" cy="546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Das Backend</a:t>
              </a:r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20A8C9F-F57C-4D2B-2026-E1D2C374B37C}"/>
              </a:ext>
            </a:extLst>
          </p:cNvPr>
          <p:cNvGrpSpPr/>
          <p:nvPr/>
        </p:nvGrpSpPr>
        <p:grpSpPr>
          <a:xfrm>
            <a:off x="5583614" y="1463281"/>
            <a:ext cx="4423990" cy="2689384"/>
            <a:chOff x="6606125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6921B3CE-E7A0-EC84-AE42-D587DB52C342}"/>
                </a:ext>
              </a:extLst>
            </p:cNvPr>
            <p:cNvSpPr/>
            <p:nvPr/>
          </p:nvSpPr>
          <p:spPr>
            <a:xfrm>
              <a:off x="6606125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EC331E49-AA54-F3AD-0A2F-79D0B4B9BE38}"/>
                </a:ext>
              </a:extLst>
            </p:cNvPr>
            <p:cNvSpPr txBox="1"/>
            <p:nvPr/>
          </p:nvSpPr>
          <p:spPr>
            <a:xfrm>
              <a:off x="6607221" y="632142"/>
              <a:ext cx="899942" cy="659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Jobhost.exe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0681D04-726D-1F17-2FF4-63D66A1BAB7E}"/>
              </a:ext>
            </a:extLst>
          </p:cNvPr>
          <p:cNvGrpSpPr/>
          <p:nvPr/>
        </p:nvGrpSpPr>
        <p:grpSpPr>
          <a:xfrm>
            <a:off x="8005905" y="3082401"/>
            <a:ext cx="1822489" cy="765048"/>
            <a:chOff x="164209" y="1524953"/>
            <a:chExt cx="1822489" cy="765048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E7FD0AE-ABF6-2A9B-559B-9DECBD0D518D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6E59F33-9673-BF9A-2A76-B7ED8A290DEA}"/>
                </a:ext>
              </a:extLst>
            </p:cNvPr>
            <p:cNvSpPr txBox="1"/>
            <p:nvPr/>
          </p:nvSpPr>
          <p:spPr>
            <a:xfrm>
              <a:off x="182999" y="1686886"/>
              <a:ext cx="18036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job-assemblies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1C2E713-FEED-828B-784C-F67174EC88F8}"/>
              </a:ext>
            </a:extLst>
          </p:cNvPr>
          <p:cNvGrpSpPr/>
          <p:nvPr/>
        </p:nvGrpSpPr>
        <p:grpSpPr>
          <a:xfrm>
            <a:off x="5897322" y="1853741"/>
            <a:ext cx="3922316" cy="708234"/>
            <a:chOff x="164209" y="1516532"/>
            <a:chExt cx="1803699" cy="773469"/>
          </a:xfrm>
        </p:grpSpPr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F5734D98-A5B2-DFFF-01E1-0795FEF53E54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7201EE90-CEA3-3A25-B815-CBC87BEDB594}"/>
                </a:ext>
              </a:extLst>
            </p:cNvPr>
            <p:cNvSpPr txBox="1"/>
            <p:nvPr/>
          </p:nvSpPr>
          <p:spPr>
            <a:xfrm>
              <a:off x="198602" y="1516532"/>
              <a:ext cx="11095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Base-job</a:t>
              </a:r>
            </a:p>
          </p:txBody>
        </p:sp>
      </p:grpSp>
      <p:sp>
        <p:nvSpPr>
          <p:cNvPr id="52" name="Textfeld 51">
            <a:extLst>
              <a:ext uri="{FF2B5EF4-FFF2-40B4-BE49-F238E27FC236}">
                <a16:creationId xmlns:a16="http://schemas.microsoft.com/office/drawing/2014/main" id="{AB395DAA-F396-28B1-E9C1-A745386E2EEB}"/>
              </a:ext>
            </a:extLst>
          </p:cNvPr>
          <p:cNvSpPr txBox="1"/>
          <p:nvPr/>
        </p:nvSpPr>
        <p:spPr>
          <a:xfrm>
            <a:off x="5124305" y="2724919"/>
            <a:ext cx="2472944" cy="1169551"/>
          </a:xfrm>
          <a:prstGeom prst="rect">
            <a:avLst/>
          </a:prstGeom>
          <a:solidFill>
            <a:srgbClr val="FF9999"/>
          </a:solidFill>
        </p:spPr>
        <p:txBody>
          <a:bodyPr wrap="square">
            <a:spAutoFit/>
          </a:bodyPr>
          <a:lstStyle/>
          <a:p>
            <a:r>
              <a:rPr lang="de-DE" sz="1000" b="1"/>
              <a:t>HaevgRZ.JobSystem.SessionStore.dll</a:t>
            </a:r>
          </a:p>
          <a:p>
            <a:r>
              <a:rPr lang="de-DE" sz="1000" b="1"/>
              <a:t>HaevgRZ.JobSystem.Core.dll</a:t>
            </a:r>
          </a:p>
          <a:p>
            <a:r>
              <a:rPr lang="de-DE" sz="1000" b="1"/>
              <a:t>HaevgRZ.JobSystem.Contracts.dll</a:t>
            </a:r>
          </a:p>
          <a:p>
            <a:r>
              <a:rPr lang="de-DE" sz="1000" b="1"/>
              <a:t>HaevgRZ.JobSystem.Lib.Core.dll</a:t>
            </a:r>
          </a:p>
          <a:p>
            <a:r>
              <a:rPr lang="de-DE" sz="1000" b="1"/>
              <a:t>HaevgRZ.JobSystem.Lib.Messaging.dll</a:t>
            </a:r>
          </a:p>
          <a:p>
            <a:r>
              <a:rPr lang="de-DE" sz="1000" b="1"/>
              <a:t>„GlobalConfig“</a:t>
            </a:r>
          </a:p>
          <a:p>
            <a:r>
              <a:rPr lang="de-DE" sz="1000" b="1"/>
              <a:t>…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35A56320-1BAA-14D4-257E-BC2DD55217FB}"/>
              </a:ext>
            </a:extLst>
          </p:cNvPr>
          <p:cNvSpPr txBox="1"/>
          <p:nvPr/>
        </p:nvSpPr>
        <p:spPr>
          <a:xfrm>
            <a:off x="7927182" y="2724919"/>
            <a:ext cx="1905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>
                <a:solidFill>
                  <a:srgbClr val="FF0000"/>
                </a:solidFill>
              </a:rPr>
              <a:t>AssemblyResolve: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840FE24B-8ABF-C58F-FA7B-285D8FF784A4}"/>
              </a:ext>
            </a:extLst>
          </p:cNvPr>
          <p:cNvGrpSpPr/>
          <p:nvPr/>
        </p:nvGrpSpPr>
        <p:grpSpPr>
          <a:xfrm>
            <a:off x="2898340" y="1918813"/>
            <a:ext cx="1803699" cy="643577"/>
            <a:chOff x="164209" y="1588453"/>
            <a:chExt cx="1803699" cy="643577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5339CB1C-0982-812A-5B00-A1C734F2D7B9}"/>
                </a:ext>
              </a:extLst>
            </p:cNvPr>
            <p:cNvSpPr/>
            <p:nvPr/>
          </p:nvSpPr>
          <p:spPr>
            <a:xfrm>
              <a:off x="164209" y="1588453"/>
              <a:ext cx="1803699" cy="64357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DA82363-6616-3120-15F7-E15ADFD3A277}"/>
                </a:ext>
              </a:extLst>
            </p:cNvPr>
            <p:cNvSpPr txBox="1"/>
            <p:nvPr/>
          </p:nvSpPr>
          <p:spPr>
            <a:xfrm>
              <a:off x="216082" y="1606413"/>
              <a:ext cx="17413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SessionStarter</a:t>
              </a:r>
            </a:p>
          </p:txBody>
        </p:sp>
      </p:grpSp>
      <p:sp>
        <p:nvSpPr>
          <p:cNvPr id="60" name="Pfeil: nach rechts 59">
            <a:extLst>
              <a:ext uri="{FF2B5EF4-FFF2-40B4-BE49-F238E27FC236}">
                <a16:creationId xmlns:a16="http://schemas.microsoft.com/office/drawing/2014/main" id="{3E79FB88-779C-13F8-B2BF-A117237A18A3}"/>
              </a:ext>
            </a:extLst>
          </p:cNvPr>
          <p:cNvSpPr/>
          <p:nvPr/>
        </p:nvSpPr>
        <p:spPr>
          <a:xfrm>
            <a:off x="4723504" y="2146442"/>
            <a:ext cx="841320" cy="234258"/>
          </a:xfrm>
          <a:prstGeom prst="rightArrow">
            <a:avLst/>
          </a:prstGeom>
          <a:solidFill>
            <a:schemeClr val="accent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2C7E6E6-A5E4-68DB-279A-D74781522F4F}"/>
              </a:ext>
            </a:extLst>
          </p:cNvPr>
          <p:cNvSpPr txBox="1"/>
          <p:nvPr/>
        </p:nvSpPr>
        <p:spPr>
          <a:xfrm>
            <a:off x="4666437" y="1778023"/>
            <a:ext cx="955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spawns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58" y="238438"/>
            <a:ext cx="87032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System und Job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561522" y="4443472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Dependency-Room“: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Workflow-Adapter.exe, die mit dem JobHost per </a:t>
            </a:r>
            <a:r>
              <a:rPr lang="de-DE" sz="1200" i="1"/>
              <a:t>CLI-Calls</a:t>
            </a:r>
            <a:r>
              <a:rPr lang="de-DE" sz="1200"/>
              <a:t>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1536D43B-1E69-F7B8-4F87-A0FD5F362E85}"/>
              </a:ext>
            </a:extLst>
          </p:cNvPr>
          <p:cNvSpPr/>
          <p:nvPr/>
        </p:nvSpPr>
        <p:spPr>
          <a:xfrm>
            <a:off x="3799699" y="2969365"/>
            <a:ext cx="1311905" cy="707281"/>
          </a:xfrm>
          <a:prstGeom prst="leftArrow">
            <a:avLst/>
          </a:prstGeom>
          <a:solidFill>
            <a:srgbClr val="C0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3" name="Grafik 72">
            <a:extLst>
              <a:ext uri="{FF2B5EF4-FFF2-40B4-BE49-F238E27FC236}">
                <a16:creationId xmlns:a16="http://schemas.microsoft.com/office/drawing/2014/main" id="{16156912-CE86-DB36-D615-C741938FB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421" y="2428990"/>
            <a:ext cx="827913" cy="827913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FFFB93B2-C53C-4261-7D4C-71DCE8750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26" y="3208513"/>
            <a:ext cx="882650" cy="88265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C9A9F567-C88B-8C1F-9B5C-9AF7AF1B81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198" y="2658108"/>
            <a:ext cx="1066800" cy="10668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6A00C80A-8D50-378A-0B7B-84DC8F8669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0435" y="2842946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/>
              <a:t>Projekt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josyn?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12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</a:t>
            </a:r>
            <a:r>
              <a:rPr lang="de-DE" sz="2400" b="1">
                <a:solidFill>
                  <a:srgbClr val="FF0000"/>
                </a:solidFill>
              </a:rPr>
              <a:t>Aufwand! </a:t>
            </a:r>
          </a:p>
          <a:p>
            <a:pPr algn="ctr"/>
            <a:r>
              <a:rPr lang="de-DE" sz="2400" b="1">
                <a:solidFill>
                  <a:srgbClr val="FF0000"/>
                </a:solidFill>
              </a:rPr>
              <a:t>Nicht machbar! Viel zu teuer!</a:t>
            </a:r>
          </a:p>
          <a:p>
            <a:pPr algn="ctr"/>
            <a:r>
              <a:rPr lang="de-DE" sz="16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1.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2. (</a:t>
            </a:r>
            <a:r>
              <a:rPr lang="de-DE" sz="3200" b="1" i="1">
                <a:solidFill>
                  <a:srgbClr val="002060"/>
                </a:solidFill>
              </a:rPr>
              <a:t>falls</a:t>
            </a:r>
            <a:r>
              <a:rPr lang="de-DE" sz="3200" b="1">
                <a:solidFill>
                  <a:srgbClr val="002060"/>
                </a:solidFill>
              </a:rPr>
              <a:t>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40" y="1707447"/>
            <a:ext cx="77888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/>
              <a:t>Pflegestation </a:t>
            </a:r>
            <a:r>
              <a:rPr lang="de-DE" sz="3200"/>
              <a:t>oder</a:t>
            </a:r>
            <a:r>
              <a:rPr lang="de-DE" sz="3200" b="1" i="1"/>
              <a:t> </a:t>
            </a:r>
            <a:r>
              <a:rPr lang="de-DE" sz="3200" b="1" i="1">
                <a:solidFill>
                  <a:srgbClr val="0070C0"/>
                </a:solidFill>
              </a:rPr>
              <a:t>TPM-Initiative</a:t>
            </a:r>
            <a:r>
              <a:rPr lang="de-DE" sz="3200" b="1" i="1"/>
              <a:t>?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Setup TPM-Initiative</a:t>
            </a:r>
            <a:r>
              <a:rPr lang="de-DE" sz="3200" i="1">
                <a:solidFill>
                  <a:srgbClr val="0070C0"/>
                </a:solidFill>
              </a:rPr>
              <a:t>: Wie, Wer, Was…. </a:t>
            </a:r>
          </a:p>
          <a:p>
            <a:r>
              <a:rPr lang="de-DE" sz="2000"/>
              <a:t>=&gt; Hausaufgaben! - für den Owner dieses Termins, oder andere Leute…</a:t>
            </a:r>
            <a:r>
              <a:rPr lang="de-DE" sz="32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llAtOnce"/>
      <p:bldP spid="14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feld 37">
            <a:extLst>
              <a:ext uri="{FF2B5EF4-FFF2-40B4-BE49-F238E27FC236}">
                <a16:creationId xmlns:a16="http://schemas.microsoft.com/office/drawing/2014/main" id="{FBC140C3-B69A-6DF7-DC95-F18D22675BAA}"/>
              </a:ext>
            </a:extLst>
          </p:cNvPr>
          <p:cNvSpPr txBox="1"/>
          <p:nvPr/>
        </p:nvSpPr>
        <p:spPr>
          <a:xfrm>
            <a:off x="146742" y="90250"/>
            <a:ext cx="1174998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Vorschlag für einen </a:t>
            </a:r>
            <a:r>
              <a:rPr lang="de-DE" sz="2400" b="1">
                <a:solidFill>
                  <a:srgbClr val="0070C0"/>
                </a:solidFill>
              </a:rPr>
              <a:t>effizienten</a:t>
            </a:r>
            <a:r>
              <a:rPr lang="de-DE" sz="2400" b="1"/>
              <a:t> Arbeitsmodus der </a:t>
            </a:r>
            <a:r>
              <a:rPr lang="de-DE" sz="2400" b="1">
                <a:solidFill>
                  <a:srgbClr val="0070C0"/>
                </a:solidFill>
              </a:rPr>
              <a:t>TPM-Initiative</a:t>
            </a:r>
            <a:r>
              <a:rPr lang="de-DE" sz="2400" b="1"/>
              <a:t>.</a:t>
            </a:r>
          </a:p>
          <a:p>
            <a:r>
              <a:rPr lang="de-DE" sz="2000"/>
              <a:t>Für die ersten Milestones - bis zu einem expliziten Moduswechsel    -  ein „logisches Modell“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B6B53896-6C8B-1230-0871-5F4B219403D0}"/>
              </a:ext>
            </a:extLst>
          </p:cNvPr>
          <p:cNvGrpSpPr/>
          <p:nvPr/>
        </p:nvGrpSpPr>
        <p:grpSpPr>
          <a:xfrm>
            <a:off x="396665" y="996619"/>
            <a:ext cx="10695457" cy="5707277"/>
            <a:chOff x="396665" y="996619"/>
            <a:chExt cx="10695457" cy="5707277"/>
          </a:xfrm>
        </p:grpSpPr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A641D5CD-A10A-A6CF-3B93-366069861F24}"/>
                </a:ext>
              </a:extLst>
            </p:cNvPr>
            <p:cNvGrpSpPr/>
            <p:nvPr/>
          </p:nvGrpSpPr>
          <p:grpSpPr>
            <a:xfrm>
              <a:off x="396665" y="996619"/>
              <a:ext cx="10695457" cy="5707277"/>
              <a:chOff x="396665" y="996619"/>
              <a:chExt cx="10695457" cy="5707277"/>
            </a:xfrm>
          </p:grpSpPr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4F1D6A53-778D-D4CA-DF28-B32614F2BC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7643" y="1378047"/>
                <a:ext cx="34835" cy="4038599"/>
              </a:xfrm>
              <a:prstGeom prst="line">
                <a:avLst/>
              </a:prstGeom>
              <a:ln w="28575"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BD7EA1E-C351-FA16-597F-C8904AEE55E8}"/>
                  </a:ext>
                </a:extLst>
              </p:cNvPr>
              <p:cNvSpPr txBox="1"/>
              <p:nvPr/>
            </p:nvSpPr>
            <p:spPr>
              <a:xfrm>
                <a:off x="396665" y="996619"/>
                <a:ext cx="35085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b="1">
                    <a:solidFill>
                      <a:srgbClr val="002060"/>
                    </a:solidFill>
                  </a:rPr>
                  <a:t>„CKL-Domain“ </a:t>
                </a:r>
                <a:r>
                  <a:rPr lang="de-DE" sz="2400">
                    <a:solidFill>
                      <a:srgbClr val="002060"/>
                    </a:solidFill>
                  </a:rPr>
                  <a:t>(GitHub)</a:t>
                </a:r>
              </a:p>
            </p:txBody>
          </p:sp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F48A6FD9-47FD-C5EB-4F97-78E97694F368}"/>
                  </a:ext>
                </a:extLst>
              </p:cNvPr>
              <p:cNvSpPr txBox="1"/>
              <p:nvPr/>
            </p:nvSpPr>
            <p:spPr>
              <a:xfrm>
                <a:off x="8143751" y="1012888"/>
                <a:ext cx="29483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b="1">
                    <a:solidFill>
                      <a:srgbClr val="002060"/>
                    </a:solidFill>
                  </a:rPr>
                  <a:t>HÄVG-SWE-Domain</a:t>
                </a:r>
              </a:p>
            </p:txBody>
          </p:sp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D900BFE-C88A-3A8A-B9AB-D4E4F9F8A368}"/>
                  </a:ext>
                </a:extLst>
              </p:cNvPr>
              <p:cNvSpPr txBox="1"/>
              <p:nvPr/>
            </p:nvSpPr>
            <p:spPr>
              <a:xfrm>
                <a:off x="4963072" y="1012888"/>
                <a:ext cx="226273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b="1">
                    <a:solidFill>
                      <a:srgbClr val="002060"/>
                    </a:solidFill>
                  </a:rPr>
                  <a:t>„Staging-Pipe“</a:t>
                </a:r>
              </a:p>
            </p:txBody>
          </p:sp>
          <p:sp>
            <p:nvSpPr>
              <p:cNvPr id="15" name="Pfeil: nach links 14">
                <a:extLst>
                  <a:ext uri="{FF2B5EF4-FFF2-40B4-BE49-F238E27FC236}">
                    <a16:creationId xmlns:a16="http://schemas.microsoft.com/office/drawing/2014/main" id="{2C0A912A-2832-E5FD-10A4-D85EAC1FA583}"/>
                  </a:ext>
                </a:extLst>
              </p:cNvPr>
              <p:cNvSpPr/>
              <p:nvPr/>
            </p:nvSpPr>
            <p:spPr>
              <a:xfrm rot="10800000">
                <a:off x="3920844" y="3189355"/>
                <a:ext cx="1131789" cy="392399"/>
              </a:xfrm>
              <a:prstGeom prst="leftArrow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39258206-4131-12A3-660F-17B889C6B58A}"/>
                  </a:ext>
                </a:extLst>
              </p:cNvPr>
              <p:cNvSpPr/>
              <p:nvPr/>
            </p:nvSpPr>
            <p:spPr>
              <a:xfrm>
                <a:off x="5283779" y="3035621"/>
                <a:ext cx="1507308" cy="74295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Proposal</a:t>
                </a:r>
              </a:p>
            </p:txBody>
          </p:sp>
          <p:sp>
            <p:nvSpPr>
              <p:cNvPr id="20" name="Ellipse 19">
                <a:extLst>
                  <a:ext uri="{FF2B5EF4-FFF2-40B4-BE49-F238E27FC236}">
                    <a16:creationId xmlns:a16="http://schemas.microsoft.com/office/drawing/2014/main" id="{71B297BD-EB29-7936-AFE6-4B0B3CCC06CA}"/>
                  </a:ext>
                </a:extLst>
              </p:cNvPr>
              <p:cNvSpPr/>
              <p:nvPr/>
            </p:nvSpPr>
            <p:spPr>
              <a:xfrm>
                <a:off x="5298361" y="4065689"/>
                <a:ext cx="1507308" cy="74295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Proposal</a:t>
                </a:r>
              </a:p>
            </p:txBody>
          </p:sp>
          <p:sp>
            <p:nvSpPr>
              <p:cNvPr id="21" name="Ellipse 20">
                <a:extLst>
                  <a:ext uri="{FF2B5EF4-FFF2-40B4-BE49-F238E27FC236}">
                    <a16:creationId xmlns:a16="http://schemas.microsoft.com/office/drawing/2014/main" id="{90575A8D-8C72-B615-A545-E12FE53533E5}"/>
                  </a:ext>
                </a:extLst>
              </p:cNvPr>
              <p:cNvSpPr/>
              <p:nvPr/>
            </p:nvSpPr>
            <p:spPr>
              <a:xfrm>
                <a:off x="5283779" y="1991506"/>
                <a:ext cx="1507308" cy="74295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Proposal</a:t>
                </a:r>
              </a:p>
            </p:txBody>
          </p:sp>
          <p:sp>
            <p:nvSpPr>
              <p:cNvPr id="22" name="Ellipse 21">
                <a:extLst>
                  <a:ext uri="{FF2B5EF4-FFF2-40B4-BE49-F238E27FC236}">
                    <a16:creationId xmlns:a16="http://schemas.microsoft.com/office/drawing/2014/main" id="{2063DA56-F4AD-AC48-CCFA-10F491C2F167}"/>
                  </a:ext>
                </a:extLst>
              </p:cNvPr>
              <p:cNvSpPr/>
              <p:nvPr/>
            </p:nvSpPr>
            <p:spPr>
              <a:xfrm>
                <a:off x="8806465" y="1912429"/>
                <a:ext cx="1507308" cy="74295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Decision</a:t>
                </a:r>
              </a:p>
            </p:txBody>
          </p:sp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6BCAFD35-9659-BAB9-4F1B-2ACD5A03309D}"/>
                  </a:ext>
                </a:extLst>
              </p:cNvPr>
              <p:cNvSpPr/>
              <p:nvPr/>
            </p:nvSpPr>
            <p:spPr>
              <a:xfrm>
                <a:off x="8806465" y="3062454"/>
                <a:ext cx="1507308" cy="74295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Decision</a:t>
                </a:r>
              </a:p>
            </p:txBody>
          </p:sp>
          <p:sp>
            <p:nvSpPr>
              <p:cNvPr id="24" name="Ellipse 23">
                <a:extLst>
                  <a:ext uri="{FF2B5EF4-FFF2-40B4-BE49-F238E27FC236}">
                    <a16:creationId xmlns:a16="http://schemas.microsoft.com/office/drawing/2014/main" id="{57C1F23F-BCC7-4F6C-01C3-846DEC0EFEC0}"/>
                  </a:ext>
                </a:extLst>
              </p:cNvPr>
              <p:cNvSpPr/>
              <p:nvPr/>
            </p:nvSpPr>
            <p:spPr>
              <a:xfrm>
                <a:off x="8786282" y="4176879"/>
                <a:ext cx="1507308" cy="74295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Decision</a:t>
                </a:r>
              </a:p>
            </p:txBody>
          </p:sp>
          <p:pic>
            <p:nvPicPr>
              <p:cNvPr id="29" name="Grafik 28">
                <a:extLst>
                  <a:ext uri="{FF2B5EF4-FFF2-40B4-BE49-F238E27FC236}">
                    <a16:creationId xmlns:a16="http://schemas.microsoft.com/office/drawing/2014/main" id="{FD624151-C93A-C1A6-942A-96A2AF69FF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31976" y="5750805"/>
                <a:ext cx="953091" cy="953091"/>
              </a:xfrm>
              <a:prstGeom prst="rect">
                <a:avLst/>
              </a:prstGeom>
            </p:spPr>
          </p:pic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2D9EE726-1AF9-8340-FED4-B3EFF74430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70828" y="1330703"/>
                <a:ext cx="18730" cy="4038599"/>
              </a:xfrm>
              <a:prstGeom prst="line">
                <a:avLst/>
              </a:prstGeom>
              <a:ln w="762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952CADCB-1CB0-F1CA-741C-CB151AC44414}"/>
                  </a:ext>
                </a:extLst>
              </p:cNvPr>
              <p:cNvSpPr/>
              <p:nvPr/>
            </p:nvSpPr>
            <p:spPr>
              <a:xfrm>
                <a:off x="7461549" y="2590503"/>
                <a:ext cx="888973" cy="159010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7" name="Pfeil: nach links 26">
                <a:extLst>
                  <a:ext uri="{FF2B5EF4-FFF2-40B4-BE49-F238E27FC236}">
                    <a16:creationId xmlns:a16="http://schemas.microsoft.com/office/drawing/2014/main" id="{D78CB09B-750F-9588-B243-6B065C35AC72}"/>
                  </a:ext>
                </a:extLst>
              </p:cNvPr>
              <p:cNvSpPr/>
              <p:nvPr/>
            </p:nvSpPr>
            <p:spPr>
              <a:xfrm rot="10800000">
                <a:off x="7396254" y="3106178"/>
                <a:ext cx="1131789" cy="392399"/>
              </a:xfrm>
              <a:prstGeom prst="leftArrow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37" name="Grafik 36">
                <a:extLst>
                  <a:ext uri="{FF2B5EF4-FFF2-40B4-BE49-F238E27FC236}">
                    <a16:creationId xmlns:a16="http://schemas.microsoft.com/office/drawing/2014/main" id="{B265D967-E0F6-75E0-AD93-28D8EEA450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16635" y="2518542"/>
                <a:ext cx="660908" cy="660908"/>
              </a:xfrm>
              <a:prstGeom prst="rect">
                <a:avLst/>
              </a:prstGeom>
            </p:spPr>
          </p:pic>
          <p:pic>
            <p:nvPicPr>
              <p:cNvPr id="40" name="Grafik 39">
                <a:extLst>
                  <a:ext uri="{FF2B5EF4-FFF2-40B4-BE49-F238E27FC236}">
                    <a16:creationId xmlns:a16="http://schemas.microsoft.com/office/drawing/2014/main" id="{606A1F1B-FF16-5FB9-1B7C-71990D18D2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7509541" y="3243197"/>
                <a:ext cx="742950" cy="742950"/>
              </a:xfrm>
              <a:prstGeom prst="rect">
                <a:avLst/>
              </a:prstGeom>
            </p:spPr>
          </p:pic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76BD3CD9-1AA6-01F6-ECFD-1B3E54261B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05036" y="5386421"/>
                <a:ext cx="2245072" cy="0"/>
              </a:xfrm>
              <a:prstGeom prst="line">
                <a:avLst/>
              </a:prstGeom>
              <a:ln w="28575"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Pfeil: nach links 29">
                <a:extLst>
                  <a:ext uri="{FF2B5EF4-FFF2-40B4-BE49-F238E27FC236}">
                    <a16:creationId xmlns:a16="http://schemas.microsoft.com/office/drawing/2014/main" id="{23F6AB9C-6C3F-7896-F149-587F6EA65541}"/>
                  </a:ext>
                </a:extLst>
              </p:cNvPr>
              <p:cNvSpPr/>
              <p:nvPr/>
            </p:nvSpPr>
            <p:spPr>
              <a:xfrm rot="16200000">
                <a:off x="5701910" y="5135504"/>
                <a:ext cx="742952" cy="392399"/>
              </a:xfrm>
              <a:prstGeom prst="leftArrow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3" name="Ellipse 52">
                <a:extLst>
                  <a:ext uri="{FF2B5EF4-FFF2-40B4-BE49-F238E27FC236}">
                    <a16:creationId xmlns:a16="http://schemas.microsoft.com/office/drawing/2014/main" id="{4CE273E4-DACC-18FE-B1F2-F22205DF295C}"/>
                  </a:ext>
                </a:extLst>
              </p:cNvPr>
              <p:cNvSpPr/>
              <p:nvPr/>
            </p:nvSpPr>
            <p:spPr>
              <a:xfrm>
                <a:off x="2500189" y="2978527"/>
                <a:ext cx="1240011" cy="74295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Raw</a:t>
                </a:r>
              </a:p>
            </p:txBody>
          </p:sp>
          <p:pic>
            <p:nvPicPr>
              <p:cNvPr id="54" name="Grafik 53">
                <a:extLst>
                  <a:ext uri="{FF2B5EF4-FFF2-40B4-BE49-F238E27FC236}">
                    <a16:creationId xmlns:a16="http://schemas.microsoft.com/office/drawing/2014/main" id="{F4B67388-3290-E097-0F90-89890F1565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5139109" y="4787658"/>
                <a:ext cx="742950" cy="742950"/>
              </a:xfrm>
              <a:prstGeom prst="rect">
                <a:avLst/>
              </a:prstGeom>
            </p:spPr>
          </p:pic>
          <p:pic>
            <p:nvPicPr>
              <p:cNvPr id="55" name="Grafik 54">
                <a:extLst>
                  <a:ext uri="{FF2B5EF4-FFF2-40B4-BE49-F238E27FC236}">
                    <a16:creationId xmlns:a16="http://schemas.microsoft.com/office/drawing/2014/main" id="{BB923A5B-0DCC-6EC9-543A-79CED09BB2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7540445" y="3566427"/>
                <a:ext cx="742950" cy="742950"/>
              </a:xfrm>
              <a:prstGeom prst="rect">
                <a:avLst/>
              </a:prstGeom>
            </p:spPr>
          </p:pic>
        </p:grp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5A5D133E-2F3E-D728-61FD-48C7E29F36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757477">
              <a:off x="794680" y="2579908"/>
              <a:ext cx="2182825" cy="21828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3023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754884" y="1204601"/>
            <a:ext cx="6265164" cy="2351399"/>
            <a:chOff x="2900934" y="2068201"/>
            <a:chExt cx="6265164" cy="235139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7"/>
              <a:chExt cx="1609958" cy="3976568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7"/>
                <a:ext cx="1609958" cy="3976568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9033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5389368" y="3182254"/>
              <a:ext cx="2004894" cy="615297"/>
              <a:chOff x="4408814" y="5346379"/>
              <a:chExt cx="824980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408814" y="5346379"/>
                <a:ext cx="786344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479908" y="5471494"/>
                <a:ext cx="753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2900934" y="2068201"/>
              <a:ext cx="61375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one logical job-session-process in two separate process-spaces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535617" y="3049876"/>
              <a:ext cx="1780191" cy="791538"/>
              <a:chOff x="798604" y="351742"/>
              <a:chExt cx="1780191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814720" y="378232"/>
                <a:ext cx="1764075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798604" y="351742"/>
                <a:ext cx="17577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session-broker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-server)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2082650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830997"/>
              <a:chOff x="482782" y="1498463"/>
              <a:chExt cx="1485126" cy="830997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-client)</a:t>
                </a:r>
              </a:p>
              <a:p>
                <a:endPara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393373" y="395109"/>
            <a:ext cx="50529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 i="1">
                <a:solidFill>
                  <a:srgbClr val="002060"/>
                </a:solidFill>
              </a:rPr>
              <a:t>Proposal</a:t>
            </a:r>
            <a:r>
              <a:rPr lang="de-DE" sz="2800" b="1"/>
              <a:t>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2658820" y="3671015"/>
            <a:ext cx="841875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 b="1"/>
              <a:t>Schaffung eines leichtgewichtigen </a:t>
            </a:r>
            <a:r>
              <a:rPr lang="de-DE" sz="1600" b="1" i="1"/>
              <a:t>one-to-one-IPC-Application-Protocols</a:t>
            </a:r>
            <a:r>
              <a:rPr lang="de-DE" sz="1600" b="1"/>
              <a:t>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2703271" y="4573680"/>
            <a:ext cx="824095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Starke und nachhaltige Entkopplung (- nicht nur </a:t>
            </a:r>
            <a:r>
              <a:rPr lang="de-DE" sz="1800" i="1"/>
              <a:t>zur Runtime im Prozessraum</a:t>
            </a:r>
            <a:r>
              <a:rPr lang="de-DE" sz="1800"/>
              <a:t>!)</a:t>
            </a:r>
          </a:p>
          <a:p>
            <a:r>
              <a:rPr lang="de-DE" sz="1600"/>
              <a:t>Auf einer Maschine - unterhalb des Netzwerkstacks (keine Firewall, etc.)</a:t>
            </a:r>
          </a:p>
          <a:p>
            <a:endParaRPr lang="de-DE" sz="1800"/>
          </a:p>
          <a:p>
            <a:r>
              <a:rPr lang="de-DE" sz="1800" b="1">
                <a:solidFill>
                  <a:srgbClr val="0070C0"/>
                </a:solidFill>
              </a:rPr>
              <a:t>Zwei</a:t>
            </a:r>
            <a:r>
              <a:rPr lang="de-DE" sz="1800" b="1"/>
              <a:t> logisch, technologisch und architekturell getrennte </a:t>
            </a:r>
            <a:r>
              <a:rPr lang="de-DE" sz="1800" b="1" i="1">
                <a:solidFill>
                  <a:srgbClr val="0070C0"/>
                </a:solidFill>
              </a:rPr>
              <a:t>Domänen</a:t>
            </a:r>
            <a:r>
              <a:rPr lang="de-DE" sz="1800" b="1" i="1"/>
              <a:t>…</a:t>
            </a:r>
          </a:p>
          <a:p>
            <a:r>
              <a:rPr lang="de-DE" sz="1800"/>
              <a:t>…mit einer l</a:t>
            </a:r>
            <a:r>
              <a:rPr lang="de-DE"/>
              <a:t>eichtgewichtige Kopplung über das </a:t>
            </a:r>
            <a:r>
              <a:rPr lang="de-DE" b="1"/>
              <a:t>JAP-Protokoll</a:t>
            </a:r>
            <a:r>
              <a:rPr lang="de-DE"/>
              <a:t>.</a:t>
            </a:r>
            <a:r>
              <a:rPr lang="de-DE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719853" y="1349688"/>
            <a:ext cx="3321647" cy="3976566"/>
            <a:chOff x="849237" y="586290"/>
            <a:chExt cx="2817507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849237" y="586290"/>
              <a:ext cx="2817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89094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9296937" y="135895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6706881" y="1330649"/>
            <a:ext cx="2507055" cy="2937056"/>
            <a:chOff x="4366189" y="2914892"/>
            <a:chExt cx="2507055" cy="2937056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2507055" cy="615297"/>
              <a:chOff x="4171385" y="5346379"/>
              <a:chExt cx="1031611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6624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14892"/>
              <a:ext cx="2257200" cy="1968456"/>
              <a:chOff x="4452536" y="3626220"/>
              <a:chExt cx="2257200" cy="1968456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3626220"/>
                <a:ext cx="2257200" cy="196845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74644" y="3716107"/>
                <a:ext cx="1911549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(Serialization-Convention)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 i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716936" y="866775"/>
            <a:ext cx="10672677" cy="553402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52326" y="153024"/>
            <a:ext cx="99238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 </a:t>
            </a:r>
            <a:r>
              <a:rPr lang="de-DE" sz="2400">
                <a:solidFill>
                  <a:srgbClr val="002060"/>
                </a:solidFill>
              </a:rPr>
              <a:t>(PoC/Proposal) | environment-bound machine perspective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728070" y="1632898"/>
            <a:ext cx="12415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rgbClr val="7030A0"/>
                </a:solidFill>
              </a:rPr>
              <a:t>The Backend-</a:t>
            </a:r>
          </a:p>
          <a:p>
            <a:pPr algn="ctr"/>
            <a:r>
              <a:rPr lang="de-DE" sz="1400" i="1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9470530" y="1608065"/>
            <a:ext cx="12568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The Job-Dev‘s</a:t>
            </a:r>
          </a:p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World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7161390" y="45270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7065610" y="54680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7491958" y="54975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5561567" y="4145363"/>
            <a:ext cx="323153" cy="2684933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9332231" y="4879722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9283928" y="3456530"/>
            <a:ext cx="1494650" cy="832330"/>
            <a:chOff x="482782" y="1498463"/>
            <a:chExt cx="1494650" cy="832330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505248" y="1524952"/>
              <a:ext cx="1472184" cy="80584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7112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  <a:p>
              <a:r>
                <a:rPr lang="de-DE" sz="140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(jap-client)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51391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7966369" y="50221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7960409" y="4113881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6034088" y="4774625"/>
            <a:ext cx="112730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8771348" y="47746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7849943" y="33698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6905753" y="14110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6303761" y="2232505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6294765" y="222900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0350DC4E-5E92-D3B9-D0DA-9235D898AC5E}"/>
              </a:ext>
            </a:extLst>
          </p:cNvPr>
          <p:cNvGrpSpPr/>
          <p:nvPr/>
        </p:nvGrpSpPr>
        <p:grpSpPr>
          <a:xfrm>
            <a:off x="3542966" y="2160990"/>
            <a:ext cx="2263355" cy="1476633"/>
            <a:chOff x="1335911" y="586290"/>
            <a:chExt cx="2263355" cy="3976566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92A8018-579A-37E7-9B3B-FDBD9F67BAED}"/>
                </a:ext>
              </a:extLst>
            </p:cNvPr>
            <p:cNvSpPr/>
            <p:nvPr/>
          </p:nvSpPr>
          <p:spPr>
            <a:xfrm>
              <a:off x="1335911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D17009CC-9586-56A6-451D-81BAB88CF3FA}"/>
                </a:ext>
              </a:extLst>
            </p:cNvPr>
            <p:cNvSpPr txBox="1"/>
            <p:nvPr/>
          </p:nvSpPr>
          <p:spPr>
            <a:xfrm>
              <a:off x="1457219" y="594762"/>
              <a:ext cx="2142047" cy="3895553"/>
            </a:xfrm>
            <a:prstGeom prst="rect">
              <a:avLst/>
            </a:prstGeom>
            <a:noFill/>
            <a:ln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>
                  <a:solidFill>
                    <a:srgbClr val="7030A0"/>
                  </a:solidFill>
                </a:rPr>
                <a:t>orchestrators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listener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ticker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CLI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time-scheduler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workflow-runner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4880865" y="3456529"/>
            <a:ext cx="1770877" cy="873927"/>
            <a:chOff x="249329" y="351742"/>
            <a:chExt cx="1770877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274730" y="378232"/>
              <a:ext cx="1745476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249329" y="351742"/>
              <a:ext cx="1757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session-broker</a:t>
              </a:r>
            </a:p>
            <a:p>
              <a:r>
                <a:rPr lang="de-DE" sz="1400"/>
                <a:t>(jap-server)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A639B898-E821-7E35-2C32-C103C00094FD}"/>
              </a:ext>
            </a:extLst>
          </p:cNvPr>
          <p:cNvSpPr txBox="1"/>
          <p:nvPr/>
        </p:nvSpPr>
        <p:spPr>
          <a:xfrm>
            <a:off x="9371856" y="2084790"/>
            <a:ext cx="15126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Result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Execution-Report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Progress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Cancellation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---</a:t>
            </a:r>
            <a:endParaRPr lang="de-DE" sz="1400" i="1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9F14E42-6BAC-BD2F-5270-0B2F06944310}"/>
              </a:ext>
            </a:extLst>
          </p:cNvPr>
          <p:cNvGrpSpPr/>
          <p:nvPr/>
        </p:nvGrpSpPr>
        <p:grpSpPr>
          <a:xfrm>
            <a:off x="2816688" y="4031514"/>
            <a:ext cx="1886832" cy="1147585"/>
            <a:chOff x="40493" y="5031901"/>
            <a:chExt cx="1886832" cy="3090441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7A7FE823-3284-82FE-BA1A-1E9AB2D8CF59}"/>
                </a:ext>
              </a:extLst>
            </p:cNvPr>
            <p:cNvSpPr/>
            <p:nvPr/>
          </p:nvSpPr>
          <p:spPr>
            <a:xfrm>
              <a:off x="57730" y="5146372"/>
              <a:ext cx="1782923" cy="297597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2AE1817D-175E-F853-DF97-971FBDEC96E1}"/>
                </a:ext>
              </a:extLst>
            </p:cNvPr>
            <p:cNvSpPr txBox="1"/>
            <p:nvPr/>
          </p:nvSpPr>
          <p:spPr>
            <a:xfrm>
              <a:off x="40493" y="5031901"/>
              <a:ext cx="1886832" cy="2900943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 i="1">
                  <a:solidFill>
                    <a:srgbClr val="7030A0"/>
                  </a:solidFill>
                </a:rPr>
                <a:t>contoso</a:t>
              </a:r>
              <a:r>
                <a:rPr lang="de-DE" sz="1600" b="1">
                  <a:solidFill>
                    <a:srgbClr val="7030A0"/>
                  </a:solidFill>
                </a:rPr>
                <a:t>-adapters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identity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configuration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sp>
        <p:nvSpPr>
          <p:cNvPr id="52" name="Pfeil: nach links und oben 51">
            <a:extLst>
              <a:ext uri="{FF2B5EF4-FFF2-40B4-BE49-F238E27FC236}">
                <a16:creationId xmlns:a16="http://schemas.microsoft.com/office/drawing/2014/main" id="{19A34D1E-D4EE-DD8F-5BBD-2616423A4F52}"/>
              </a:ext>
            </a:extLst>
          </p:cNvPr>
          <p:cNvSpPr/>
          <p:nvPr/>
        </p:nvSpPr>
        <p:spPr>
          <a:xfrm>
            <a:off x="4650681" y="4443284"/>
            <a:ext cx="1127098" cy="604667"/>
          </a:xfrm>
          <a:prstGeom prst="leftUpArrow">
            <a:avLst>
              <a:gd name="adj1" fmla="val 29839"/>
              <a:gd name="adj2" fmla="val 25938"/>
              <a:gd name="adj3" fmla="val 25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04050EB1-A539-7FC6-1CAF-4623AF72E2C7}"/>
              </a:ext>
            </a:extLst>
          </p:cNvPr>
          <p:cNvSpPr txBox="1"/>
          <p:nvPr/>
        </p:nvSpPr>
        <p:spPr>
          <a:xfrm>
            <a:off x="4639916" y="4756778"/>
            <a:ext cx="1122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/>
              <a:t>one-to-one </a:t>
            </a:r>
            <a:r>
              <a:rPr lang="de-DE" sz="1100" b="1" i="1"/>
              <a:t>IPC</a:t>
            </a: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844495D9-99B6-A9B6-04AB-057AC8EA79DB}"/>
              </a:ext>
            </a:extLst>
          </p:cNvPr>
          <p:cNvGrpSpPr/>
          <p:nvPr/>
        </p:nvGrpSpPr>
        <p:grpSpPr>
          <a:xfrm>
            <a:off x="954291" y="1145982"/>
            <a:ext cx="1361481" cy="5026217"/>
            <a:chOff x="1813797" y="924492"/>
            <a:chExt cx="1361481" cy="4965164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70C63357-7CD2-5583-121F-BF48219175DB}"/>
                </a:ext>
              </a:extLst>
            </p:cNvPr>
            <p:cNvSpPr/>
            <p:nvPr/>
          </p:nvSpPr>
          <p:spPr>
            <a:xfrm>
              <a:off x="1813797" y="924492"/>
              <a:ext cx="1361481" cy="49651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48E170DD-6921-4FD3-4D8F-049D4178C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3448" y="1601482"/>
              <a:ext cx="1056380" cy="1056380"/>
            </a:xfrm>
            <a:prstGeom prst="rect">
              <a:avLst/>
            </a:prstGeom>
          </p:spPr>
        </p:pic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FA4F611-45B3-93E1-2FD0-C085FEE8A27E}"/>
                </a:ext>
              </a:extLst>
            </p:cNvPr>
            <p:cNvSpPr txBox="1"/>
            <p:nvPr/>
          </p:nvSpPr>
          <p:spPr>
            <a:xfrm>
              <a:off x="2006364" y="924492"/>
              <a:ext cx="9890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josyn-db</a:t>
              </a:r>
            </a:p>
            <a:p>
              <a:r>
                <a:rPr lang="de-DE" sz="1200">
                  <a:solidFill>
                    <a:srgbClr val="002060"/>
                  </a:solidFill>
                </a:rPr>
                <a:t>MS-SQL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4078FDE5-C4AA-6D6B-B7C7-A3788D89BD1F}"/>
                </a:ext>
              </a:extLst>
            </p:cNvPr>
            <p:cNvSpPr txBox="1"/>
            <p:nvPr/>
          </p:nvSpPr>
          <p:spPr>
            <a:xfrm>
              <a:off x="1823626" y="2790706"/>
              <a:ext cx="135165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session-store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error-store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job-registry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job-scheduling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…</a:t>
              </a:r>
            </a:p>
          </p:txBody>
        </p:sp>
      </p:grpSp>
      <p:sp>
        <p:nvSpPr>
          <p:cNvPr id="67" name="Pfeil: nach oben gebogen 66">
            <a:extLst>
              <a:ext uri="{FF2B5EF4-FFF2-40B4-BE49-F238E27FC236}">
                <a16:creationId xmlns:a16="http://schemas.microsoft.com/office/drawing/2014/main" id="{11E2D0FA-85DA-5DEA-97C0-F34D484A8434}"/>
              </a:ext>
            </a:extLst>
          </p:cNvPr>
          <p:cNvSpPr/>
          <p:nvPr/>
        </p:nvSpPr>
        <p:spPr>
          <a:xfrm rot="5400000">
            <a:off x="4440128" y="3575620"/>
            <a:ext cx="387743" cy="524050"/>
          </a:xfrm>
          <a:prstGeom prst="bentUpArrow">
            <a:avLst>
              <a:gd name="adj1" fmla="val 32256"/>
              <a:gd name="adj2" fmla="val 29535"/>
              <a:gd name="adj3" fmla="val 34068"/>
            </a:avLst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539619E-3956-EC30-4D9A-1FFE6BA84989}"/>
              </a:ext>
            </a:extLst>
          </p:cNvPr>
          <p:cNvSpPr txBox="1"/>
          <p:nvPr/>
        </p:nvSpPr>
        <p:spPr>
          <a:xfrm>
            <a:off x="4310365" y="3804893"/>
            <a:ext cx="6014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b="1"/>
              <a:t>launcher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C17422F-E89D-D549-F4A0-F4E416CC6D74}"/>
              </a:ext>
            </a:extLst>
          </p:cNvPr>
          <p:cNvSpPr/>
          <p:nvPr/>
        </p:nvSpPr>
        <p:spPr>
          <a:xfrm>
            <a:off x="2511951" y="1128292"/>
            <a:ext cx="8677227" cy="5018662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47F840B-F118-2E9E-85D6-4D4400DA71D1}"/>
              </a:ext>
            </a:extLst>
          </p:cNvPr>
          <p:cNvSpPr txBox="1"/>
          <p:nvPr/>
        </p:nvSpPr>
        <p:spPr>
          <a:xfrm>
            <a:off x="2624375" y="961317"/>
            <a:ext cx="283443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headless machine </a:t>
            </a:r>
            <a:r>
              <a:rPr lang="de-DE">
                <a:solidFill>
                  <a:srgbClr val="002060"/>
                </a:solidFill>
              </a:rPr>
              <a:t>- 1 of n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5F8CB247-06B3-C14B-5535-7AEDC74D4CC1}"/>
              </a:ext>
            </a:extLst>
          </p:cNvPr>
          <p:cNvSpPr txBox="1"/>
          <p:nvPr/>
        </p:nvSpPr>
        <p:spPr>
          <a:xfrm>
            <a:off x="903613" y="666962"/>
            <a:ext cx="19303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env </a:t>
            </a:r>
            <a:r>
              <a:rPr lang="de-DE">
                <a:solidFill>
                  <a:srgbClr val="002060"/>
                </a:solidFill>
              </a:rPr>
              <a:t>(prod|int|dev)</a:t>
            </a: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F3E8D9B7-B951-5849-DABA-58CA6079B6F6}"/>
              </a:ext>
            </a:extLst>
          </p:cNvPr>
          <p:cNvCxnSpPr/>
          <p:nvPr/>
        </p:nvCxnSpPr>
        <p:spPr>
          <a:xfrm>
            <a:off x="7099300" y="1990725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16D4DDBC-FB00-FE45-D54F-D986C5ED361B}"/>
              </a:ext>
            </a:extLst>
          </p:cNvPr>
          <p:cNvCxnSpPr/>
          <p:nvPr/>
        </p:nvCxnSpPr>
        <p:spPr>
          <a:xfrm>
            <a:off x="7099300" y="2697196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Grafik 70">
            <a:extLst>
              <a:ext uri="{FF2B5EF4-FFF2-40B4-BE49-F238E27FC236}">
                <a16:creationId xmlns:a16="http://schemas.microsoft.com/office/drawing/2014/main" id="{2153665A-8E4E-D8DA-B6EB-46A77D170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702" y="4365389"/>
            <a:ext cx="366234" cy="357021"/>
          </a:xfrm>
          <a:prstGeom prst="rect">
            <a:avLst/>
          </a:prstGeom>
        </p:spPr>
      </p:pic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D34BB2CC-52FF-2FC4-2833-09C955FCDA30}"/>
              </a:ext>
            </a:extLst>
          </p:cNvPr>
          <p:cNvGrpSpPr/>
          <p:nvPr/>
        </p:nvGrpSpPr>
        <p:grpSpPr>
          <a:xfrm>
            <a:off x="2806073" y="3816509"/>
            <a:ext cx="1487539" cy="276999"/>
            <a:chOff x="3181943" y="5397086"/>
            <a:chExt cx="1203134" cy="276999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B70D8F2-CDC7-7055-B487-470EA1D42C29}"/>
                </a:ext>
              </a:extLst>
            </p:cNvPr>
            <p:cNvSpPr/>
            <p:nvPr/>
          </p:nvSpPr>
          <p:spPr>
            <a:xfrm>
              <a:off x="3204380" y="5398271"/>
              <a:ext cx="1141782" cy="25886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1F57061-C48D-2C51-506A-F3D57C41CB51}"/>
                </a:ext>
              </a:extLst>
            </p:cNvPr>
            <p:cNvSpPr txBox="1"/>
            <p:nvPr/>
          </p:nvSpPr>
          <p:spPr>
            <a:xfrm>
              <a:off x="3181943" y="5397086"/>
              <a:ext cx="1203134" cy="276999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200" b="1" i="1">
                  <a:solidFill>
                    <a:srgbClr val="7030A0"/>
                  </a:solidFill>
                </a:rPr>
                <a:t>contoso</a:t>
              </a:r>
              <a:r>
                <a:rPr lang="de-DE" sz="1200" b="1">
                  <a:solidFill>
                    <a:srgbClr val="7030A0"/>
                  </a:solidFill>
                </a:rPr>
                <a:t>-contracts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10426307" y="50278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4F62C5C-0D4A-4406-2FD1-660DB0F20D83}"/>
              </a:ext>
            </a:extLst>
          </p:cNvPr>
          <p:cNvGrpSpPr/>
          <p:nvPr/>
        </p:nvGrpSpPr>
        <p:grpSpPr>
          <a:xfrm>
            <a:off x="9425094" y="4369662"/>
            <a:ext cx="1364910" cy="584775"/>
            <a:chOff x="9425094" y="4382362"/>
            <a:chExt cx="1364910" cy="58477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BF9D75D2-70BD-FE79-8A4B-45C5AB2987E1}"/>
                </a:ext>
              </a:extLst>
            </p:cNvPr>
            <p:cNvSpPr/>
            <p:nvPr/>
          </p:nvSpPr>
          <p:spPr>
            <a:xfrm>
              <a:off x="9425094" y="4404515"/>
              <a:ext cx="1364910" cy="54629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3" name="Grafik 72">
              <a:extLst>
                <a:ext uri="{FF2B5EF4-FFF2-40B4-BE49-F238E27FC236}">
                  <a16:creationId xmlns:a16="http://schemas.microsoft.com/office/drawing/2014/main" id="{08D5A4D1-A73D-BD30-0B6E-173C2C5E1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09756" y="4498313"/>
              <a:ext cx="366234" cy="357021"/>
            </a:xfrm>
            <a:prstGeom prst="rect">
              <a:avLst/>
            </a:prstGeom>
          </p:spPr>
        </p:pic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EEF4584-4569-91C5-5871-432896611578}"/>
                </a:ext>
              </a:extLst>
            </p:cNvPr>
            <p:cNvSpPr txBox="1"/>
            <p:nvPr/>
          </p:nvSpPr>
          <p:spPr>
            <a:xfrm>
              <a:off x="9833386" y="4382362"/>
              <a:ext cx="9450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contoso</a:t>
              </a:r>
            </a:p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9B1E-EC5E-7DBE-C605-51B9B0786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feld 41">
            <a:extLst>
              <a:ext uri="{FF2B5EF4-FFF2-40B4-BE49-F238E27FC236}">
                <a16:creationId xmlns:a16="http://schemas.microsoft.com/office/drawing/2014/main" id="{50C5CCA2-97C4-F1BE-3F7D-E940CEC2760C}"/>
              </a:ext>
            </a:extLst>
          </p:cNvPr>
          <p:cNvSpPr txBox="1"/>
          <p:nvPr/>
        </p:nvSpPr>
        <p:spPr>
          <a:xfrm>
            <a:off x="518868" y="181599"/>
            <a:ext cx="77120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 </a:t>
            </a:r>
            <a:r>
              <a:rPr lang="de-DE" sz="2400">
                <a:solidFill>
                  <a:srgbClr val="002060"/>
                </a:solidFill>
              </a:rPr>
              <a:t>(PoC/Proposal) | paramount perspective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6DD36379-05F6-3345-4AD2-DB2E75B70F7E}"/>
              </a:ext>
            </a:extLst>
          </p:cNvPr>
          <p:cNvGrpSpPr/>
          <p:nvPr/>
        </p:nvGrpSpPr>
        <p:grpSpPr>
          <a:xfrm>
            <a:off x="876459" y="3796470"/>
            <a:ext cx="3276600" cy="2328105"/>
            <a:chOff x="4429125" y="1110420"/>
            <a:chExt cx="3276600" cy="2328105"/>
          </a:xfrm>
        </p:grpSpPr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4CB9E22E-A679-3625-A2E9-80C148B99629}"/>
                </a:ext>
              </a:extLst>
            </p:cNvPr>
            <p:cNvSpPr/>
            <p:nvPr/>
          </p:nvSpPr>
          <p:spPr>
            <a:xfrm>
              <a:off x="4429125" y="1323975"/>
              <a:ext cx="3276600" cy="2114550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0" name="Gruppieren 59">
              <a:extLst>
                <a:ext uri="{FF2B5EF4-FFF2-40B4-BE49-F238E27FC236}">
                  <a16:creationId xmlns:a16="http://schemas.microsoft.com/office/drawing/2014/main" id="{C76509CC-5BDF-2B15-D4B2-376C29E338EA}"/>
                </a:ext>
              </a:extLst>
            </p:cNvPr>
            <p:cNvGrpSpPr/>
            <p:nvPr/>
          </p:nvGrpSpPr>
          <p:grpSpPr>
            <a:xfrm>
              <a:off x="4568656" y="1536242"/>
              <a:ext cx="1013326" cy="1702258"/>
              <a:chOff x="1820150" y="924493"/>
              <a:chExt cx="1013326" cy="1681581"/>
            </a:xfrm>
          </p:grpSpPr>
          <p:sp>
            <p:nvSpPr>
              <p:cNvPr id="58" name="Rechteck 57">
                <a:extLst>
                  <a:ext uri="{FF2B5EF4-FFF2-40B4-BE49-F238E27FC236}">
                    <a16:creationId xmlns:a16="http://schemas.microsoft.com/office/drawing/2014/main" id="{3E8347AF-8829-7A63-DC62-5C9AB8121017}"/>
                  </a:ext>
                </a:extLst>
              </p:cNvPr>
              <p:cNvSpPr/>
              <p:nvPr/>
            </p:nvSpPr>
            <p:spPr>
              <a:xfrm>
                <a:off x="1820150" y="924493"/>
                <a:ext cx="1013326" cy="168158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28" name="Grafik 27">
                <a:extLst>
                  <a:ext uri="{FF2B5EF4-FFF2-40B4-BE49-F238E27FC236}">
                    <a16:creationId xmlns:a16="http://schemas.microsoft.com/office/drawing/2014/main" id="{16202F63-A2FB-3668-081C-369352E559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78263" y="1330212"/>
                <a:ext cx="855213" cy="855212"/>
              </a:xfrm>
              <a:prstGeom prst="rect">
                <a:avLst/>
              </a:prstGeom>
            </p:spPr>
          </p:pic>
        </p:grp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B0D9FBAA-BCE2-2FF0-FFAB-6060B1DFB1BA}"/>
                </a:ext>
              </a:extLst>
            </p:cNvPr>
            <p:cNvSpPr txBox="1"/>
            <p:nvPr/>
          </p:nvSpPr>
          <p:spPr>
            <a:xfrm>
              <a:off x="4568656" y="1110420"/>
              <a:ext cx="696587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2060"/>
                  </a:solidFill>
                </a:rPr>
                <a:t>prod</a:t>
              </a:r>
              <a:endParaRPr lang="de-DE">
                <a:solidFill>
                  <a:srgbClr val="002060"/>
                </a:solidFill>
              </a:endParaRPr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E8653C20-8972-EC34-25A6-B089321287B6}"/>
                </a:ext>
              </a:extLst>
            </p:cNvPr>
            <p:cNvSpPr/>
            <p:nvPr/>
          </p:nvSpPr>
          <p:spPr>
            <a:xfrm>
              <a:off x="5716443" y="1536242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1AED45E9-3916-3984-E674-F11578A47931}"/>
                </a:ext>
              </a:extLst>
            </p:cNvPr>
            <p:cNvSpPr/>
            <p:nvPr/>
          </p:nvSpPr>
          <p:spPr>
            <a:xfrm>
              <a:off x="5716443" y="2139035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9B6DEE85-7BC1-53D6-9ACA-E05E1290F534}"/>
                </a:ext>
              </a:extLst>
            </p:cNvPr>
            <p:cNvSpPr/>
            <p:nvPr/>
          </p:nvSpPr>
          <p:spPr>
            <a:xfrm>
              <a:off x="5716442" y="2735364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3557DB5F-8A73-70C4-46AD-A6915AF162EB}"/>
                </a:ext>
              </a:extLst>
            </p:cNvPr>
            <p:cNvSpPr txBox="1"/>
            <p:nvPr/>
          </p:nvSpPr>
          <p:spPr>
            <a:xfrm>
              <a:off x="5850900" y="1624215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p-01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916C6AF-5735-AD9B-5D3B-E6F4198E60C6}"/>
                </a:ext>
              </a:extLst>
            </p:cNvPr>
            <p:cNvSpPr txBox="1"/>
            <p:nvPr/>
          </p:nvSpPr>
          <p:spPr>
            <a:xfrm>
              <a:off x="5850900" y="2230354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p-02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F6FEFC5E-B681-FA39-B677-FA10127052A3}"/>
                </a:ext>
              </a:extLst>
            </p:cNvPr>
            <p:cNvSpPr txBox="1"/>
            <p:nvPr/>
          </p:nvSpPr>
          <p:spPr>
            <a:xfrm>
              <a:off x="5850900" y="2801973"/>
              <a:ext cx="16353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p-n…</a:t>
              </a:r>
            </a:p>
          </p:txBody>
        </p: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EE4963FB-A264-E120-0B48-FD97B4F6733F}"/>
              </a:ext>
            </a:extLst>
          </p:cNvPr>
          <p:cNvGrpSpPr/>
          <p:nvPr/>
        </p:nvGrpSpPr>
        <p:grpSpPr>
          <a:xfrm>
            <a:off x="4411341" y="3796470"/>
            <a:ext cx="3276600" cy="2328105"/>
            <a:chOff x="4429125" y="1110420"/>
            <a:chExt cx="3276600" cy="2328105"/>
          </a:xfrm>
        </p:grpSpPr>
        <p:sp>
          <p:nvSpPr>
            <p:cNvPr id="77" name="Rechteck 76">
              <a:extLst>
                <a:ext uri="{FF2B5EF4-FFF2-40B4-BE49-F238E27FC236}">
                  <a16:creationId xmlns:a16="http://schemas.microsoft.com/office/drawing/2014/main" id="{42E0F9F9-AB2E-BBB9-42C3-0FDB5AD82563}"/>
                </a:ext>
              </a:extLst>
            </p:cNvPr>
            <p:cNvSpPr/>
            <p:nvPr/>
          </p:nvSpPr>
          <p:spPr>
            <a:xfrm>
              <a:off x="4429125" y="1323975"/>
              <a:ext cx="3276600" cy="2114550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2C4302CE-B741-4526-8E63-153F56D6BC45}"/>
                </a:ext>
              </a:extLst>
            </p:cNvPr>
            <p:cNvGrpSpPr/>
            <p:nvPr/>
          </p:nvGrpSpPr>
          <p:grpSpPr>
            <a:xfrm>
              <a:off x="4568656" y="1536242"/>
              <a:ext cx="1013326" cy="1702258"/>
              <a:chOff x="1820150" y="924493"/>
              <a:chExt cx="1013326" cy="1681581"/>
            </a:xfrm>
          </p:grpSpPr>
          <p:sp>
            <p:nvSpPr>
              <p:cNvPr id="86" name="Rechteck 85">
                <a:extLst>
                  <a:ext uri="{FF2B5EF4-FFF2-40B4-BE49-F238E27FC236}">
                    <a16:creationId xmlns:a16="http://schemas.microsoft.com/office/drawing/2014/main" id="{CDF4E0B1-2D28-F2BB-6C23-A9D4F09D89B1}"/>
                  </a:ext>
                </a:extLst>
              </p:cNvPr>
              <p:cNvSpPr/>
              <p:nvPr/>
            </p:nvSpPr>
            <p:spPr>
              <a:xfrm>
                <a:off x="1820150" y="924493"/>
                <a:ext cx="1013326" cy="168158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87" name="Grafik 86">
                <a:extLst>
                  <a:ext uri="{FF2B5EF4-FFF2-40B4-BE49-F238E27FC236}">
                    <a16:creationId xmlns:a16="http://schemas.microsoft.com/office/drawing/2014/main" id="{E11E8A44-0E0B-1FFC-8DD7-1EF39AF065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78263" y="1330212"/>
                <a:ext cx="855213" cy="855212"/>
              </a:xfrm>
              <a:prstGeom prst="rect">
                <a:avLst/>
              </a:prstGeom>
            </p:spPr>
          </p:pic>
        </p:grp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376A21D2-038F-AEED-87CD-16482ACCEA85}"/>
                </a:ext>
              </a:extLst>
            </p:cNvPr>
            <p:cNvSpPr txBox="1"/>
            <p:nvPr/>
          </p:nvSpPr>
          <p:spPr>
            <a:xfrm>
              <a:off x="4568656" y="1110420"/>
              <a:ext cx="544845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2060"/>
                  </a:solidFill>
                </a:rPr>
                <a:t>int</a:t>
              </a:r>
              <a:endParaRPr lang="de-DE">
                <a:solidFill>
                  <a:srgbClr val="002060"/>
                </a:solidFill>
              </a:endParaRPr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903E0E31-6D1C-14CB-10A4-98A52811B2EF}"/>
                </a:ext>
              </a:extLst>
            </p:cNvPr>
            <p:cNvSpPr/>
            <p:nvPr/>
          </p:nvSpPr>
          <p:spPr>
            <a:xfrm>
              <a:off x="5716443" y="1536242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9E63DD4D-A10D-DEC7-D199-A4578F8CACCB}"/>
                </a:ext>
              </a:extLst>
            </p:cNvPr>
            <p:cNvSpPr/>
            <p:nvPr/>
          </p:nvSpPr>
          <p:spPr>
            <a:xfrm>
              <a:off x="5716443" y="2139035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Rechteck 81">
              <a:extLst>
                <a:ext uri="{FF2B5EF4-FFF2-40B4-BE49-F238E27FC236}">
                  <a16:creationId xmlns:a16="http://schemas.microsoft.com/office/drawing/2014/main" id="{6D74EE23-41B8-60FE-F242-FFF287168719}"/>
                </a:ext>
              </a:extLst>
            </p:cNvPr>
            <p:cNvSpPr/>
            <p:nvPr/>
          </p:nvSpPr>
          <p:spPr>
            <a:xfrm>
              <a:off x="5716442" y="2735364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054ED0B3-6854-2677-853F-42A117DE03C3}"/>
                </a:ext>
              </a:extLst>
            </p:cNvPr>
            <p:cNvSpPr txBox="1"/>
            <p:nvPr/>
          </p:nvSpPr>
          <p:spPr>
            <a:xfrm>
              <a:off x="5850900" y="162421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i-01</a:t>
              </a:r>
            </a:p>
          </p:txBody>
        </p:sp>
        <p:sp>
          <p:nvSpPr>
            <p:cNvPr id="84" name="Textfeld 83">
              <a:extLst>
                <a:ext uri="{FF2B5EF4-FFF2-40B4-BE49-F238E27FC236}">
                  <a16:creationId xmlns:a16="http://schemas.microsoft.com/office/drawing/2014/main" id="{B1A741D4-10F8-B2BB-3E86-7CDDEC7DF6D5}"/>
                </a:ext>
              </a:extLst>
            </p:cNvPr>
            <p:cNvSpPr txBox="1"/>
            <p:nvPr/>
          </p:nvSpPr>
          <p:spPr>
            <a:xfrm>
              <a:off x="5850900" y="2230354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i-02</a:t>
              </a:r>
            </a:p>
          </p:txBody>
        </p: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F44DE05C-5E2E-FE5D-2571-E3B5D5FA9728}"/>
                </a:ext>
              </a:extLst>
            </p:cNvPr>
            <p:cNvSpPr txBox="1"/>
            <p:nvPr/>
          </p:nvSpPr>
          <p:spPr>
            <a:xfrm>
              <a:off x="5850900" y="2801973"/>
              <a:ext cx="1560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i-n…</a:t>
              </a:r>
            </a:p>
          </p:txBody>
        </p:sp>
      </p:grp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F2C764CF-ED26-F5B0-866D-E42804B1FBEE}"/>
              </a:ext>
            </a:extLst>
          </p:cNvPr>
          <p:cNvGrpSpPr/>
          <p:nvPr/>
        </p:nvGrpSpPr>
        <p:grpSpPr>
          <a:xfrm>
            <a:off x="7974798" y="3796470"/>
            <a:ext cx="3276600" cy="2328105"/>
            <a:chOff x="4429125" y="1110420"/>
            <a:chExt cx="3276600" cy="2328105"/>
          </a:xfrm>
        </p:grpSpPr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5C4AAD48-7E7D-D14C-9309-279D0FB96342}"/>
                </a:ext>
              </a:extLst>
            </p:cNvPr>
            <p:cNvSpPr/>
            <p:nvPr/>
          </p:nvSpPr>
          <p:spPr>
            <a:xfrm>
              <a:off x="4429125" y="1323975"/>
              <a:ext cx="3276600" cy="2114550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90" name="Gruppieren 89">
              <a:extLst>
                <a:ext uri="{FF2B5EF4-FFF2-40B4-BE49-F238E27FC236}">
                  <a16:creationId xmlns:a16="http://schemas.microsoft.com/office/drawing/2014/main" id="{E34142B9-CD46-8E11-6609-60F55464A347}"/>
                </a:ext>
              </a:extLst>
            </p:cNvPr>
            <p:cNvGrpSpPr/>
            <p:nvPr/>
          </p:nvGrpSpPr>
          <p:grpSpPr>
            <a:xfrm>
              <a:off x="4568656" y="1536242"/>
              <a:ext cx="1013326" cy="1702258"/>
              <a:chOff x="1820150" y="924493"/>
              <a:chExt cx="1013326" cy="1681581"/>
            </a:xfrm>
          </p:grpSpPr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B6C7D4EA-0E05-2D0D-4018-7B4F42898C0F}"/>
                  </a:ext>
                </a:extLst>
              </p:cNvPr>
              <p:cNvSpPr/>
              <p:nvPr/>
            </p:nvSpPr>
            <p:spPr>
              <a:xfrm>
                <a:off x="1820150" y="924493"/>
                <a:ext cx="1013326" cy="168158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99" name="Grafik 98">
                <a:extLst>
                  <a:ext uri="{FF2B5EF4-FFF2-40B4-BE49-F238E27FC236}">
                    <a16:creationId xmlns:a16="http://schemas.microsoft.com/office/drawing/2014/main" id="{EA56D6D8-0873-0FF5-0493-01D608F0DB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78263" y="1330212"/>
                <a:ext cx="855213" cy="855212"/>
              </a:xfrm>
              <a:prstGeom prst="rect">
                <a:avLst/>
              </a:prstGeom>
            </p:spPr>
          </p:pic>
        </p:grpSp>
        <p:sp>
          <p:nvSpPr>
            <p:cNvPr id="91" name="Textfeld 90">
              <a:extLst>
                <a:ext uri="{FF2B5EF4-FFF2-40B4-BE49-F238E27FC236}">
                  <a16:creationId xmlns:a16="http://schemas.microsoft.com/office/drawing/2014/main" id="{107567DF-9219-EAF1-13E4-F84B16FA045C}"/>
                </a:ext>
              </a:extLst>
            </p:cNvPr>
            <p:cNvSpPr txBox="1"/>
            <p:nvPr/>
          </p:nvSpPr>
          <p:spPr>
            <a:xfrm>
              <a:off x="4568658" y="1110420"/>
              <a:ext cx="63898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2060"/>
                  </a:solidFill>
                </a:rPr>
                <a:t>dev</a:t>
              </a:r>
              <a:endParaRPr lang="de-DE">
                <a:solidFill>
                  <a:srgbClr val="002060"/>
                </a:solidFill>
              </a:endParaRPr>
            </a:p>
          </p:txBody>
        </p:sp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2CCA74BF-3293-AECA-C971-1243362D1AE7}"/>
                </a:ext>
              </a:extLst>
            </p:cNvPr>
            <p:cNvSpPr/>
            <p:nvPr/>
          </p:nvSpPr>
          <p:spPr>
            <a:xfrm>
              <a:off x="5716443" y="1536242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166D5F45-6124-CC15-B12A-EEFD35172EAE}"/>
                </a:ext>
              </a:extLst>
            </p:cNvPr>
            <p:cNvSpPr/>
            <p:nvPr/>
          </p:nvSpPr>
          <p:spPr>
            <a:xfrm>
              <a:off x="5716443" y="2139035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5F366AA7-423F-E0CE-7DF0-8AF2DC627312}"/>
                </a:ext>
              </a:extLst>
            </p:cNvPr>
            <p:cNvSpPr/>
            <p:nvPr/>
          </p:nvSpPr>
          <p:spPr>
            <a:xfrm>
              <a:off x="5716442" y="2735364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5" name="Textfeld 94">
              <a:extLst>
                <a:ext uri="{FF2B5EF4-FFF2-40B4-BE49-F238E27FC236}">
                  <a16:creationId xmlns:a16="http://schemas.microsoft.com/office/drawing/2014/main" id="{074E4030-D716-B2B4-5A74-15FC4412210C}"/>
                </a:ext>
              </a:extLst>
            </p:cNvPr>
            <p:cNvSpPr txBox="1"/>
            <p:nvPr/>
          </p:nvSpPr>
          <p:spPr>
            <a:xfrm>
              <a:off x="5850900" y="1624215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d-01</a:t>
              </a:r>
            </a:p>
          </p:txBody>
        </p:sp>
        <p:sp>
          <p:nvSpPr>
            <p:cNvPr id="96" name="Textfeld 95">
              <a:extLst>
                <a:ext uri="{FF2B5EF4-FFF2-40B4-BE49-F238E27FC236}">
                  <a16:creationId xmlns:a16="http://schemas.microsoft.com/office/drawing/2014/main" id="{8A15E1CF-E576-C90E-6B8F-7524A7D5F13D}"/>
                </a:ext>
              </a:extLst>
            </p:cNvPr>
            <p:cNvSpPr txBox="1"/>
            <p:nvPr/>
          </p:nvSpPr>
          <p:spPr>
            <a:xfrm>
              <a:off x="5850900" y="2230354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d-02</a:t>
              </a:r>
            </a:p>
          </p:txBody>
        </p:sp>
        <p:sp>
          <p:nvSpPr>
            <p:cNvPr id="97" name="Textfeld 96">
              <a:extLst>
                <a:ext uri="{FF2B5EF4-FFF2-40B4-BE49-F238E27FC236}">
                  <a16:creationId xmlns:a16="http://schemas.microsoft.com/office/drawing/2014/main" id="{31D3AC5B-EE0A-220D-2953-47545DE25B9E}"/>
                </a:ext>
              </a:extLst>
            </p:cNvPr>
            <p:cNvSpPr txBox="1"/>
            <p:nvPr/>
          </p:nvSpPr>
          <p:spPr>
            <a:xfrm>
              <a:off x="5850900" y="2801973"/>
              <a:ext cx="16353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d-n…</a:t>
              </a:r>
            </a:p>
          </p:txBody>
        </p:sp>
      </p:grpSp>
      <p:sp>
        <p:nvSpPr>
          <p:cNvPr id="103" name="Rechteck 102">
            <a:extLst>
              <a:ext uri="{FF2B5EF4-FFF2-40B4-BE49-F238E27FC236}">
                <a16:creationId xmlns:a16="http://schemas.microsoft.com/office/drawing/2014/main" id="{BE8B31F0-3D7C-21FA-8743-F5C87A925FD5}"/>
              </a:ext>
            </a:extLst>
          </p:cNvPr>
          <p:cNvSpPr/>
          <p:nvPr/>
        </p:nvSpPr>
        <p:spPr>
          <a:xfrm>
            <a:off x="714533" y="1125781"/>
            <a:ext cx="9295418" cy="145945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04" name="Gruppieren 103">
            <a:extLst>
              <a:ext uri="{FF2B5EF4-FFF2-40B4-BE49-F238E27FC236}">
                <a16:creationId xmlns:a16="http://schemas.microsoft.com/office/drawing/2014/main" id="{AD91A5B5-C8A6-2FB6-DF17-EBFA34D56DBE}"/>
              </a:ext>
            </a:extLst>
          </p:cNvPr>
          <p:cNvGrpSpPr/>
          <p:nvPr/>
        </p:nvGrpSpPr>
        <p:grpSpPr>
          <a:xfrm>
            <a:off x="898218" y="1412926"/>
            <a:ext cx="1667177" cy="920997"/>
            <a:chOff x="1820149" y="924492"/>
            <a:chExt cx="1667177" cy="916340"/>
          </a:xfrm>
        </p:grpSpPr>
        <p:sp>
          <p:nvSpPr>
            <p:cNvPr id="112" name="Rechteck 111">
              <a:extLst>
                <a:ext uri="{FF2B5EF4-FFF2-40B4-BE49-F238E27FC236}">
                  <a16:creationId xmlns:a16="http://schemas.microsoft.com/office/drawing/2014/main" id="{973E445A-04D0-A221-AE3A-B7D0411F1F69}"/>
                </a:ext>
              </a:extLst>
            </p:cNvPr>
            <p:cNvSpPr/>
            <p:nvPr/>
          </p:nvSpPr>
          <p:spPr>
            <a:xfrm>
              <a:off x="1820149" y="924492"/>
              <a:ext cx="1667177" cy="9163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13" name="Grafik 112">
              <a:extLst>
                <a:ext uri="{FF2B5EF4-FFF2-40B4-BE49-F238E27FC236}">
                  <a16:creationId xmlns:a16="http://schemas.microsoft.com/office/drawing/2014/main" id="{B0524F46-216B-FE18-3C60-28CAE59FFD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05651" y="982919"/>
              <a:ext cx="551073" cy="551072"/>
            </a:xfrm>
            <a:prstGeom prst="rect">
              <a:avLst/>
            </a:prstGeom>
          </p:spPr>
        </p:pic>
      </p:grpSp>
      <p:sp>
        <p:nvSpPr>
          <p:cNvPr id="105" name="Textfeld 104">
            <a:extLst>
              <a:ext uri="{FF2B5EF4-FFF2-40B4-BE49-F238E27FC236}">
                <a16:creationId xmlns:a16="http://schemas.microsoft.com/office/drawing/2014/main" id="{D875A9FF-14FA-BD5C-9F79-534F63A0589A}"/>
              </a:ext>
            </a:extLst>
          </p:cNvPr>
          <p:cNvSpPr txBox="1"/>
          <p:nvPr/>
        </p:nvSpPr>
        <p:spPr>
          <a:xfrm>
            <a:off x="980746" y="928673"/>
            <a:ext cx="101332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70C0"/>
                </a:solidFill>
              </a:rPr>
              <a:t>surface</a:t>
            </a:r>
            <a:endParaRPr lang="de-DE">
              <a:solidFill>
                <a:srgbClr val="0070C0"/>
              </a:solidFill>
            </a:endParaRPr>
          </a:p>
        </p:txBody>
      </p:sp>
      <p:sp>
        <p:nvSpPr>
          <p:cNvPr id="117" name="Textfeld 116">
            <a:extLst>
              <a:ext uri="{FF2B5EF4-FFF2-40B4-BE49-F238E27FC236}">
                <a16:creationId xmlns:a16="http://schemas.microsoft.com/office/drawing/2014/main" id="{9C8ED44E-D5BC-9858-56C6-E0AF260DCC80}"/>
              </a:ext>
            </a:extLst>
          </p:cNvPr>
          <p:cNvSpPr txBox="1"/>
          <p:nvPr/>
        </p:nvSpPr>
        <p:spPr>
          <a:xfrm>
            <a:off x="4184435" y="2900539"/>
            <a:ext cx="14255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/>
              <a:t>RESTful HTTP</a:t>
            </a:r>
          </a:p>
        </p:txBody>
      </p:sp>
      <p:sp>
        <p:nvSpPr>
          <p:cNvPr id="118" name="Rechteck 117">
            <a:extLst>
              <a:ext uri="{FF2B5EF4-FFF2-40B4-BE49-F238E27FC236}">
                <a16:creationId xmlns:a16="http://schemas.microsoft.com/office/drawing/2014/main" id="{4F8E0CC6-2221-A78D-B7C6-9962D37800BE}"/>
              </a:ext>
            </a:extLst>
          </p:cNvPr>
          <p:cNvSpPr/>
          <p:nvPr/>
        </p:nvSpPr>
        <p:spPr>
          <a:xfrm>
            <a:off x="714533" y="3651849"/>
            <a:ext cx="10724834" cy="2644176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38E01999-D87B-8334-4BC3-CF8F63EF3330}"/>
              </a:ext>
            </a:extLst>
          </p:cNvPr>
          <p:cNvSpPr txBox="1"/>
          <p:nvPr/>
        </p:nvSpPr>
        <p:spPr>
          <a:xfrm>
            <a:off x="965755" y="3435339"/>
            <a:ext cx="168219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headless area</a:t>
            </a:r>
            <a:endParaRPr lang="de-DE">
              <a:solidFill>
                <a:srgbClr val="002060"/>
              </a:solidFill>
            </a:endParaRPr>
          </a:p>
        </p:txBody>
      </p:sp>
      <p:sp>
        <p:nvSpPr>
          <p:cNvPr id="124" name="Textfeld 123">
            <a:extLst>
              <a:ext uri="{FF2B5EF4-FFF2-40B4-BE49-F238E27FC236}">
                <a16:creationId xmlns:a16="http://schemas.microsoft.com/office/drawing/2014/main" id="{4B7E8AA5-E7D8-99DE-40C2-701B6D8B773D}"/>
              </a:ext>
            </a:extLst>
          </p:cNvPr>
          <p:cNvSpPr txBox="1"/>
          <p:nvPr/>
        </p:nvSpPr>
        <p:spPr>
          <a:xfrm>
            <a:off x="3768942" y="1719823"/>
            <a:ext cx="45613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>
                <a:solidFill>
                  <a:srgbClr val="002060"/>
                </a:solidFill>
              </a:rPr>
              <a:t>superseeds the former „RemoteControl“…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>
                <a:solidFill>
                  <a:srgbClr val="002060"/>
                </a:solidFill>
              </a:rPr>
              <a:t>suspends all RDP needs…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>
                <a:solidFill>
                  <a:srgbClr val="002060"/>
                </a:solidFill>
              </a:rPr>
              <a:t>maybe a blazor-app </a:t>
            </a:r>
            <a:r>
              <a:rPr lang="de-DE" sz="1400" i="1">
                <a:solidFill>
                  <a:srgbClr val="002060"/>
                </a:solidFill>
              </a:rPr>
              <a:t>and</a:t>
            </a:r>
            <a:r>
              <a:rPr lang="de-DE" sz="1400">
                <a:solidFill>
                  <a:srgbClr val="002060"/>
                </a:solidFill>
              </a:rPr>
              <a:t> a set of maintainer-scripts…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C1592DBC-F813-61B3-2D7D-B7D57EFF4E51}"/>
              </a:ext>
            </a:extLst>
          </p:cNvPr>
          <p:cNvSpPr txBox="1"/>
          <p:nvPr/>
        </p:nvSpPr>
        <p:spPr>
          <a:xfrm>
            <a:off x="2873871" y="1319713"/>
            <a:ext cx="7136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de-DE" sz="2000" b="1" i="0">
                <a:solidFill>
                  <a:srgbClr val="0070C0"/>
                </a:solidFill>
                <a:effectLst/>
                <a:latin typeface="-apple-system"/>
              </a:rPr>
              <a:t>josyn-surface</a:t>
            </a:r>
            <a:r>
              <a:rPr lang="de-DE" sz="2000" b="1" i="0">
                <a:effectLst/>
                <a:latin typeface="-apple-system"/>
              </a:rPr>
              <a:t>: </a:t>
            </a:r>
            <a:r>
              <a:rPr lang="de-DE" sz="2000" i="1">
                <a:effectLst/>
                <a:latin typeface="-apple-system"/>
              </a:rPr>
              <a:t>the human window into a headless platform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28D79F58-3D43-8A57-D710-417F5DE2D833}"/>
              </a:ext>
            </a:extLst>
          </p:cNvPr>
          <p:cNvSpPr txBox="1"/>
          <p:nvPr/>
        </p:nvSpPr>
        <p:spPr>
          <a:xfrm>
            <a:off x="933609" y="1984443"/>
            <a:ext cx="15878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machine/env-registry</a:t>
            </a:r>
          </a:p>
        </p:txBody>
      </p:sp>
      <p:sp>
        <p:nvSpPr>
          <p:cNvPr id="128" name="Rechteck 127">
            <a:extLst>
              <a:ext uri="{FF2B5EF4-FFF2-40B4-BE49-F238E27FC236}">
                <a16:creationId xmlns:a16="http://schemas.microsoft.com/office/drawing/2014/main" id="{A2A13414-5EA5-9E8F-58E0-22A473AF6641}"/>
              </a:ext>
            </a:extLst>
          </p:cNvPr>
          <p:cNvSpPr/>
          <p:nvPr/>
        </p:nvSpPr>
        <p:spPr>
          <a:xfrm>
            <a:off x="10191230" y="1125781"/>
            <a:ext cx="1319401" cy="145945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0" name="Textfeld 129">
            <a:extLst>
              <a:ext uri="{FF2B5EF4-FFF2-40B4-BE49-F238E27FC236}">
                <a16:creationId xmlns:a16="http://schemas.microsoft.com/office/drawing/2014/main" id="{3CBCB20F-B13E-0255-8062-7C6EF7C749D1}"/>
              </a:ext>
            </a:extLst>
          </p:cNvPr>
          <p:cNvSpPr txBox="1"/>
          <p:nvPr/>
        </p:nvSpPr>
        <p:spPr>
          <a:xfrm>
            <a:off x="10247597" y="925032"/>
            <a:ext cx="118224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/>
              <a:t>pipelines</a:t>
            </a:r>
            <a:endParaRPr lang="de-DE"/>
          </a:p>
        </p:txBody>
      </p:sp>
      <p:pic>
        <p:nvPicPr>
          <p:cNvPr id="131" name="Grafik 130" descr="Azure DevOps Logo and symbol, meaning, history, PNG, brand">
            <a:extLst>
              <a:ext uri="{FF2B5EF4-FFF2-40B4-BE49-F238E27FC236}">
                <a16:creationId xmlns:a16="http://schemas.microsoft.com/office/drawing/2014/main" id="{6A3BD91A-5219-9F3A-7CE3-7A309B56D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5971" y="1399099"/>
            <a:ext cx="1661909" cy="934824"/>
          </a:xfrm>
          <a:prstGeom prst="rect">
            <a:avLst/>
          </a:prstGeom>
        </p:spPr>
      </p:pic>
      <p:sp>
        <p:nvSpPr>
          <p:cNvPr id="132" name="Pfeil: nach unten 131">
            <a:extLst>
              <a:ext uri="{FF2B5EF4-FFF2-40B4-BE49-F238E27FC236}">
                <a16:creationId xmlns:a16="http://schemas.microsoft.com/office/drawing/2014/main" id="{576641C9-365D-77E9-963D-35AA37547D38}"/>
              </a:ext>
            </a:extLst>
          </p:cNvPr>
          <p:cNvSpPr/>
          <p:nvPr/>
        </p:nvSpPr>
        <p:spPr>
          <a:xfrm>
            <a:off x="10557511" y="2746216"/>
            <a:ext cx="531961" cy="736070"/>
          </a:xfrm>
          <a:prstGeom prst="downArrow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3" name="Pfeil: nach unten 132">
            <a:extLst>
              <a:ext uri="{FF2B5EF4-FFF2-40B4-BE49-F238E27FC236}">
                <a16:creationId xmlns:a16="http://schemas.microsoft.com/office/drawing/2014/main" id="{B478007D-BFBB-FD6C-CE99-C85C9F7EF518}"/>
              </a:ext>
            </a:extLst>
          </p:cNvPr>
          <p:cNvSpPr/>
          <p:nvPr/>
        </p:nvSpPr>
        <p:spPr>
          <a:xfrm>
            <a:off x="5556886" y="2738769"/>
            <a:ext cx="531961" cy="733992"/>
          </a:xfrm>
          <a:prstGeom prst="downArrow">
            <a:avLst/>
          </a:prstGeom>
          <a:solidFill>
            <a:srgbClr val="FFE07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2074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1031</Words>
  <Application>Microsoft Office PowerPoint</Application>
  <PresentationFormat>Breitbild</PresentationFormat>
  <Paragraphs>192</Paragraphs>
  <Slides>10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-apple-system</vt:lpstr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Christofer Kluth</cp:lastModifiedBy>
  <cp:revision>17</cp:revision>
  <dcterms:created xsi:type="dcterms:W3CDTF">2026-06-10T06:03:57Z</dcterms:created>
  <dcterms:modified xsi:type="dcterms:W3CDTF">2026-06-20T22:31:31Z</dcterms:modified>
</cp:coreProperties>
</file>