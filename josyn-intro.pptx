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0" r:id="rId9"/>
    <p:sldId id="269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z.B.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</a:t>
            </a:r>
            <a:r>
              <a:rPr lang="de-DE" sz="3200"/>
              <a:t>oder</a:t>
            </a:r>
            <a:r>
              <a:rPr lang="de-DE" sz="3200" b="1" i="1"/>
              <a:t> </a:t>
            </a:r>
            <a:r>
              <a:rPr lang="de-DE" sz="3200" b="1" i="1">
                <a:solidFill>
                  <a:srgbClr val="0070C0"/>
                </a:solidFill>
              </a:rPr>
              <a:t>TPM-Initiative</a:t>
            </a:r>
            <a:r>
              <a:rPr lang="de-DE" sz="3200" b="1" i="1"/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/>
              <a:t>=&gt; Hausaufgaben!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17499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Vorschlag für einen </a:t>
            </a:r>
            <a:r>
              <a:rPr lang="de-DE" sz="2400" b="1">
                <a:solidFill>
                  <a:srgbClr val="0070C0"/>
                </a:solidFill>
              </a:rPr>
              <a:t>effizienten</a:t>
            </a:r>
            <a:r>
              <a:rPr lang="de-DE" sz="2400" b="1"/>
              <a:t> Arbeitsmodus der </a:t>
            </a:r>
            <a:r>
              <a:rPr lang="de-DE" sz="2400" b="1">
                <a:solidFill>
                  <a:srgbClr val="0070C0"/>
                </a:solidFill>
              </a:rPr>
              <a:t>TPM-Initiative</a:t>
            </a:r>
            <a:r>
              <a:rPr lang="de-DE" sz="2400" b="1"/>
              <a:t>.</a:t>
            </a:r>
          </a:p>
          <a:p>
            <a:r>
              <a:rPr lang="de-DE" sz="2000"/>
              <a:t>Für die ersten Milestones - bis zu einem expliziten Moduswechsel    -  ein „logisches Modell“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6B53896-6C8B-1230-0871-5F4B219403D0}"/>
              </a:ext>
            </a:extLst>
          </p:cNvPr>
          <p:cNvGrpSpPr/>
          <p:nvPr/>
        </p:nvGrpSpPr>
        <p:grpSpPr>
          <a:xfrm>
            <a:off x="396665" y="996619"/>
            <a:ext cx="10695457" cy="5707277"/>
            <a:chOff x="396665" y="996619"/>
            <a:chExt cx="10695457" cy="5707277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A641D5CD-A10A-A6CF-3B93-366069861F24}"/>
                </a:ext>
              </a:extLst>
            </p:cNvPr>
            <p:cNvGrpSpPr/>
            <p:nvPr/>
          </p:nvGrpSpPr>
          <p:grpSpPr>
            <a:xfrm>
              <a:off x="396665" y="996619"/>
              <a:ext cx="10695457" cy="5707277"/>
              <a:chOff x="396665" y="996619"/>
              <a:chExt cx="10695457" cy="5707277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4F1D6A53-778D-D4CA-DF28-B32614F2BC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7643" y="1378047"/>
                <a:ext cx="34835" cy="4038599"/>
              </a:xfrm>
              <a:prstGeom prst="line">
                <a:avLst/>
              </a:prstGeom>
              <a:ln w="28575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D7EA1E-C351-FA16-597F-C8904AEE55E8}"/>
                  </a:ext>
                </a:extLst>
              </p:cNvPr>
              <p:cNvSpPr txBox="1"/>
              <p:nvPr/>
            </p:nvSpPr>
            <p:spPr>
              <a:xfrm>
                <a:off x="396665" y="996619"/>
                <a:ext cx="35085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b="1">
                    <a:solidFill>
                      <a:srgbClr val="002060"/>
                    </a:solidFill>
                  </a:rPr>
                  <a:t>„CKL-Domain“ </a:t>
                </a:r>
                <a:r>
                  <a:rPr lang="de-DE" sz="2400">
                    <a:solidFill>
                      <a:srgbClr val="002060"/>
                    </a:solidFill>
                  </a:rPr>
                  <a:t>(GitHub)</a:t>
                </a:r>
              </a:p>
            </p:txBody>
          </p: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48A6FD9-47FD-C5EB-4F97-78E97694F368}"/>
                  </a:ext>
                </a:extLst>
              </p:cNvPr>
              <p:cNvSpPr txBox="1"/>
              <p:nvPr/>
            </p:nvSpPr>
            <p:spPr>
              <a:xfrm>
                <a:off x="8143751" y="1012888"/>
                <a:ext cx="29483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b="1">
                    <a:solidFill>
                      <a:srgbClr val="002060"/>
                    </a:solidFill>
                  </a:rPr>
                  <a:t>HÄVG-SWE-Domain</a:t>
                </a:r>
              </a:p>
            </p:txBody>
          </p:sp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D900BFE-C88A-3A8A-B9AB-D4E4F9F8A368}"/>
                  </a:ext>
                </a:extLst>
              </p:cNvPr>
              <p:cNvSpPr txBox="1"/>
              <p:nvPr/>
            </p:nvSpPr>
            <p:spPr>
              <a:xfrm>
                <a:off x="4963072" y="1012888"/>
                <a:ext cx="22870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b="1">
                    <a:solidFill>
                      <a:srgbClr val="002060"/>
                    </a:solidFill>
                  </a:rPr>
                  <a:t>„Staging-Area“</a:t>
                </a:r>
              </a:p>
            </p:txBody>
          </p:sp>
          <p:sp>
            <p:nvSpPr>
              <p:cNvPr id="15" name="Pfeil: nach links 14">
                <a:extLst>
                  <a:ext uri="{FF2B5EF4-FFF2-40B4-BE49-F238E27FC236}">
                    <a16:creationId xmlns:a16="http://schemas.microsoft.com/office/drawing/2014/main" id="{2C0A912A-2832-E5FD-10A4-D85EAC1FA583}"/>
                  </a:ext>
                </a:extLst>
              </p:cNvPr>
              <p:cNvSpPr/>
              <p:nvPr/>
            </p:nvSpPr>
            <p:spPr>
              <a:xfrm rot="10800000">
                <a:off x="3920844" y="3189355"/>
                <a:ext cx="1131789" cy="392399"/>
              </a:xfrm>
              <a:prstGeom prst="leftArrow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39258206-4131-12A3-660F-17B889C6B58A}"/>
                  </a:ext>
                </a:extLst>
              </p:cNvPr>
              <p:cNvSpPr/>
              <p:nvPr/>
            </p:nvSpPr>
            <p:spPr>
              <a:xfrm>
                <a:off x="5283779" y="3035621"/>
                <a:ext cx="1507308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Proposal</a:t>
                </a:r>
              </a:p>
            </p:txBody>
          </p:sp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71B297BD-EB29-7936-AFE6-4B0B3CCC06CA}"/>
                  </a:ext>
                </a:extLst>
              </p:cNvPr>
              <p:cNvSpPr/>
              <p:nvPr/>
            </p:nvSpPr>
            <p:spPr>
              <a:xfrm>
                <a:off x="5298361" y="4065689"/>
                <a:ext cx="1507308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Proposal</a:t>
                </a:r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90575A8D-8C72-B615-A545-E12FE53533E5}"/>
                  </a:ext>
                </a:extLst>
              </p:cNvPr>
              <p:cNvSpPr/>
              <p:nvPr/>
            </p:nvSpPr>
            <p:spPr>
              <a:xfrm>
                <a:off x="5283779" y="1991506"/>
                <a:ext cx="1507308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Proposal</a:t>
                </a:r>
              </a:p>
            </p:txBody>
          </p:sp>
          <p:sp>
            <p:nvSpPr>
              <p:cNvPr id="22" name="Ellipse 21">
                <a:extLst>
                  <a:ext uri="{FF2B5EF4-FFF2-40B4-BE49-F238E27FC236}">
                    <a16:creationId xmlns:a16="http://schemas.microsoft.com/office/drawing/2014/main" id="{2063DA56-F4AD-AC48-CCFA-10F491C2F167}"/>
                  </a:ext>
                </a:extLst>
              </p:cNvPr>
              <p:cNvSpPr/>
              <p:nvPr/>
            </p:nvSpPr>
            <p:spPr>
              <a:xfrm>
                <a:off x="8806465" y="1912429"/>
                <a:ext cx="1507308" cy="74295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Decision</a:t>
                </a:r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6BCAFD35-9659-BAB9-4F1B-2ACD5A03309D}"/>
                  </a:ext>
                </a:extLst>
              </p:cNvPr>
              <p:cNvSpPr/>
              <p:nvPr/>
            </p:nvSpPr>
            <p:spPr>
              <a:xfrm>
                <a:off x="8806465" y="3062454"/>
                <a:ext cx="1507308" cy="74295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Decision</a:t>
                </a:r>
              </a:p>
            </p:txBody>
          </p:sp>
          <p:sp>
            <p:nvSpPr>
              <p:cNvPr id="24" name="Ellipse 23">
                <a:extLst>
                  <a:ext uri="{FF2B5EF4-FFF2-40B4-BE49-F238E27FC236}">
                    <a16:creationId xmlns:a16="http://schemas.microsoft.com/office/drawing/2014/main" id="{57C1F23F-BCC7-4F6C-01C3-846DEC0EFEC0}"/>
                  </a:ext>
                </a:extLst>
              </p:cNvPr>
              <p:cNvSpPr/>
              <p:nvPr/>
            </p:nvSpPr>
            <p:spPr>
              <a:xfrm>
                <a:off x="8786282" y="4176879"/>
                <a:ext cx="1507308" cy="74295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Decision</a:t>
                </a:r>
              </a:p>
            </p:txBody>
          </p:sp>
          <p:pic>
            <p:nvPicPr>
              <p:cNvPr id="29" name="Grafik 28">
                <a:extLst>
                  <a:ext uri="{FF2B5EF4-FFF2-40B4-BE49-F238E27FC236}">
                    <a16:creationId xmlns:a16="http://schemas.microsoft.com/office/drawing/2014/main" id="{FD624151-C93A-C1A6-942A-96A2AF69FF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31976" y="5750805"/>
                <a:ext cx="953091" cy="953091"/>
              </a:xfrm>
              <a:prstGeom prst="rect">
                <a:avLst/>
              </a:prstGeom>
            </p:spPr>
          </p:pic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2D9EE726-1AF9-8340-FED4-B3EFF74430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0828" y="1330703"/>
                <a:ext cx="18730" cy="4038599"/>
              </a:xfrm>
              <a:prstGeom prst="line">
                <a:avLst/>
              </a:prstGeom>
              <a:ln w="762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952CADCB-1CB0-F1CA-741C-CB151AC44414}"/>
                  </a:ext>
                </a:extLst>
              </p:cNvPr>
              <p:cNvSpPr/>
              <p:nvPr/>
            </p:nvSpPr>
            <p:spPr>
              <a:xfrm>
                <a:off x="7461549" y="2590503"/>
                <a:ext cx="888973" cy="15901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7" name="Pfeil: nach links 26">
                <a:extLst>
                  <a:ext uri="{FF2B5EF4-FFF2-40B4-BE49-F238E27FC236}">
                    <a16:creationId xmlns:a16="http://schemas.microsoft.com/office/drawing/2014/main" id="{D78CB09B-750F-9588-B243-6B065C35AC72}"/>
                  </a:ext>
                </a:extLst>
              </p:cNvPr>
              <p:cNvSpPr/>
              <p:nvPr/>
            </p:nvSpPr>
            <p:spPr>
              <a:xfrm rot="10800000">
                <a:off x="7396254" y="3106178"/>
                <a:ext cx="1131789" cy="392399"/>
              </a:xfrm>
              <a:prstGeom prst="leftArrow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37" name="Grafik 36">
                <a:extLst>
                  <a:ext uri="{FF2B5EF4-FFF2-40B4-BE49-F238E27FC236}">
                    <a16:creationId xmlns:a16="http://schemas.microsoft.com/office/drawing/2014/main" id="{B265D967-E0F6-75E0-AD93-28D8EEA450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16635" y="2518542"/>
                <a:ext cx="660908" cy="660908"/>
              </a:xfrm>
              <a:prstGeom prst="rect">
                <a:avLst/>
              </a:prstGeom>
            </p:spPr>
          </p:pic>
          <p:pic>
            <p:nvPicPr>
              <p:cNvPr id="40" name="Grafik 39">
                <a:extLst>
                  <a:ext uri="{FF2B5EF4-FFF2-40B4-BE49-F238E27FC236}">
                    <a16:creationId xmlns:a16="http://schemas.microsoft.com/office/drawing/2014/main" id="{606A1F1B-FF16-5FB9-1B7C-71990D18D2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7509541" y="3243197"/>
                <a:ext cx="742950" cy="742950"/>
              </a:xfrm>
              <a:prstGeom prst="rect">
                <a:avLst/>
              </a:prstGeom>
            </p:spPr>
          </p:pic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76BD3CD9-1AA6-01F6-ECFD-1B3E54261B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05036" y="5386421"/>
                <a:ext cx="2245072" cy="0"/>
              </a:xfrm>
              <a:prstGeom prst="line">
                <a:avLst/>
              </a:prstGeom>
              <a:ln w="28575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Pfeil: nach links 29">
                <a:extLst>
                  <a:ext uri="{FF2B5EF4-FFF2-40B4-BE49-F238E27FC236}">
                    <a16:creationId xmlns:a16="http://schemas.microsoft.com/office/drawing/2014/main" id="{23F6AB9C-6C3F-7896-F149-587F6EA65541}"/>
                  </a:ext>
                </a:extLst>
              </p:cNvPr>
              <p:cNvSpPr/>
              <p:nvPr/>
            </p:nvSpPr>
            <p:spPr>
              <a:xfrm rot="16200000">
                <a:off x="5701910" y="5135504"/>
                <a:ext cx="742952" cy="392399"/>
              </a:xfrm>
              <a:prstGeom prst="leftArrow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4CE273E4-DACC-18FE-B1F2-F22205DF295C}"/>
                  </a:ext>
                </a:extLst>
              </p:cNvPr>
              <p:cNvSpPr/>
              <p:nvPr/>
            </p:nvSpPr>
            <p:spPr>
              <a:xfrm>
                <a:off x="2500189" y="2978527"/>
                <a:ext cx="1240011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Raw</a:t>
                </a:r>
              </a:p>
            </p:txBody>
          </p:sp>
          <p:pic>
            <p:nvPicPr>
              <p:cNvPr id="54" name="Grafik 53">
                <a:extLst>
                  <a:ext uri="{FF2B5EF4-FFF2-40B4-BE49-F238E27FC236}">
                    <a16:creationId xmlns:a16="http://schemas.microsoft.com/office/drawing/2014/main" id="{F4B67388-3290-E097-0F90-89890F1565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5139109" y="4787658"/>
                <a:ext cx="742950" cy="742950"/>
              </a:xfrm>
              <a:prstGeom prst="rect">
                <a:avLst/>
              </a:prstGeom>
            </p:spPr>
          </p:pic>
          <p:pic>
            <p:nvPicPr>
              <p:cNvPr id="55" name="Grafik 54">
                <a:extLst>
                  <a:ext uri="{FF2B5EF4-FFF2-40B4-BE49-F238E27FC236}">
                    <a16:creationId xmlns:a16="http://schemas.microsoft.com/office/drawing/2014/main" id="{BB923A5B-0DCC-6EC9-543A-79CED09BB2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7540445" y="3566427"/>
                <a:ext cx="742950" cy="742950"/>
              </a:xfrm>
              <a:prstGeom prst="rect">
                <a:avLst/>
              </a:prstGeom>
            </p:spPr>
          </p:pic>
        </p:grp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5A5D133E-2F3E-D728-61FD-48C7E29F3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757477">
              <a:off x="794680" y="2579908"/>
              <a:ext cx="2182825" cy="21828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65552" y="1204601"/>
            <a:ext cx="6254496" cy="2351399"/>
            <a:chOff x="2911602" y="2068201"/>
            <a:chExt cx="6254496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77134" y="2068201"/>
              <a:ext cx="2244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951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13865"/>
            <a:ext cx="66756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b="1"/>
              <a:t>Schaffung eines leichtgewichtigen </a:t>
            </a:r>
            <a:r>
              <a:rPr lang="de-DE" sz="1200" b="1" i="1"/>
              <a:t>one-to-one-IPC-Application-Protocols</a:t>
            </a:r>
            <a:r>
              <a:rPr lang="de-DE" sz="1200" b="1"/>
              <a:t>. </a:t>
            </a:r>
            <a:r>
              <a:rPr lang="de-DE" sz="1600" b="1"/>
              <a:t>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</a:t>
            </a:r>
          </a:p>
          <a:p>
            <a:r>
              <a:rPr lang="de-DE" sz="1600"/>
              <a:t>Auf einer Maschine - unterhalb des Netzwerkstacks (keine Firewall, etc.)</a:t>
            </a:r>
          </a:p>
          <a:p>
            <a:endParaRPr lang="de-DE" sz="1800"/>
          </a:p>
          <a:p>
            <a:r>
              <a:rPr lang="de-DE" sz="1800" b="1">
                <a:solidFill>
                  <a:srgbClr val="0070C0"/>
                </a:solidFill>
              </a:rPr>
              <a:t>Zwei</a:t>
            </a:r>
            <a:r>
              <a:rPr lang="de-DE" sz="1800" b="1"/>
              <a:t> logisch, technologisch und architekturell getrennte </a:t>
            </a:r>
            <a:r>
              <a:rPr lang="de-DE" sz="1800" b="1" i="1">
                <a:solidFill>
                  <a:srgbClr val="0070C0"/>
                </a:solidFill>
              </a:rPr>
              <a:t>Domänen</a:t>
            </a:r>
            <a:r>
              <a:rPr lang="de-DE" sz="1800" b="1" i="1"/>
              <a:t>…</a:t>
            </a:r>
          </a:p>
          <a:p>
            <a:r>
              <a:rPr lang="de-DE" sz="1800"/>
              <a:t>…mit einer l</a:t>
            </a:r>
            <a:r>
              <a:rPr lang="de-DE"/>
              <a:t>eichtgewichtige Kopplung über das </a:t>
            </a:r>
            <a:r>
              <a:rPr lang="de-DE" b="1"/>
              <a:t>JAP-Protokoll</a:t>
            </a:r>
            <a:r>
              <a:rPr lang="de-DE"/>
              <a:t>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3237857" y="1206558"/>
            <a:ext cx="1948506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8449212" y="12065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5859156" y="1213434"/>
            <a:ext cx="2507055" cy="2901871"/>
            <a:chOff x="4366189" y="2950077"/>
            <a:chExt cx="2507055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50077"/>
              <a:ext cx="2259244" cy="1933271"/>
              <a:chOff x="4452536" y="3661405"/>
              <a:chExt cx="225924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6DEB7D6-CDA6-A1D6-B8D6-C25AB3AB21DA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3DC271B0-4C44-9C3F-9A89-1677343AD28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1643998" y="684155"/>
            <a:ext cx="8570213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1655382" y="684155"/>
            <a:ext cx="30567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(PoC)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633713" y="1480498"/>
            <a:ext cx="12207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Die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8670093" y="1455665"/>
            <a:ext cx="11623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Die Job-Dev-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6313665" y="43746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9578582" y="48754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6217885" y="53156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6644233" y="53451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063145" y="4342266"/>
            <a:ext cx="313883" cy="199559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8484506" y="47273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8436203" y="3367630"/>
            <a:ext cx="1485126" cy="832330"/>
            <a:chOff x="482782" y="1498463"/>
            <a:chExt cx="1485126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495724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118644" y="48697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112684" y="39614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5186363" y="46222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7923623" y="46222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002218" y="32174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058028" y="12586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5453071" y="2079798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5443871" y="208295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373300" y="2008590"/>
            <a:ext cx="1652773" cy="1476633"/>
            <a:chOff x="2013970" y="586290"/>
            <a:chExt cx="1652773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2013970" y="594762"/>
              <a:ext cx="1518621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033140" y="33676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8524131" y="209114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1776650" y="3936264"/>
            <a:ext cx="1950038" cy="1147585"/>
            <a:chOff x="-151820" y="5031901"/>
            <a:chExt cx="1950038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-151820" y="5146372"/>
              <a:ext cx="1923190" cy="297597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-129933" y="5031901"/>
              <a:ext cx="1928151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contoso-adapters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3736281" y="42908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3725516" y="46043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1785222" y="1219767"/>
            <a:ext cx="1361481" cy="2643905"/>
            <a:chOff x="1813797" y="924492"/>
            <a:chExt cx="1361481" cy="2643905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264305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46947" y="1514357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13797" y="2552734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3611221" y="3404401"/>
            <a:ext cx="350107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3465021" y="3631064"/>
            <a:ext cx="57900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launcher</a:t>
            </a:r>
          </a:p>
        </p:txBody>
      </p: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926</Words>
  <Application>Microsoft Office PowerPoint</Application>
  <PresentationFormat>Breitbild</PresentationFormat>
  <Paragraphs>163</Paragraphs>
  <Slides>9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15</cp:revision>
  <dcterms:created xsi:type="dcterms:W3CDTF">2026-06-10T06:03:57Z</dcterms:created>
  <dcterms:modified xsi:type="dcterms:W3CDTF">2026-06-20T00:16:58Z</dcterms:modified>
</cp:coreProperties>
</file>