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61" r:id="rId2"/>
    <p:sldId id="259" r:id="rId3"/>
    <p:sldId id="262" r:id="rId4"/>
    <p:sldId id="268" r:id="rId5"/>
    <p:sldId id="265" r:id="rId6"/>
    <p:sldId id="266" r:id="rId7"/>
    <p:sldId id="267" r:id="rId8"/>
    <p:sldId id="264" r:id="rId9"/>
    <p:sldId id="263" r:id="rId10"/>
    <p:sldId id="260" r:id="rId1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09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3510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5D503C-CB4E-47D2-854F-034286D1EDEF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4F3282-AC7F-4F04-970A-9596745FD5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22571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10571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9E8556-CEDF-6E85-1209-E26910ADA2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9B06F67-693F-3456-3000-FA4A7C04F8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56C4C30-2745-AF58-DEEE-9998239AA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9F84B49-43C3-0565-A5C0-36B688017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4BEFED2-3740-C648-B7C1-B196A91F2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54420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0912F0-9A14-A7C2-3421-7FA9F4680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3E9CDC-9A1E-CD7D-D76D-0C42D5E892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7677BC-6467-CF8C-138F-5AB989515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4ACA1F2-639E-9DCC-7B7C-8B8EC8361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23F841-CB89-2B6A-1FDB-68D915492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33692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13935B-0869-084B-4E0E-730807535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1BE32A2-FFCD-A937-3C78-F47529F029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B01B903-E830-DBC7-A5FC-6E1AD098C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06ED81-8B2E-1CEA-B6CC-82F1B6C3B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FC6308F-36FC-147C-AEC5-351EA5FAE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5049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A2D5C5-FFF0-0DED-8017-514F6E06E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B2E069-1DD0-E869-42E8-A7ADFFBE08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A482492-114C-EB64-BEA9-9EF8A31DE1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4650B7C-83C7-7040-6B5B-8EBBEA641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0C71A44-134D-2192-459A-15FF4B359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993EC20-E122-7DC7-F82B-3C275DE20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88511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60C6B7-0608-848A-77DD-9A6FCCBB3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7EFE44F-5601-F366-9953-72DDC98D9E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94C6F5B-EF59-399C-630A-7A9006B574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5E75358-07BE-05A7-B28E-F897A978DA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F84FAFA-8755-A893-4BE5-7C130C7AD8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B506197-E217-FD11-B296-F722581323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2C061A5-CA63-53AE-5518-5F5EAD21C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25B6607-BD51-9EF9-F83E-3AE988172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051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37A293-FAB9-5F48-2282-A3DB31355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045FEAB-4047-340C-CF7D-FEDC8698E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303252D-17E1-1AF9-1CAE-6029A5F2A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B9923E-BCAC-86C0-3401-C48CBED47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6947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B3CC9A1-F74D-1BF2-84BD-CB981DF5E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C064000-2527-2563-2780-A3605AFA2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9C04D5-D844-AE86-B167-969D5B1C6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20581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92E988-7EFA-46BF-C6BE-099341AF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AECDE1-6313-9BE9-BBD6-C9D8D3296A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7EDCAA5-1153-4DDC-7741-6D839A194C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3D29A69-4C17-8D66-FBFB-0E1FEE843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6673561-1FA7-88E4-A7D6-794D763D1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4331C6A-3CBD-BB16-B31E-7E4940B56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3708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F43252-2DC8-8B4B-CF11-B25AB2D65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073FA36-A71D-1FA3-1D90-476CCCD7A8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AD30C56-09E2-9600-3F6B-EE6A8C1E43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18ECE6C-7EEE-0EDE-15D1-04FB1D6A8D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B5C0C80-BD45-ED7B-C0C7-4CEFAF6BA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6C094E5-9C3F-6D5B-E42A-BC99A2E43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77563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66BAE3-DA3A-D6DE-1613-61CF46B1E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C7DBEA0-6E2C-E8D6-EB31-AF9A25F445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B5F27F6-8128-4D7A-96BB-61D9C012A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D6DD152-364C-A3B9-3F5D-A24611BB7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9D0688A-D0BA-78FB-86A6-DFF45B6E4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9665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229F485-DBFC-EAF0-44DF-32FC2BDC46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B7931E8-74A4-95F6-49C0-E975D823B4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862C8E-7E2D-57FF-D7A4-2C3C09AA8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0AA7194-2F46-D625-AAFD-456AACBFE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BFDDDC3-F58C-140A-9ADA-462F3F97F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9786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64122CC-2A80-8D1F-8CEF-C08D9B13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6D454CC-41FE-261A-D7B2-4797BD5450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6581FE0-D4F0-F45A-2AC0-EE6C8CFFB3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3842928-04F1-CE5F-DC9C-26996DF3E0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D95828-11C8-6AC3-22D7-81B644DEFD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342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A615FBEC-2241-E2B6-FA16-C690E72808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8078" y="283037"/>
            <a:ext cx="7368244" cy="6146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55798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rafik 16">
            <a:extLst>
              <a:ext uri="{FF2B5EF4-FFF2-40B4-BE49-F238E27FC236}">
                <a16:creationId xmlns:a16="http://schemas.microsoft.com/office/drawing/2014/main" id="{1058F159-EFC9-B7AB-6080-DF9EE48033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3078" y="283037"/>
            <a:ext cx="7475072" cy="6235449"/>
          </a:xfrm>
          <a:prstGeom prst="rect">
            <a:avLst/>
          </a:prstGeom>
        </p:spPr>
      </p:pic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AA8F616E-2807-B6C3-829D-FDD577343009}"/>
              </a:ext>
            </a:extLst>
          </p:cNvPr>
          <p:cNvGrpSpPr/>
          <p:nvPr/>
        </p:nvGrpSpPr>
        <p:grpSpPr>
          <a:xfrm>
            <a:off x="439246" y="357128"/>
            <a:ext cx="10941216" cy="6110876"/>
            <a:chOff x="439246" y="357128"/>
            <a:chExt cx="10941216" cy="6110876"/>
          </a:xfrm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0886830C-750E-9067-E272-35C63D77045B}"/>
                </a:ext>
              </a:extLst>
            </p:cNvPr>
            <p:cNvSpPr/>
            <p:nvPr/>
          </p:nvSpPr>
          <p:spPr>
            <a:xfrm>
              <a:off x="8888087" y="4552951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1</a:t>
              </a:r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8AD5D11A-7072-1F4B-8B05-ACE9C6868137}"/>
                </a:ext>
              </a:extLst>
            </p:cNvPr>
            <p:cNvSpPr/>
            <p:nvPr/>
          </p:nvSpPr>
          <p:spPr>
            <a:xfrm>
              <a:off x="9097637" y="2552632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1</a:t>
              </a:r>
            </a:p>
          </p:txBody>
        </p: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D19331EE-5F45-D8D9-3A3A-5A63D036C846}"/>
                </a:ext>
              </a:extLst>
            </p:cNvPr>
            <p:cNvSpPr/>
            <p:nvPr/>
          </p:nvSpPr>
          <p:spPr>
            <a:xfrm>
              <a:off x="9097637" y="1028563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1</a:t>
              </a:r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BE94DA8D-07B6-7102-EEB2-7A8BBD1A9E85}"/>
                </a:ext>
              </a:extLst>
            </p:cNvPr>
            <p:cNvSpPr/>
            <p:nvPr/>
          </p:nvSpPr>
          <p:spPr>
            <a:xfrm>
              <a:off x="9097637" y="1800157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2</a:t>
              </a:r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6B95A0EC-0590-C00F-AAC7-0EFD23342259}"/>
                </a:ext>
              </a:extLst>
            </p:cNvPr>
            <p:cNvSpPr/>
            <p:nvPr/>
          </p:nvSpPr>
          <p:spPr>
            <a:xfrm>
              <a:off x="11056612" y="3581332"/>
              <a:ext cx="323850" cy="323850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4</a:t>
              </a:r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8314FF22-36E3-945A-0978-55032430CCB0}"/>
                </a:ext>
              </a:extLst>
            </p:cNvPr>
            <p:cNvSpPr/>
            <p:nvPr/>
          </p:nvSpPr>
          <p:spPr>
            <a:xfrm>
              <a:off x="6240137" y="3600382"/>
              <a:ext cx="323850" cy="323850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5</a:t>
              </a:r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1E7CBD4F-282E-AD84-D134-1BF7122E52B2}"/>
                </a:ext>
              </a:extLst>
            </p:cNvPr>
            <p:cNvSpPr/>
            <p:nvPr/>
          </p:nvSpPr>
          <p:spPr>
            <a:xfrm>
              <a:off x="8878563" y="5610362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3</a:t>
              </a:r>
            </a:p>
          </p:txBody>
        </p: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529B4878-47E6-2A68-0C0E-70885CAAA946}"/>
                </a:ext>
              </a:extLst>
            </p:cNvPr>
            <p:cNvGrpSpPr/>
            <p:nvPr/>
          </p:nvGrpSpPr>
          <p:grpSpPr>
            <a:xfrm>
              <a:off x="439246" y="357128"/>
              <a:ext cx="3868230" cy="6110876"/>
              <a:chOff x="439246" y="376178"/>
              <a:chExt cx="3868230" cy="6110876"/>
            </a:xfrm>
          </p:grpSpPr>
          <p:grpSp>
            <p:nvGrpSpPr>
              <p:cNvPr id="26" name="Gruppieren 25">
                <a:extLst>
                  <a:ext uri="{FF2B5EF4-FFF2-40B4-BE49-F238E27FC236}">
                    <a16:creationId xmlns:a16="http://schemas.microsoft.com/office/drawing/2014/main" id="{16712B7D-636F-4DD2-F8AD-E63A3B11B065}"/>
                  </a:ext>
                </a:extLst>
              </p:cNvPr>
              <p:cNvGrpSpPr/>
              <p:nvPr/>
            </p:nvGrpSpPr>
            <p:grpSpPr>
              <a:xfrm>
                <a:off x="439246" y="376178"/>
                <a:ext cx="3868230" cy="6110876"/>
                <a:chOff x="533400" y="709954"/>
                <a:chExt cx="3868230" cy="6008239"/>
              </a:xfrm>
            </p:grpSpPr>
            <p:sp>
              <p:nvSpPr>
                <p:cNvPr id="25" name="Rechteck 24">
                  <a:extLst>
                    <a:ext uri="{FF2B5EF4-FFF2-40B4-BE49-F238E27FC236}">
                      <a16:creationId xmlns:a16="http://schemas.microsoft.com/office/drawing/2014/main" id="{7B747D87-04D4-2074-F96B-9C2E5405ADC9}"/>
                    </a:ext>
                  </a:extLst>
                </p:cNvPr>
                <p:cNvSpPr/>
                <p:nvPr/>
              </p:nvSpPr>
              <p:spPr>
                <a:xfrm>
                  <a:off x="533400" y="714694"/>
                  <a:ext cx="3868230" cy="6003499"/>
                </a:xfrm>
                <a:prstGeom prst="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  <a:ln w="952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24" name="Gruppieren 23">
                  <a:extLst>
                    <a:ext uri="{FF2B5EF4-FFF2-40B4-BE49-F238E27FC236}">
                      <a16:creationId xmlns:a16="http://schemas.microsoft.com/office/drawing/2014/main" id="{A77A9728-58C9-0037-9878-7944917C23DE}"/>
                    </a:ext>
                  </a:extLst>
                </p:cNvPr>
                <p:cNvGrpSpPr/>
                <p:nvPr/>
              </p:nvGrpSpPr>
              <p:grpSpPr>
                <a:xfrm>
                  <a:off x="690329" y="709954"/>
                  <a:ext cx="3711301" cy="5794928"/>
                  <a:chOff x="8477360" y="773912"/>
                  <a:chExt cx="3711301" cy="5794928"/>
                </a:xfrm>
              </p:grpSpPr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8C6037E1-70AE-9798-6858-303404BF448A}"/>
                      </a:ext>
                    </a:extLst>
                  </p:cNvPr>
                  <p:cNvSpPr txBox="1"/>
                  <p:nvPr/>
                </p:nvSpPr>
                <p:spPr>
                  <a:xfrm>
                    <a:off x="8825240" y="773912"/>
                    <a:ext cx="3363421" cy="5794928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endParaRPr lang="de-DE" b="1"/>
                  </a:p>
                  <a:p>
                    <a:endParaRPr lang="de-DE" b="1"/>
                  </a:p>
                  <a:p>
                    <a:r>
                      <a:rPr lang="de-DE" sz="2000" b="1"/>
                      <a:t>josyn-foundation</a:t>
                    </a:r>
                  </a:p>
                  <a:p>
                    <a:r>
                      <a:rPr lang="de-DE" i="1"/>
                      <a:t>- eternal!</a:t>
                    </a:r>
                  </a:p>
                  <a:p>
                    <a:r>
                      <a:rPr lang="de-DE" i="1"/>
                      <a:t>- 3 nugets</a:t>
                    </a:r>
                  </a:p>
                  <a:p>
                    <a:endParaRPr lang="de-DE"/>
                  </a:p>
                  <a:p>
                    <a:r>
                      <a:rPr lang="de-DE" sz="2000" b="1"/>
                      <a:t>josyn-jap</a:t>
                    </a:r>
                  </a:p>
                  <a:p>
                    <a:r>
                      <a:rPr lang="de-DE" i="1"/>
                      <a:t>- the jap-protocol-</a:t>
                    </a:r>
                    <a:r>
                      <a:rPr lang="de-DE" b="1" i="1"/>
                      <a:t>contract</a:t>
                    </a:r>
                  </a:p>
                  <a:p>
                    <a:r>
                      <a:rPr lang="de-DE" i="1"/>
                      <a:t>- meant for evolution…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endParaRPr lang="de-DE"/>
                  </a:p>
                  <a:p>
                    <a:r>
                      <a:rPr lang="de-DE" sz="2000" b="1"/>
                      <a:t>josyn-commons</a:t>
                    </a:r>
                  </a:p>
                  <a:p>
                    <a:r>
                      <a:rPr lang="de-DE" i="1"/>
                      <a:t>- the useful satellite…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endParaRPr lang="de-DE"/>
                  </a:p>
                  <a:p>
                    <a:r>
                      <a:rPr lang="de-DE" sz="2000" b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</a:rPr>
                      <a:t>josyn-job-host</a:t>
                    </a:r>
                  </a:p>
                  <a:p>
                    <a:r>
                      <a:rPr lang="de-DE" i="1"/>
                      <a:t>- „one“ nuget</a:t>
                    </a:r>
                  </a:p>
                  <a:p>
                    <a:r>
                      <a:rPr lang="de-DE" b="1" i="1"/>
                      <a:t>- the developers perpective!</a:t>
                    </a:r>
                  </a:p>
                  <a:p>
                    <a:r>
                      <a:rPr lang="de-DE" sz="1400" i="1"/>
                      <a:t>- implements the jap-client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endParaRPr lang="de-DE"/>
                  </a:p>
                  <a:p>
                    <a:r>
                      <a:rPr lang="de-DE" sz="2000" b="1">
                        <a:solidFill>
                          <a:srgbClr val="7030A0"/>
                        </a:solidFill>
                      </a:rPr>
                      <a:t>josyn-backend</a:t>
                    </a:r>
                  </a:p>
                  <a:p>
                    <a:r>
                      <a:rPr lang="de-DE" i="1"/>
                      <a:t>- </a:t>
                    </a:r>
                    <a:r>
                      <a:rPr lang="de-DE" b="1" i="1"/>
                      <a:t>jap-server</a:t>
                    </a:r>
                    <a:r>
                      <a:rPr lang="de-DE" i="1"/>
                      <a:t> with a special role</a:t>
                    </a:r>
                  </a:p>
                  <a:p>
                    <a:r>
                      <a:rPr lang="de-DE" sz="1100" i="1"/>
                      <a:t>- the rest of the backend-iceberg out of scope here…</a:t>
                    </a:r>
                  </a:p>
                </p:txBody>
              </p:sp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A92592C4-56D5-0262-68D0-18D0111A8A35}"/>
                      </a:ext>
                    </a:extLst>
                  </p:cNvPr>
                  <p:cNvSpPr/>
                  <p:nvPr/>
                </p:nvSpPr>
                <p:spPr>
                  <a:xfrm>
                    <a:off x="8477360" y="1373452"/>
                    <a:ext cx="323850" cy="323850"/>
                  </a:xfrm>
                  <a:prstGeom prst="ellipse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2000" b="1"/>
                      <a:t>1</a:t>
                    </a:r>
                  </a:p>
                </p:txBody>
              </p:sp>
              <p:sp>
                <p:nvSpPr>
                  <p:cNvPr id="19" name="Ellipse 18">
                    <a:extLst>
                      <a:ext uri="{FF2B5EF4-FFF2-40B4-BE49-F238E27FC236}">
                        <a16:creationId xmlns:a16="http://schemas.microsoft.com/office/drawing/2014/main" id="{D6190D3D-AD2E-3B23-9023-80BB6E2098F4}"/>
                      </a:ext>
                    </a:extLst>
                  </p:cNvPr>
                  <p:cNvSpPr/>
                  <p:nvPr/>
                </p:nvSpPr>
                <p:spPr>
                  <a:xfrm>
                    <a:off x="8477360" y="2474423"/>
                    <a:ext cx="323850" cy="323850"/>
                  </a:xfrm>
                  <a:prstGeom prst="ellipse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2000" b="1"/>
                      <a:t>2</a:t>
                    </a:r>
                  </a:p>
                </p:txBody>
              </p:sp>
              <p:sp>
                <p:nvSpPr>
                  <p:cNvPr id="20" name="Ellipse 19">
                    <a:extLst>
                      <a:ext uri="{FF2B5EF4-FFF2-40B4-BE49-F238E27FC236}">
                        <a16:creationId xmlns:a16="http://schemas.microsoft.com/office/drawing/2014/main" id="{F45B0A08-B968-B101-27CA-16CA54D81C07}"/>
                      </a:ext>
                    </a:extLst>
                  </p:cNvPr>
                  <p:cNvSpPr/>
                  <p:nvPr/>
                </p:nvSpPr>
                <p:spPr>
                  <a:xfrm>
                    <a:off x="8477360" y="3579550"/>
                    <a:ext cx="323850" cy="323850"/>
                  </a:xfrm>
                  <a:prstGeom prst="ellipse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2000" b="1"/>
                      <a:t>3</a:t>
                    </a:r>
                  </a:p>
                </p:txBody>
              </p:sp>
              <p:sp>
                <p:nvSpPr>
                  <p:cNvPr id="21" name="Ellipse 20">
                    <a:extLst>
                      <a:ext uri="{FF2B5EF4-FFF2-40B4-BE49-F238E27FC236}">
                        <a16:creationId xmlns:a16="http://schemas.microsoft.com/office/drawing/2014/main" id="{587D9FCF-DE67-CA31-CFE5-77166A0F3E4E}"/>
                      </a:ext>
                    </a:extLst>
                  </p:cNvPr>
                  <p:cNvSpPr/>
                  <p:nvPr/>
                </p:nvSpPr>
                <p:spPr>
                  <a:xfrm>
                    <a:off x="8477360" y="4408934"/>
                    <a:ext cx="323850" cy="323850"/>
                  </a:xfrm>
                  <a:prstGeom prst="ellipse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2000" b="1"/>
                      <a:t>4</a:t>
                    </a:r>
                  </a:p>
                </p:txBody>
              </p:sp>
              <p:sp>
                <p:nvSpPr>
                  <p:cNvPr id="22" name="Ellipse 21">
                    <a:extLst>
                      <a:ext uri="{FF2B5EF4-FFF2-40B4-BE49-F238E27FC236}">
                        <a16:creationId xmlns:a16="http://schemas.microsoft.com/office/drawing/2014/main" id="{2BFDA55F-8388-D4B9-467C-19A7E4DB472F}"/>
                      </a:ext>
                    </a:extLst>
                  </p:cNvPr>
                  <p:cNvSpPr/>
                  <p:nvPr/>
                </p:nvSpPr>
                <p:spPr>
                  <a:xfrm>
                    <a:off x="8477360" y="5724893"/>
                    <a:ext cx="323850" cy="323850"/>
                  </a:xfrm>
                  <a:prstGeom prst="ellipse">
                    <a:avLst/>
                  </a:prstGeom>
                  <a:solidFill>
                    <a:schemeClr val="accent5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2000" b="1"/>
                      <a:t>5</a:t>
                    </a:r>
                  </a:p>
                </p:txBody>
              </p:sp>
            </p:grpSp>
          </p:grpSp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04754427-7E09-2C7B-5A39-7749017684A5}"/>
                  </a:ext>
                </a:extLst>
              </p:cNvPr>
              <p:cNvSpPr txBox="1"/>
              <p:nvPr/>
            </p:nvSpPr>
            <p:spPr>
              <a:xfrm>
                <a:off x="477344" y="409046"/>
                <a:ext cx="251985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800" b="1">
                    <a:solidFill>
                      <a:srgbClr val="002060"/>
                    </a:solidFill>
                  </a:rPr>
                  <a:t>josyn-repos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541290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89E0415C-A757-917C-379A-0039CA852BB4}"/>
              </a:ext>
            </a:extLst>
          </p:cNvPr>
          <p:cNvSpPr txBox="1"/>
          <p:nvPr/>
        </p:nvSpPr>
        <p:spPr>
          <a:xfrm>
            <a:off x="2230935" y="2806184"/>
            <a:ext cx="773012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400"/>
              <a:t>--- ab hier Rohmaterial ---</a:t>
            </a:r>
          </a:p>
        </p:txBody>
      </p:sp>
    </p:spTree>
    <p:extLst>
      <p:ext uri="{BB962C8B-B14F-4D97-AF65-F5344CB8AC3E}">
        <p14:creationId xmlns:p14="http://schemas.microsoft.com/office/powerpoint/2010/main" val="18095125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D2B19-C08D-B552-B330-A7AF940A4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0687EFC0-3FFA-864C-0F36-D95D08751114}"/>
              </a:ext>
            </a:extLst>
          </p:cNvPr>
          <p:cNvSpPr txBox="1"/>
          <p:nvPr/>
        </p:nvSpPr>
        <p:spPr>
          <a:xfrm>
            <a:off x="1029742" y="863084"/>
            <a:ext cx="10411915" cy="38779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/>
              <a:t>Requirements / Propsals / Desicions / Questions</a:t>
            </a:r>
          </a:p>
          <a:p>
            <a:r>
              <a:rPr lang="de-DE" b="1"/>
              <a:t>Proposals/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4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/>
              <a:t>Weiterhin nur eine „pro-Server-Installation“. Kein Load-Balancing, keine Fallback-Mechanismen.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/>
              <a:t>Jeder Server ist entweder ein PROD, INT oder DEV-Server.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/>
              <a:t>Deployment soll komplett CI/CD/Pipelinefähig sein.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/>
              <a:t>Ein Pfad zu Linux/Docker muss vorhanden sein.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/>
              <a:t>Der Dualismus „josyn als domain-agnostisches system“ und „josyn als teil der hävg-domäne“ muss in allen Punkten sauber geplant und abgebildet sein! =&gt; </a:t>
            </a:r>
            <a:r>
              <a:rPr lang="de-DE" sz="1400" b="1"/>
              <a:t>company fit</a:t>
            </a:r>
            <a:r>
              <a:rPr lang="de-DE" sz="1400"/>
              <a:t> (Unser Entwicklungsprozess, Sicherheit, Audits, Change-Prozess, „Adapter“ für HÄVG-Komponenten, unsere Config 2.0, Entra, more…)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400"/>
          </a:p>
          <a:p>
            <a:endParaRPr lang="de-DE" sz="1400"/>
          </a:p>
        </p:txBody>
      </p:sp>
    </p:spTree>
    <p:extLst>
      <p:ext uri="{BB962C8B-B14F-4D97-AF65-F5344CB8AC3E}">
        <p14:creationId xmlns:p14="http://schemas.microsoft.com/office/powerpoint/2010/main" val="36511679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2C80B424-DBC0-1283-17AB-A58174836B2D}"/>
              </a:ext>
            </a:extLst>
          </p:cNvPr>
          <p:cNvSpPr txBox="1"/>
          <p:nvPr/>
        </p:nvSpPr>
        <p:spPr>
          <a:xfrm>
            <a:off x="1362075" y="1108919"/>
            <a:ext cx="4848225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de-DE"/>
          </a:p>
          <a:p>
            <a:r>
              <a:rPr lang="de-DE"/>
              <a:t>storage-realm</a:t>
            </a:r>
          </a:p>
          <a:p>
            <a:r>
              <a:rPr lang="de-DE"/>
              <a:t>	Db</a:t>
            </a:r>
          </a:p>
          <a:p>
            <a:r>
              <a:rPr lang="de-DE"/>
              <a:t>	josyn-backend-session-store</a:t>
            </a:r>
          </a:p>
          <a:p>
            <a:r>
              <a:rPr lang="de-DE"/>
              <a:t>	josyn-backend-config-store</a:t>
            </a:r>
          </a:p>
          <a:p>
            <a:r>
              <a:rPr lang="de-DE"/>
              <a:t>	josyn-backend-job-registry</a:t>
            </a:r>
          </a:p>
          <a:p>
            <a:r>
              <a:rPr lang="de-DE"/>
              <a:t>	josyn-backend-error-handler</a:t>
            </a:r>
          </a:p>
          <a:p>
            <a:endParaRPr lang="de-DE"/>
          </a:p>
          <a:p>
            <a:r>
              <a:rPr lang="de-DE"/>
              <a:t>contoso</a:t>
            </a:r>
          </a:p>
          <a:p>
            <a:r>
              <a:rPr lang="de-DE"/>
              <a:t>	josyn-backend-adapter-contracts</a:t>
            </a:r>
          </a:p>
          <a:p>
            <a:endParaRPr lang="de-DE"/>
          </a:p>
          <a:p>
            <a:r>
              <a:rPr lang="de-DE"/>
              <a:t>boostrap</a:t>
            </a:r>
          </a:p>
          <a:p>
            <a:r>
              <a:rPr lang="de-DE"/>
              <a:t>	josyn-backend-bootstrap-config</a:t>
            </a:r>
          </a:p>
          <a:p>
            <a:endParaRPr lang="de-DE"/>
          </a:p>
          <a:p>
            <a:r>
              <a:rPr lang="de-DE"/>
              <a:t>Special-guest</a:t>
            </a:r>
          </a:p>
          <a:p>
            <a:r>
              <a:rPr lang="de-DE"/>
              <a:t>	josyn-backend-jap-server</a:t>
            </a:r>
          </a:p>
          <a:p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F4843BA-15A6-9122-3634-97B03B219E72}"/>
              </a:ext>
            </a:extLst>
          </p:cNvPr>
          <p:cNvSpPr txBox="1"/>
          <p:nvPr/>
        </p:nvSpPr>
        <p:spPr>
          <a:xfrm>
            <a:off x="857250" y="533400"/>
            <a:ext cx="11953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BACKEND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00D7F217-43D6-4BBB-A171-E90D94B87D1B}"/>
              </a:ext>
            </a:extLst>
          </p:cNvPr>
          <p:cNvSpPr txBox="1"/>
          <p:nvPr/>
        </p:nvSpPr>
        <p:spPr>
          <a:xfrm>
            <a:off x="6591300" y="2570113"/>
            <a:ext cx="444817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3 Exen</a:t>
            </a:r>
          </a:p>
          <a:p>
            <a:r>
              <a:rPr lang="de-DE"/>
              <a:t>	josyn-backend-cli</a:t>
            </a:r>
          </a:p>
          <a:p>
            <a:r>
              <a:rPr lang="de-DE"/>
              <a:t>	josyn-backend-listener</a:t>
            </a:r>
          </a:p>
          <a:p>
            <a:r>
              <a:rPr lang="de-DE"/>
              <a:t>	josyn-backend-ticker</a:t>
            </a:r>
          </a:p>
          <a:p>
            <a:endParaRPr lang="de-DE"/>
          </a:p>
          <a:p>
            <a:r>
              <a:rPr lang="de-DE"/>
              <a:t>Für die 3 Exen</a:t>
            </a:r>
          </a:p>
          <a:p>
            <a:r>
              <a:rPr lang="de-DE"/>
              <a:t>	josyn-backend-session-starter</a:t>
            </a:r>
          </a:p>
        </p:txBody>
      </p:sp>
    </p:spTree>
    <p:extLst>
      <p:ext uri="{BB962C8B-B14F-4D97-AF65-F5344CB8AC3E}">
        <p14:creationId xmlns:p14="http://schemas.microsoft.com/office/powerpoint/2010/main" val="36912939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feld 5">
            <a:extLst>
              <a:ext uri="{FF2B5EF4-FFF2-40B4-BE49-F238E27FC236}">
                <a16:creationId xmlns:a16="http://schemas.microsoft.com/office/drawing/2014/main" id="{1378A166-C683-26B2-2B8B-EB6C9821C42E}"/>
              </a:ext>
            </a:extLst>
          </p:cNvPr>
          <p:cNvSpPr txBox="1"/>
          <p:nvPr/>
        </p:nvSpPr>
        <p:spPr>
          <a:xfrm>
            <a:off x="657225" y="723900"/>
            <a:ext cx="43557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b="1"/>
              <a:t>Jap-Server Dependencies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ABCE4CD-01B1-8E57-EF8F-03E4359F6E56}"/>
              </a:ext>
            </a:extLst>
          </p:cNvPr>
          <p:cNvSpPr txBox="1"/>
          <p:nvPr/>
        </p:nvSpPr>
        <p:spPr>
          <a:xfrm>
            <a:off x="3357562" y="1170176"/>
            <a:ext cx="6748463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de-DE" sz="1200"/>
          </a:p>
          <a:p>
            <a:r>
              <a:rPr lang="de-DE" sz="1200"/>
              <a:t>&lt;PackageReference Include="JOSYN.Foundation.JIP"             Version="1.0.0-preview01"/&gt;</a:t>
            </a:r>
          </a:p>
          <a:p>
            <a:r>
              <a:rPr lang="de-DE" sz="1200"/>
              <a:t>&lt;PackageReference Include="JOSYN.Foundation.PropertyBag"     Version="1.0.0-preview01"/&gt;</a:t>
            </a:r>
          </a:p>
          <a:p>
            <a:r>
              <a:rPr lang="de-DE" sz="1200"/>
              <a:t>&lt;PackageReference Include="JOSYN.Foundation.ResultPattern"   Version="1.0.0-preview01"/&gt;</a:t>
            </a:r>
          </a:p>
          <a:p>
            <a:endParaRPr lang="de-DE" sz="1200"/>
          </a:p>
          <a:p>
            <a:r>
              <a:rPr lang="de-DE" sz="1200"/>
              <a:t>&lt;PackageReference Include="JOSYN.Jap.Contract"        Version="1.0.0-preview01"/&gt;</a:t>
            </a:r>
          </a:p>
          <a:p>
            <a:endParaRPr lang="de-DE" sz="1200"/>
          </a:p>
          <a:p>
            <a:r>
              <a:rPr lang="de-DE" sz="1200"/>
              <a:t>&lt;PackageReference Include="JOSYN.Commons.Log"             Version="1.0.0-preview01"/&gt;</a:t>
            </a:r>
          </a:p>
          <a:p>
            <a:endParaRPr lang="de-DE" sz="1200"/>
          </a:p>
          <a:p>
            <a:r>
              <a:rPr lang="de-DE" sz="1200"/>
              <a:t>----------------------------------------</a:t>
            </a:r>
          </a:p>
          <a:p>
            <a:endParaRPr lang="de-DE" sz="1200"/>
          </a:p>
          <a:p>
            <a:r>
              <a:rPr lang="de-DE" sz="1200"/>
              <a:t>&lt;PackageReference Include="JOSYN.Backend.BootstrapConfig"      Version="1.0.0-preview01"/&gt;</a:t>
            </a:r>
          </a:p>
          <a:p>
            <a:endParaRPr lang="de-DE" sz="1200"/>
          </a:p>
          <a:p>
            <a:r>
              <a:rPr lang="de-DE" sz="1200"/>
              <a:t>&lt;PackageReference Include="JOSYN.Backend.AdapterContracts"  Version="1.0.0-preview01"/&gt;</a:t>
            </a:r>
          </a:p>
          <a:p>
            <a:endParaRPr lang="de-DE" sz="1200"/>
          </a:p>
          <a:p>
            <a:r>
              <a:rPr lang="de-DE" sz="1200"/>
              <a:t>&lt;PackageReference Include="JOSYN.Backend.ConfigStore"        Version="1.0.0-preview01"/&gt;</a:t>
            </a:r>
          </a:p>
          <a:p>
            <a:r>
              <a:rPr lang="de-DE" sz="1200"/>
              <a:t>&lt;PackageReference Include="JOSYN.Backend.ErrorHandler"       Version="1.0.0-preview01"/&gt;</a:t>
            </a:r>
          </a:p>
          <a:p>
            <a:r>
              <a:rPr lang="de-DE" sz="1200"/>
              <a:t>&lt;PackageReference Include="JOSYN.Backend.SessionStore"       Version="1.0.0-preview01"/&gt;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7DAB8E91-0B3C-2429-8C9C-5356A1CD3995}"/>
              </a:ext>
            </a:extLst>
          </p:cNvPr>
          <p:cNvSpPr txBox="1"/>
          <p:nvPr/>
        </p:nvSpPr>
        <p:spPr>
          <a:xfrm>
            <a:off x="819150" y="5041493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>
                <a:solidFill>
                  <a:srgbClr val="FF0000"/>
                </a:solidFill>
              </a:rPr>
              <a:t>JOSYN.Jap.Shared.Contract</a:t>
            </a:r>
          </a:p>
          <a:p>
            <a:r>
              <a:rPr lang="de-DE">
                <a:solidFill>
                  <a:srgbClr val="FF0000"/>
                </a:solidFill>
              </a:rPr>
              <a:t>Shared im Namen ist überflüssig?</a:t>
            </a:r>
          </a:p>
        </p:txBody>
      </p:sp>
    </p:spTree>
    <p:extLst>
      <p:ext uri="{BB962C8B-B14F-4D97-AF65-F5344CB8AC3E}">
        <p14:creationId xmlns:p14="http://schemas.microsoft.com/office/powerpoint/2010/main" val="29067295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4F5483BE-BCC0-D8A1-F472-C90B8F7469A1}"/>
              </a:ext>
            </a:extLst>
          </p:cNvPr>
          <p:cNvSpPr txBox="1"/>
          <p:nvPr/>
        </p:nvSpPr>
        <p:spPr>
          <a:xfrm>
            <a:off x="511332" y="346026"/>
            <a:ext cx="353263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/>
              <a:t>round-trip</a:t>
            </a:r>
          </a:p>
          <a:p>
            <a:endParaRPr lang="de-DE"/>
          </a:p>
          <a:p>
            <a:r>
              <a:rPr lang="de-DE"/>
              <a:t>	live zeigen</a:t>
            </a:r>
          </a:p>
          <a:p>
            <a:endParaRPr lang="de-DE"/>
          </a:p>
          <a:p>
            <a:r>
              <a:rPr lang="de-DE"/>
              <a:t>	a-spawns-b  diagram(s)  </a:t>
            </a:r>
          </a:p>
          <a:p>
            <a:r>
              <a:rPr lang="de-DE"/>
              <a:t> </a:t>
            </a:r>
          </a:p>
          <a:p>
            <a:endParaRPr lang="de-DE"/>
          </a:p>
          <a:p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ADD3679-4C9F-5B5C-F563-34CFEFC1BB9A}"/>
              </a:ext>
            </a:extLst>
          </p:cNvPr>
          <p:cNvSpPr txBox="1"/>
          <p:nvPr/>
        </p:nvSpPr>
        <p:spPr>
          <a:xfrm>
            <a:off x="7560174" y="367010"/>
            <a:ext cx="4017831" cy="59093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/>
          </a:p>
          <a:p>
            <a:r>
              <a:rPr lang="de-DE"/>
              <a:t>-------------</a:t>
            </a:r>
          </a:p>
          <a:p>
            <a:endParaRPr lang="de-DE"/>
          </a:p>
          <a:p>
            <a:r>
              <a:rPr lang="de-DE" b="1"/>
              <a:t>error-routing</a:t>
            </a:r>
          </a:p>
          <a:p>
            <a:endParaRPr lang="de-DE"/>
          </a:p>
          <a:p>
            <a:r>
              <a:rPr lang="de-DE"/>
              <a:t>---------</a:t>
            </a:r>
          </a:p>
          <a:p>
            <a:endParaRPr lang="de-DE"/>
          </a:p>
          <a:p>
            <a:r>
              <a:rPr lang="de-DE" b="1"/>
              <a:t>company-fit</a:t>
            </a:r>
          </a:p>
          <a:p>
            <a:r>
              <a:rPr lang="de-DE"/>
              <a:t>	contoso</a:t>
            </a:r>
          </a:p>
          <a:p>
            <a:r>
              <a:rPr lang="de-DE"/>
              <a:t>	Governance</a:t>
            </a:r>
          </a:p>
          <a:p>
            <a:r>
              <a:rPr lang="de-DE"/>
              <a:t>	hävg-dev-process</a:t>
            </a:r>
          </a:p>
          <a:p>
            <a:r>
              <a:rPr lang="de-DE"/>
              <a:t>	Pipeline-ready</a:t>
            </a:r>
          </a:p>
          <a:p>
            <a:r>
              <a:rPr lang="de-DE"/>
              <a:t>	evolution: docker/lniux</a:t>
            </a:r>
          </a:p>
          <a:p>
            <a:r>
              <a:rPr lang="de-DE"/>
              <a:t>	migration!</a:t>
            </a:r>
          </a:p>
          <a:p>
            <a:r>
              <a:rPr lang="de-DE"/>
              <a:t>	tpm-story</a:t>
            </a:r>
          </a:p>
          <a:p>
            <a:r>
              <a:rPr lang="de-DE"/>
              <a:t>	project?</a:t>
            </a:r>
          </a:p>
          <a:p>
            <a:r>
              <a:rPr lang="de-DE"/>
              <a:t>	entscheidungen</a:t>
            </a:r>
          </a:p>
          <a:p>
            <a:r>
              <a:rPr lang="de-DE"/>
              <a:t>	people</a:t>
            </a:r>
          </a:p>
          <a:p>
            <a:endParaRPr lang="de-DE"/>
          </a:p>
          <a:p>
            <a:r>
              <a:rPr lang="de-DE"/>
              <a:t>josyn als domain-agnostisches system</a:t>
            </a:r>
          </a:p>
          <a:p>
            <a:r>
              <a:rPr lang="de-DE"/>
              <a:t>Josyn als teil der domäne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D516507-CF40-55A8-65B1-B3768EBC5AC5}"/>
              </a:ext>
            </a:extLst>
          </p:cNvPr>
          <p:cNvSpPr txBox="1"/>
          <p:nvPr/>
        </p:nvSpPr>
        <p:spPr>
          <a:xfrm>
            <a:off x="752475" y="4400550"/>
            <a:ext cx="58485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/>
              <a:t>einleitung</a:t>
            </a:r>
          </a:p>
          <a:p>
            <a:r>
              <a:rPr lang="de-DE"/>
              <a:t>	kurz die core-flaws des alten systems erwähnen</a:t>
            </a:r>
          </a:p>
          <a:p>
            <a:r>
              <a:rPr lang="de-DE"/>
              <a:t>	Ai zitieren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1D9146EC-A86F-4C5E-21C9-6FED7F4C3F1C}"/>
              </a:ext>
            </a:extLst>
          </p:cNvPr>
          <p:cNvSpPr txBox="1"/>
          <p:nvPr/>
        </p:nvSpPr>
        <p:spPr>
          <a:xfrm>
            <a:off x="3831983" y="2754481"/>
            <a:ext cx="370768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/>
              <a:t>die anderen repos</a:t>
            </a:r>
          </a:p>
          <a:p>
            <a:r>
              <a:rPr lang="de-DE"/>
              <a:t>	Platform / ai /sanity-check</a:t>
            </a:r>
          </a:p>
          <a:p>
            <a:r>
              <a:rPr lang="de-DE"/>
              <a:t>	Tooling</a:t>
            </a:r>
          </a:p>
          <a:p>
            <a:r>
              <a:rPr lang="de-DE"/>
              <a:t>	Playground</a:t>
            </a:r>
          </a:p>
          <a:p>
            <a:r>
              <a:rPr lang="de-DE"/>
              <a:t>	docs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C52FF86-D522-2513-C318-9F6B99D33531}"/>
              </a:ext>
            </a:extLst>
          </p:cNvPr>
          <p:cNvSpPr txBox="1"/>
          <p:nvPr/>
        </p:nvSpPr>
        <p:spPr>
          <a:xfrm>
            <a:off x="3966505" y="5664101"/>
            <a:ext cx="273934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/>
              <a:t>urls zur vefügung stellen</a:t>
            </a:r>
          </a:p>
          <a:p>
            <a:r>
              <a:rPr lang="de-DE"/>
              <a:t>	ckluth/github</a:t>
            </a:r>
          </a:p>
          <a:p>
            <a:r>
              <a:rPr lang="de-DE"/>
              <a:t>	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29C18F3B-60AA-F446-2720-EE185F5A41E4}"/>
              </a:ext>
            </a:extLst>
          </p:cNvPr>
          <p:cNvSpPr txBox="1"/>
          <p:nvPr/>
        </p:nvSpPr>
        <p:spPr>
          <a:xfrm>
            <a:off x="4268169" y="367010"/>
            <a:ext cx="35529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/>
              <a:t>storgae-realm</a:t>
            </a:r>
            <a:r>
              <a:rPr lang="de-DE"/>
              <a:t> / db</a:t>
            </a:r>
          </a:p>
          <a:p>
            <a:endParaRPr lang="de-DE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F94EA407-9AED-2092-C6FC-7B7B9FA446E2}"/>
              </a:ext>
            </a:extLst>
          </p:cNvPr>
          <p:cNvSpPr txBox="1"/>
          <p:nvPr/>
        </p:nvSpPr>
        <p:spPr>
          <a:xfrm>
            <a:off x="1316872" y="2495550"/>
            <a:ext cx="170957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/>
              <a:t>principles</a:t>
            </a:r>
          </a:p>
          <a:p>
            <a:pPr lvl="1"/>
            <a:r>
              <a:rPr lang="de-DE"/>
              <a:t>NRT</a:t>
            </a:r>
          </a:p>
          <a:p>
            <a:pPr lvl="1"/>
            <a:r>
              <a:rPr lang="de-DE"/>
              <a:t>RP-Usage</a:t>
            </a:r>
          </a:p>
          <a:p>
            <a:pPr lvl="1"/>
            <a:r>
              <a:rPr lang="de-DE"/>
              <a:t>Functional</a:t>
            </a:r>
          </a:p>
          <a:p>
            <a:pPr lvl="1"/>
            <a:r>
              <a:rPr lang="de-DE"/>
              <a:t>Contracts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BD489293-44C7-2752-5AF2-8256A73E879E}"/>
              </a:ext>
            </a:extLst>
          </p:cNvPr>
          <p:cNvSpPr txBox="1"/>
          <p:nvPr/>
        </p:nvSpPr>
        <p:spPr>
          <a:xfrm>
            <a:off x="4268343" y="1782946"/>
            <a:ext cx="27041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/>
              <a:t>deployment / bootsrip</a:t>
            </a:r>
          </a:p>
        </p:txBody>
      </p:sp>
    </p:spTree>
    <p:extLst>
      <p:ext uri="{BB962C8B-B14F-4D97-AF65-F5344CB8AC3E}">
        <p14:creationId xmlns:p14="http://schemas.microsoft.com/office/powerpoint/2010/main" val="21967849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73CBD-2654-7327-F74E-4D7EE4DD1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EEB7E298-9FAF-2DCD-50B2-2255FE09FCAF}"/>
              </a:ext>
            </a:extLst>
          </p:cNvPr>
          <p:cNvSpPr txBox="1"/>
          <p:nvPr/>
        </p:nvSpPr>
        <p:spPr>
          <a:xfrm>
            <a:off x="2078535" y="491609"/>
            <a:ext cx="4804585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TODO</a:t>
            </a:r>
          </a:p>
          <a:p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Backend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Company-Fit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Offene Fragen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Josyn-guide zurückbauen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Gute „AI-Zitate“ einbauen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r>
              <a:rPr lang="de-DE"/>
              <a:t>Vorher von gitgub-ckluth =&gt; github-hävg!!!!!!!!!!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18392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D6CB7-EB88-909D-C082-49E7E1D49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BA2A3B80-F6E1-8BA5-5B3F-A9D11EA225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1205" y="1576129"/>
            <a:ext cx="7449590" cy="3705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8684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D891F-5205-3FC8-6924-7EF11EE53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52B1D0F5-4542-30A7-BDEF-A12AF10F9A85}"/>
              </a:ext>
            </a:extLst>
          </p:cNvPr>
          <p:cNvGrpSpPr/>
          <p:nvPr/>
        </p:nvGrpSpPr>
        <p:grpSpPr>
          <a:xfrm>
            <a:off x="2617474" y="1098354"/>
            <a:ext cx="1652773" cy="3976566"/>
            <a:chOff x="2013970" y="586290"/>
            <a:chExt cx="1652773" cy="3976566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B211FAF5-BEB3-B716-4B06-4809EA3EE81D}"/>
                </a:ext>
              </a:extLst>
            </p:cNvPr>
            <p:cNvSpPr/>
            <p:nvPr/>
          </p:nvSpPr>
          <p:spPr>
            <a:xfrm>
              <a:off x="2031236" y="586290"/>
              <a:ext cx="1635507" cy="397656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7030A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2312F5F8-3043-A1F9-9484-9A73BF2B3C8B}"/>
                </a:ext>
              </a:extLst>
            </p:cNvPr>
            <p:cNvSpPr txBox="1"/>
            <p:nvPr/>
          </p:nvSpPr>
          <p:spPr>
            <a:xfrm>
              <a:off x="2013970" y="594762"/>
              <a:ext cx="10870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rgbClr val="7030A0"/>
                  </a:solidFill>
                </a:rPr>
                <a:t>backend</a:t>
              </a: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F1EF0E68-5866-422B-0FD5-AC50BE220958}"/>
              </a:ext>
            </a:extLst>
          </p:cNvPr>
          <p:cNvGrpSpPr/>
          <p:nvPr/>
        </p:nvGrpSpPr>
        <p:grpSpPr>
          <a:xfrm>
            <a:off x="6913972" y="1098352"/>
            <a:ext cx="1609958" cy="3976567"/>
            <a:chOff x="6606124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8FD02BC8-269D-F720-EB7C-F7363D94B145}"/>
                </a:ext>
              </a:extLst>
            </p:cNvPr>
            <p:cNvSpPr/>
            <p:nvPr/>
          </p:nvSpPr>
          <p:spPr>
            <a:xfrm>
              <a:off x="6606124" y="632008"/>
              <a:ext cx="1609958" cy="3976567"/>
            </a:xfrm>
            <a:prstGeom prst="rect">
              <a:avLst/>
            </a:prstGeom>
            <a:grpFill/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46A087BE-6D83-5445-37A2-4A6F8F7313F0}"/>
                </a:ext>
              </a:extLst>
            </p:cNvPr>
            <p:cNvSpPr txBox="1"/>
            <p:nvPr/>
          </p:nvSpPr>
          <p:spPr>
            <a:xfrm>
              <a:off x="6607221" y="632142"/>
              <a:ext cx="5148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</a:t>
              </a:r>
            </a:p>
          </p:txBody>
        </p:sp>
      </p:grp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C7E5871F-B7F7-9CA5-B950-E97965A52ABF}"/>
              </a:ext>
            </a:extLst>
          </p:cNvPr>
          <p:cNvGrpSpPr/>
          <p:nvPr/>
        </p:nvGrpSpPr>
        <p:grpSpPr>
          <a:xfrm>
            <a:off x="4323916" y="1105230"/>
            <a:ext cx="3185440" cy="2901871"/>
            <a:chOff x="4366189" y="2950077"/>
            <a:chExt cx="3185440" cy="2901871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32C728BB-803C-7519-DA69-86B061BB7637}"/>
                </a:ext>
              </a:extLst>
            </p:cNvPr>
            <p:cNvGrpSpPr/>
            <p:nvPr/>
          </p:nvGrpSpPr>
          <p:grpSpPr>
            <a:xfrm>
              <a:off x="4366189" y="5236651"/>
              <a:ext cx="3185440" cy="615297"/>
              <a:chOff x="4171385" y="5346379"/>
              <a:chExt cx="1310755" cy="615297"/>
            </a:xfrm>
          </p:grpSpPr>
          <p:sp>
            <p:nvSpPr>
              <p:cNvPr id="22" name="Pfeil: nach links und rechts 21">
                <a:extLst>
                  <a:ext uri="{FF2B5EF4-FFF2-40B4-BE49-F238E27FC236}">
                    <a16:creationId xmlns:a16="http://schemas.microsoft.com/office/drawing/2014/main" id="{CDBCBB62-75E7-F0A7-1D4D-908B651F58DF}"/>
                  </a:ext>
                </a:extLst>
              </p:cNvPr>
              <p:cNvSpPr/>
              <p:nvPr/>
            </p:nvSpPr>
            <p:spPr>
              <a:xfrm>
                <a:off x="4171385" y="5346379"/>
                <a:ext cx="1031611" cy="615297"/>
              </a:xfrm>
              <a:prstGeom prst="left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BFBDC28A-FE8F-FB7E-BBF9-7DC6A7F43387}"/>
                  </a:ext>
                </a:extLst>
              </p:cNvPr>
              <p:cNvSpPr txBox="1"/>
              <p:nvPr/>
            </p:nvSpPr>
            <p:spPr>
              <a:xfrm>
                <a:off x="4358408" y="5471494"/>
                <a:ext cx="11237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600" i="1"/>
                  <a:t>one-to-one</a:t>
                </a:r>
                <a:r>
                  <a:rPr lang="de-DE" i="1"/>
                  <a:t> </a:t>
                </a:r>
                <a:r>
                  <a:rPr lang="de-DE" b="1" i="1"/>
                  <a:t>IPC</a:t>
                </a:r>
              </a:p>
            </p:txBody>
          </p:sp>
        </p:grpSp>
        <p:grpSp>
          <p:nvGrpSpPr>
            <p:cNvPr id="39" name="Gruppieren 38">
              <a:extLst>
                <a:ext uri="{FF2B5EF4-FFF2-40B4-BE49-F238E27FC236}">
                  <a16:creationId xmlns:a16="http://schemas.microsoft.com/office/drawing/2014/main" id="{5C295ABA-726E-BEB9-93B2-A964EC2FB25B}"/>
                </a:ext>
              </a:extLst>
            </p:cNvPr>
            <p:cNvGrpSpPr/>
            <p:nvPr/>
          </p:nvGrpSpPr>
          <p:grpSpPr>
            <a:xfrm>
              <a:off x="4509873" y="2950077"/>
              <a:ext cx="2259244" cy="1933271"/>
              <a:chOff x="4452536" y="3661405"/>
              <a:chExt cx="2259244" cy="1933271"/>
            </a:xfrm>
          </p:grpSpPr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83C9C3DD-E000-BB6B-66F0-25359ED0A276}"/>
                  </a:ext>
                </a:extLst>
              </p:cNvPr>
              <p:cNvSpPr/>
              <p:nvPr/>
            </p:nvSpPr>
            <p:spPr>
              <a:xfrm>
                <a:off x="4452536" y="4950286"/>
                <a:ext cx="2257200" cy="64439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" name="Rechteck 35">
                <a:extLst>
                  <a:ext uri="{FF2B5EF4-FFF2-40B4-BE49-F238E27FC236}">
                    <a16:creationId xmlns:a16="http://schemas.microsoft.com/office/drawing/2014/main" id="{B027EAE7-778E-F0D1-CE6D-E1B5921BE5F2}"/>
                  </a:ext>
                </a:extLst>
              </p:cNvPr>
              <p:cNvSpPr/>
              <p:nvPr/>
            </p:nvSpPr>
            <p:spPr>
              <a:xfrm>
                <a:off x="4454099" y="4306086"/>
                <a:ext cx="2257200" cy="64439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7" name="Rechteck 36">
                <a:extLst>
                  <a:ext uri="{FF2B5EF4-FFF2-40B4-BE49-F238E27FC236}">
                    <a16:creationId xmlns:a16="http://schemas.microsoft.com/office/drawing/2014/main" id="{28EDDA27-D452-2E2A-7613-4820424CE402}"/>
                  </a:ext>
                </a:extLst>
              </p:cNvPr>
              <p:cNvSpPr/>
              <p:nvPr/>
            </p:nvSpPr>
            <p:spPr>
              <a:xfrm>
                <a:off x="4454098" y="3661405"/>
                <a:ext cx="2257682" cy="64439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9680CA55-2F20-DE97-A8A3-4EDC1C28019B}"/>
                  </a:ext>
                </a:extLst>
              </p:cNvPr>
              <p:cNvSpPr txBox="1"/>
              <p:nvPr/>
            </p:nvSpPr>
            <p:spPr>
              <a:xfrm>
                <a:off x="4602889" y="3716107"/>
                <a:ext cx="2055050" cy="4924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400" i="1"/>
                  <a:t>PropertyBag</a:t>
                </a:r>
                <a:r>
                  <a:rPr lang="de-DE" sz="1400"/>
                  <a:t> </a:t>
                </a:r>
              </a:p>
              <a:p>
                <a:pPr algn="ctr"/>
                <a:r>
                  <a:rPr lang="de-DE" sz="1200"/>
                  <a:t>(Serialisierungs-Konvention)</a:t>
                </a:r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F265159E-B6A2-DD6C-1BEA-8939B11D054E}"/>
                  </a:ext>
                </a:extLst>
              </p:cNvPr>
              <p:cNvSpPr txBox="1"/>
              <p:nvPr/>
            </p:nvSpPr>
            <p:spPr>
              <a:xfrm>
                <a:off x="4673154" y="4362510"/>
                <a:ext cx="1876668" cy="5232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de-DE" sz="2200" b="1">
                    <a:solidFill>
                      <a:srgbClr val="002060"/>
                    </a:solidFill>
                  </a:rPr>
                  <a:t>JAP</a:t>
                </a:r>
                <a:r>
                  <a:rPr lang="de-DE"/>
                  <a:t> </a:t>
                </a:r>
              </a:p>
              <a:p>
                <a:pPr algn="ctr"/>
                <a:r>
                  <a:rPr lang="de-DE" sz="1200"/>
                  <a:t>(Josyn-Application-Protocol)</a:t>
                </a:r>
              </a:p>
            </p:txBody>
          </p:sp>
          <p:sp>
            <p:nvSpPr>
              <p:cNvPr id="26" name="Textfeld 25">
                <a:extLst>
                  <a:ext uri="{FF2B5EF4-FFF2-40B4-BE49-F238E27FC236}">
                    <a16:creationId xmlns:a16="http://schemas.microsoft.com/office/drawing/2014/main" id="{BF5874DA-9FDF-B60F-AFFA-6A03CC9DC350}"/>
                  </a:ext>
                </a:extLst>
              </p:cNvPr>
              <p:cNvSpPr txBox="1"/>
              <p:nvPr/>
            </p:nvSpPr>
            <p:spPr>
              <a:xfrm>
                <a:off x="4506666" y="5002292"/>
                <a:ext cx="2190600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600" b="1"/>
                  <a:t>JIP</a:t>
                </a:r>
                <a:r>
                  <a:rPr lang="de-DE"/>
                  <a:t> </a:t>
                </a:r>
              </a:p>
              <a:p>
                <a:pPr algn="ctr"/>
                <a:r>
                  <a:rPr lang="de-DE" sz="1200"/>
                  <a:t>(Josyn-Inter-Process-Protocol)</a:t>
                </a:r>
              </a:p>
            </p:txBody>
          </p:sp>
        </p:grpSp>
      </p:grpSp>
      <p:sp>
        <p:nvSpPr>
          <p:cNvPr id="41" name="Rechteck 40">
            <a:extLst>
              <a:ext uri="{FF2B5EF4-FFF2-40B4-BE49-F238E27FC236}">
                <a16:creationId xmlns:a16="http://schemas.microsoft.com/office/drawing/2014/main" id="{FF7D70AA-7401-2EF1-A496-6DABFA43A84C}"/>
              </a:ext>
            </a:extLst>
          </p:cNvPr>
          <p:cNvSpPr/>
          <p:nvPr/>
        </p:nvSpPr>
        <p:spPr>
          <a:xfrm>
            <a:off x="2423160" y="594238"/>
            <a:ext cx="6254496" cy="5175227"/>
          </a:xfrm>
          <a:prstGeom prst="rect">
            <a:avLst/>
          </a:prstGeom>
          <a:noFill/>
          <a:ln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29C9F6E1-E731-3BD8-837C-2F293DBB0185}"/>
              </a:ext>
            </a:extLst>
          </p:cNvPr>
          <p:cNvSpPr txBox="1"/>
          <p:nvPr/>
        </p:nvSpPr>
        <p:spPr>
          <a:xfrm>
            <a:off x="2488692" y="575951"/>
            <a:ext cx="22445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>
                <a:solidFill>
                  <a:srgbClr val="002060"/>
                </a:solidFill>
              </a:rPr>
              <a:t>josyn-platform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A921330F-E52A-A145-8FD5-BED746646F2F}"/>
              </a:ext>
            </a:extLst>
          </p:cNvPr>
          <p:cNvSpPr txBox="1"/>
          <p:nvPr/>
        </p:nvSpPr>
        <p:spPr>
          <a:xfrm>
            <a:off x="2765601" y="2077144"/>
            <a:ext cx="137236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i="1">
                <a:solidFill>
                  <a:srgbClr val="7030A0"/>
                </a:solidFill>
              </a:rPr>
              <a:t>Die Backend-</a:t>
            </a:r>
          </a:p>
          <a:p>
            <a:pPr algn="ctr"/>
            <a:r>
              <a:rPr lang="de-DE" sz="1600" i="1">
                <a:solidFill>
                  <a:srgbClr val="7030A0"/>
                </a:solidFill>
              </a:rPr>
              <a:t>Domäne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3FC3E53E-063D-7A79-E069-F6886FD665FE}"/>
              </a:ext>
            </a:extLst>
          </p:cNvPr>
          <p:cNvSpPr txBox="1"/>
          <p:nvPr/>
        </p:nvSpPr>
        <p:spPr>
          <a:xfrm>
            <a:off x="7063519" y="2061836"/>
            <a:ext cx="13049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i="1">
                <a:solidFill>
                  <a:schemeClr val="tx2">
                    <a:lumMod val="75000"/>
                    <a:lumOff val="25000"/>
                  </a:schemeClr>
                </a:solidFill>
              </a:rPr>
              <a:t>Die Job-Dev-</a:t>
            </a:r>
          </a:p>
          <a:p>
            <a:pPr algn="ctr"/>
            <a:r>
              <a:rPr lang="de-DE" sz="1600" i="1">
                <a:solidFill>
                  <a:schemeClr val="tx2">
                    <a:lumMod val="75000"/>
                    <a:lumOff val="25000"/>
                  </a:schemeClr>
                </a:solidFill>
              </a:rPr>
              <a:t>Domäne</a:t>
            </a:r>
          </a:p>
        </p:txBody>
      </p: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C7684F1C-DD38-E1F9-9E7D-63BF50AF41B5}"/>
              </a:ext>
            </a:extLst>
          </p:cNvPr>
          <p:cNvGrpSpPr/>
          <p:nvPr/>
        </p:nvGrpSpPr>
        <p:grpSpPr>
          <a:xfrm>
            <a:off x="4778425" y="4266463"/>
            <a:ext cx="1615269" cy="495116"/>
            <a:chOff x="5359908" y="5411908"/>
            <a:chExt cx="1615269" cy="495116"/>
          </a:xfrm>
        </p:grpSpPr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0C05F1C2-3811-9AA4-9035-C2B8F40017B3}"/>
                </a:ext>
              </a:extLst>
            </p:cNvPr>
            <p:cNvSpPr/>
            <p:nvPr/>
          </p:nvSpPr>
          <p:spPr>
            <a:xfrm>
              <a:off x="5359908" y="5411908"/>
              <a:ext cx="1609958" cy="49511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AE8E6F37-E9A2-1C70-C7F9-6247B2500A1F}"/>
                </a:ext>
              </a:extLst>
            </p:cNvPr>
            <p:cNvSpPr txBox="1"/>
            <p:nvPr/>
          </p:nvSpPr>
          <p:spPr>
            <a:xfrm>
              <a:off x="5416737" y="5469482"/>
              <a:ext cx="15584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i="1"/>
                <a:t>result-pattern</a:t>
              </a:r>
            </a:p>
          </p:txBody>
        </p:sp>
      </p:grpSp>
      <p:sp>
        <p:nvSpPr>
          <p:cNvPr id="54" name="Textfeld 53">
            <a:extLst>
              <a:ext uri="{FF2B5EF4-FFF2-40B4-BE49-F238E27FC236}">
                <a16:creationId xmlns:a16="http://schemas.microsoft.com/office/drawing/2014/main" id="{AA9EA5D3-621B-9C50-B056-2086FB81DB97}"/>
              </a:ext>
            </a:extLst>
          </p:cNvPr>
          <p:cNvSpPr txBox="1"/>
          <p:nvPr/>
        </p:nvSpPr>
        <p:spPr>
          <a:xfrm>
            <a:off x="8043342" y="4767218"/>
            <a:ext cx="409133" cy="215444"/>
          </a:xfrm>
          <a:prstGeom prst="rect">
            <a:avLst/>
          </a:prstGeom>
          <a:solidFill>
            <a:srgbClr val="FFFF99"/>
          </a:solidFill>
          <a:ln>
            <a:solidFill>
              <a:schemeClr val="tx1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de-DE" sz="1400" i="1"/>
              <a:t>exe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E1D95646-D94D-E609-3596-E0ECF595C118}"/>
              </a:ext>
            </a:extLst>
          </p:cNvPr>
          <p:cNvSpPr/>
          <p:nvPr/>
        </p:nvSpPr>
        <p:spPr>
          <a:xfrm>
            <a:off x="4682645" y="5207483"/>
            <a:ext cx="1810819" cy="362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06726E73-68A3-72B5-4F89-B169BB4AB21B}"/>
              </a:ext>
            </a:extLst>
          </p:cNvPr>
          <p:cNvSpPr txBox="1"/>
          <p:nvPr/>
        </p:nvSpPr>
        <p:spPr>
          <a:xfrm>
            <a:off x="5108993" y="5236916"/>
            <a:ext cx="9717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commons</a:t>
            </a:r>
          </a:p>
        </p:txBody>
      </p:sp>
      <p:cxnSp>
        <p:nvCxnSpPr>
          <p:cNvPr id="14" name="Verbinder: gewinkelt 13">
            <a:extLst>
              <a:ext uri="{FF2B5EF4-FFF2-40B4-BE49-F238E27FC236}">
                <a16:creationId xmlns:a16="http://schemas.microsoft.com/office/drawing/2014/main" id="{5DB5EC1F-84A8-CF58-DB02-C7DD833858FF}"/>
              </a:ext>
            </a:extLst>
          </p:cNvPr>
          <p:cNvCxnSpPr>
            <a:cxnSpLocks/>
            <a:stCxn id="4" idx="2"/>
            <a:endCxn id="3" idx="1"/>
          </p:cNvCxnSpPr>
          <p:nvPr/>
        </p:nvCxnSpPr>
        <p:spPr>
          <a:xfrm rot="16200000" flipH="1">
            <a:off x="3910628" y="4616785"/>
            <a:ext cx="313883" cy="1230151"/>
          </a:xfrm>
          <a:prstGeom prst="bentConnector2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85E569F4-D3E0-3205-7B4F-19CC77215735}"/>
              </a:ext>
            </a:extLst>
          </p:cNvPr>
          <p:cNvCxnSpPr>
            <a:cxnSpLocks/>
            <a:stCxn id="12" idx="2"/>
            <a:endCxn id="3" idx="3"/>
          </p:cNvCxnSpPr>
          <p:nvPr/>
        </p:nvCxnSpPr>
        <p:spPr>
          <a:xfrm rot="5400000">
            <a:off x="6949266" y="4619118"/>
            <a:ext cx="313884" cy="1225487"/>
          </a:xfrm>
          <a:prstGeom prst="bentConnector2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F899CDE9-1718-F877-F800-B71A5F1720E0}"/>
              </a:ext>
            </a:extLst>
          </p:cNvPr>
          <p:cNvGrpSpPr/>
          <p:nvPr/>
        </p:nvGrpSpPr>
        <p:grpSpPr>
          <a:xfrm>
            <a:off x="2790000" y="3259426"/>
            <a:ext cx="1478776" cy="791538"/>
            <a:chOff x="541429" y="351742"/>
            <a:chExt cx="1478776" cy="791538"/>
          </a:xfrm>
        </p:grpSpPr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461608AD-D0F2-B843-7F1B-9C6A7E9377E5}"/>
                </a:ext>
              </a:extLst>
            </p:cNvPr>
            <p:cNvSpPr/>
            <p:nvPr/>
          </p:nvSpPr>
          <p:spPr>
            <a:xfrm>
              <a:off x="548021" y="378232"/>
              <a:ext cx="1472184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B72B45D8-9BF8-3191-5D89-A1479EE47801}"/>
                </a:ext>
              </a:extLst>
            </p:cNvPr>
            <p:cNvSpPr txBox="1"/>
            <p:nvPr/>
          </p:nvSpPr>
          <p:spPr>
            <a:xfrm>
              <a:off x="541429" y="351742"/>
              <a:ext cx="12470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/>
                <a:t>jap-server</a:t>
              </a:r>
            </a:p>
          </p:txBody>
        </p:sp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343AE1E2-52D3-3C0C-D38A-B7A47100DA4B}"/>
                </a:ext>
              </a:extLst>
            </p:cNvPr>
            <p:cNvSpPr txBox="1"/>
            <p:nvPr/>
          </p:nvSpPr>
          <p:spPr>
            <a:xfrm>
              <a:off x="1558775" y="855775"/>
              <a:ext cx="409133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exe</a:t>
              </a:r>
            </a:p>
          </p:txBody>
        </p: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484B72EE-1AF4-ED3B-2269-6EBF3EF20E5F}"/>
              </a:ext>
            </a:extLst>
          </p:cNvPr>
          <p:cNvGrpSpPr/>
          <p:nvPr/>
        </p:nvGrpSpPr>
        <p:grpSpPr>
          <a:xfrm>
            <a:off x="6900963" y="3259426"/>
            <a:ext cx="1485126" cy="791538"/>
            <a:chOff x="482782" y="1498463"/>
            <a:chExt cx="1485126" cy="791538"/>
          </a:xfrm>
        </p:grpSpPr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461D6F97-1702-13E9-9DCA-470F6798F5AA}"/>
                </a:ext>
              </a:extLst>
            </p:cNvPr>
            <p:cNvSpPr/>
            <p:nvPr/>
          </p:nvSpPr>
          <p:spPr>
            <a:xfrm>
              <a:off x="495724" y="1524953"/>
              <a:ext cx="1472184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3AE0A586-5043-D2ED-A98A-5EC4872809E4}"/>
                </a:ext>
              </a:extLst>
            </p:cNvPr>
            <p:cNvSpPr txBox="1"/>
            <p:nvPr/>
          </p:nvSpPr>
          <p:spPr>
            <a:xfrm>
              <a:off x="482782" y="1498463"/>
              <a:ext cx="10579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job-host</a:t>
              </a:r>
            </a:p>
          </p:txBody>
        </p: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A00C6A97-9C40-7549-F047-6F30FD58AA3E}"/>
                </a:ext>
              </a:extLst>
            </p:cNvPr>
            <p:cNvSpPr txBox="1"/>
            <p:nvPr/>
          </p:nvSpPr>
          <p:spPr>
            <a:xfrm>
              <a:off x="1332488" y="2003766"/>
              <a:ext cx="580077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nuget</a:t>
              </a:r>
            </a:p>
          </p:txBody>
        </p:sp>
      </p:grp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7872D480-DB70-13E6-C9BA-54B48E954916}"/>
              </a:ext>
            </a:extLst>
          </p:cNvPr>
          <p:cNvCxnSpPr>
            <a:cxnSpLocks/>
            <a:stCxn id="3" idx="0"/>
            <a:endCxn id="46" idx="2"/>
          </p:cNvCxnSpPr>
          <p:nvPr/>
        </p:nvCxnSpPr>
        <p:spPr>
          <a:xfrm flipH="1" flipV="1">
            <a:off x="5583404" y="4761579"/>
            <a:ext cx="4651" cy="44590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4E8549EA-CA33-0A8F-869C-5FA2A73FBE7D}"/>
              </a:ext>
            </a:extLst>
          </p:cNvPr>
          <p:cNvCxnSpPr>
            <a:cxnSpLocks/>
            <a:stCxn id="22" idx="5"/>
            <a:endCxn id="46" idx="0"/>
          </p:cNvCxnSpPr>
          <p:nvPr/>
        </p:nvCxnSpPr>
        <p:spPr>
          <a:xfrm>
            <a:off x="5577444" y="3853277"/>
            <a:ext cx="5960" cy="41318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2CC6EBBF-D766-A9F8-D774-D75A5E49A95E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4270247" y="4514021"/>
            <a:ext cx="508178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06CDEC7A-9F71-5E9C-5533-F385D711B98A}"/>
              </a:ext>
            </a:extLst>
          </p:cNvPr>
          <p:cNvCxnSpPr>
            <a:cxnSpLocks/>
            <a:endCxn id="46" idx="3"/>
          </p:cNvCxnSpPr>
          <p:nvPr/>
        </p:nvCxnSpPr>
        <p:spPr>
          <a:xfrm flipH="1">
            <a:off x="6388383" y="4514021"/>
            <a:ext cx="525522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Pfeil: nach oben 99">
            <a:extLst>
              <a:ext uri="{FF2B5EF4-FFF2-40B4-BE49-F238E27FC236}">
                <a16:creationId xmlns:a16="http://schemas.microsoft.com/office/drawing/2014/main" id="{274287BF-DA51-94F7-35B1-AB7663E277AB}"/>
              </a:ext>
            </a:extLst>
          </p:cNvPr>
          <p:cNvSpPr/>
          <p:nvPr/>
        </p:nvSpPr>
        <p:spPr>
          <a:xfrm>
            <a:off x="5466978" y="3109203"/>
            <a:ext cx="203200" cy="350142"/>
          </a:xfrm>
          <a:prstGeom prst="upArrow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1" name="Pfeil: nach oben 100">
            <a:extLst>
              <a:ext uri="{FF2B5EF4-FFF2-40B4-BE49-F238E27FC236}">
                <a16:creationId xmlns:a16="http://schemas.microsoft.com/office/drawing/2014/main" id="{AB51E722-8560-F1DA-6936-1003079B13EC}"/>
              </a:ext>
            </a:extLst>
          </p:cNvPr>
          <p:cNvSpPr/>
          <p:nvPr/>
        </p:nvSpPr>
        <p:spPr>
          <a:xfrm>
            <a:off x="4522788" y="1150405"/>
            <a:ext cx="103159" cy="1821394"/>
          </a:xfrm>
          <a:prstGeom prst="upArrow">
            <a:avLst>
              <a:gd name="adj1" fmla="val 31533"/>
              <a:gd name="adj2" fmla="val 107708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6354980-44E7-1FC9-0A42-235E5DBF69BF}"/>
              </a:ext>
            </a:extLst>
          </p:cNvPr>
          <p:cNvSpPr/>
          <p:nvPr/>
        </p:nvSpPr>
        <p:spPr>
          <a:xfrm rot="16200000">
            <a:off x="3917831" y="1971594"/>
            <a:ext cx="1320610" cy="19428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D35F14C2-2CB3-AF3E-413F-BAD3A7110F03}"/>
              </a:ext>
            </a:extLst>
          </p:cNvPr>
          <p:cNvSpPr txBox="1"/>
          <p:nvPr/>
        </p:nvSpPr>
        <p:spPr>
          <a:xfrm rot="16200000">
            <a:off x="3908631" y="1974749"/>
            <a:ext cx="1320609" cy="184666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r>
              <a:rPr lang="de-DE" sz="1200" b="1">
                <a:solidFill>
                  <a:srgbClr val="002060"/>
                </a:solidFill>
              </a:rPr>
              <a:t>JAP</a:t>
            </a:r>
            <a:r>
              <a:rPr lang="de-DE" sz="1200">
                <a:solidFill>
                  <a:srgbClr val="002060"/>
                </a:solidFill>
              </a:rPr>
              <a:t> protocol-stack</a:t>
            </a:r>
          </a:p>
        </p:txBody>
      </p:sp>
    </p:spTree>
    <p:extLst>
      <p:ext uri="{BB962C8B-B14F-4D97-AF65-F5344CB8AC3E}">
        <p14:creationId xmlns:p14="http://schemas.microsoft.com/office/powerpoint/2010/main" val="37712640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517</Words>
  <Application>Microsoft Office PowerPoint</Application>
  <PresentationFormat>Breitbild</PresentationFormat>
  <Paragraphs>171</Paragraphs>
  <Slides>10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Christofer Kluth</dc:creator>
  <cp:lastModifiedBy>Kluth, Christofer</cp:lastModifiedBy>
  <cp:revision>5</cp:revision>
  <dcterms:created xsi:type="dcterms:W3CDTF">2026-06-10T06:03:57Z</dcterms:created>
  <dcterms:modified xsi:type="dcterms:W3CDTF">2026-06-11T13:07:34Z</dcterms:modified>
</cp:coreProperties>
</file>