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0" r:id="rId9"/>
    <p:sldId id="277" r:id="rId10"/>
    <p:sldId id="269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z.B.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</a:t>
            </a:r>
            <a:r>
              <a:rPr lang="de-DE" sz="3200"/>
              <a:t>oder</a:t>
            </a:r>
            <a:r>
              <a:rPr lang="de-DE" sz="3200" b="1" i="1"/>
              <a:t> </a:t>
            </a:r>
            <a:r>
              <a:rPr lang="de-DE" sz="3200" b="1" i="1">
                <a:solidFill>
                  <a:srgbClr val="0070C0"/>
                </a:solidFill>
              </a:rPr>
              <a:t>TPM-Initiative</a:t>
            </a:r>
            <a:r>
              <a:rPr lang="de-DE" sz="3200" b="1" i="1"/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/>
              <a:t>=&gt; Hausaufgaben!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17499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Vorschlag für einen </a:t>
            </a:r>
            <a:r>
              <a:rPr lang="de-DE" sz="2400" b="1">
                <a:solidFill>
                  <a:srgbClr val="0070C0"/>
                </a:solidFill>
              </a:rPr>
              <a:t>effizienten</a:t>
            </a:r>
            <a:r>
              <a:rPr lang="de-DE" sz="2400" b="1"/>
              <a:t> Arbeitsmodus der </a:t>
            </a:r>
            <a:r>
              <a:rPr lang="de-DE" sz="2400" b="1">
                <a:solidFill>
                  <a:srgbClr val="0070C0"/>
                </a:solidFill>
              </a:rPr>
              <a:t>TPM-Initiative</a:t>
            </a:r>
            <a:r>
              <a:rPr lang="de-DE" sz="2400" b="1"/>
              <a:t>.</a:t>
            </a:r>
          </a:p>
          <a:p>
            <a:r>
              <a:rPr lang="de-DE" sz="2000"/>
              <a:t>Für die ersten Milestones - bis zu einem expliziten Moduswechsel    -  ein „logisches Modell“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6B53896-6C8B-1230-0871-5F4B219403D0}"/>
              </a:ext>
            </a:extLst>
          </p:cNvPr>
          <p:cNvGrpSpPr/>
          <p:nvPr/>
        </p:nvGrpSpPr>
        <p:grpSpPr>
          <a:xfrm>
            <a:off x="396665" y="996619"/>
            <a:ext cx="10695457" cy="5707277"/>
            <a:chOff x="396665" y="996619"/>
            <a:chExt cx="10695457" cy="5707277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A641D5CD-A10A-A6CF-3B93-366069861F24}"/>
                </a:ext>
              </a:extLst>
            </p:cNvPr>
            <p:cNvGrpSpPr/>
            <p:nvPr/>
          </p:nvGrpSpPr>
          <p:grpSpPr>
            <a:xfrm>
              <a:off x="396665" y="996619"/>
              <a:ext cx="10695457" cy="5707277"/>
              <a:chOff x="396665" y="996619"/>
              <a:chExt cx="10695457" cy="5707277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4F1D6A53-778D-D4CA-DF28-B32614F2BC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27643" y="1378047"/>
                <a:ext cx="34835" cy="4038599"/>
              </a:xfrm>
              <a:prstGeom prst="line">
                <a:avLst/>
              </a:prstGeom>
              <a:ln w="28575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BD7EA1E-C351-FA16-597F-C8904AEE55E8}"/>
                  </a:ext>
                </a:extLst>
              </p:cNvPr>
              <p:cNvSpPr txBox="1"/>
              <p:nvPr/>
            </p:nvSpPr>
            <p:spPr>
              <a:xfrm>
                <a:off x="396665" y="996619"/>
                <a:ext cx="35085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b="1">
                    <a:solidFill>
                      <a:srgbClr val="002060"/>
                    </a:solidFill>
                  </a:rPr>
                  <a:t>„CKL-Domain“ </a:t>
                </a:r>
                <a:r>
                  <a:rPr lang="de-DE" sz="2400">
                    <a:solidFill>
                      <a:srgbClr val="002060"/>
                    </a:solidFill>
                  </a:rPr>
                  <a:t>(GitHub)</a:t>
                </a:r>
              </a:p>
            </p:txBody>
          </p: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48A6FD9-47FD-C5EB-4F97-78E97694F368}"/>
                  </a:ext>
                </a:extLst>
              </p:cNvPr>
              <p:cNvSpPr txBox="1"/>
              <p:nvPr/>
            </p:nvSpPr>
            <p:spPr>
              <a:xfrm>
                <a:off x="8143751" y="1012888"/>
                <a:ext cx="294837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b="1">
                    <a:solidFill>
                      <a:srgbClr val="002060"/>
                    </a:solidFill>
                  </a:rPr>
                  <a:t>HÄVG-SWE-Domain</a:t>
                </a:r>
              </a:p>
            </p:txBody>
          </p:sp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D900BFE-C88A-3A8A-B9AB-D4E4F9F8A368}"/>
                  </a:ext>
                </a:extLst>
              </p:cNvPr>
              <p:cNvSpPr txBox="1"/>
              <p:nvPr/>
            </p:nvSpPr>
            <p:spPr>
              <a:xfrm>
                <a:off x="4963072" y="1012888"/>
                <a:ext cx="226273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b="1">
                    <a:solidFill>
                      <a:srgbClr val="002060"/>
                    </a:solidFill>
                  </a:rPr>
                  <a:t>„Staging-Pipe“</a:t>
                </a:r>
              </a:p>
            </p:txBody>
          </p:sp>
          <p:sp>
            <p:nvSpPr>
              <p:cNvPr id="15" name="Pfeil: nach links 14">
                <a:extLst>
                  <a:ext uri="{FF2B5EF4-FFF2-40B4-BE49-F238E27FC236}">
                    <a16:creationId xmlns:a16="http://schemas.microsoft.com/office/drawing/2014/main" id="{2C0A912A-2832-E5FD-10A4-D85EAC1FA583}"/>
                  </a:ext>
                </a:extLst>
              </p:cNvPr>
              <p:cNvSpPr/>
              <p:nvPr/>
            </p:nvSpPr>
            <p:spPr>
              <a:xfrm rot="10800000">
                <a:off x="3920844" y="3189355"/>
                <a:ext cx="1131789" cy="392399"/>
              </a:xfrm>
              <a:prstGeom prst="leftArrow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39258206-4131-12A3-660F-17B889C6B58A}"/>
                  </a:ext>
                </a:extLst>
              </p:cNvPr>
              <p:cNvSpPr/>
              <p:nvPr/>
            </p:nvSpPr>
            <p:spPr>
              <a:xfrm>
                <a:off x="5283779" y="3035621"/>
                <a:ext cx="1507308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Proposal</a:t>
                </a:r>
              </a:p>
            </p:txBody>
          </p:sp>
          <p:sp>
            <p:nvSpPr>
              <p:cNvPr id="20" name="Ellipse 19">
                <a:extLst>
                  <a:ext uri="{FF2B5EF4-FFF2-40B4-BE49-F238E27FC236}">
                    <a16:creationId xmlns:a16="http://schemas.microsoft.com/office/drawing/2014/main" id="{71B297BD-EB29-7936-AFE6-4B0B3CCC06CA}"/>
                  </a:ext>
                </a:extLst>
              </p:cNvPr>
              <p:cNvSpPr/>
              <p:nvPr/>
            </p:nvSpPr>
            <p:spPr>
              <a:xfrm>
                <a:off x="5298361" y="4065689"/>
                <a:ext cx="1507308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Proposal</a:t>
                </a:r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90575A8D-8C72-B615-A545-E12FE53533E5}"/>
                  </a:ext>
                </a:extLst>
              </p:cNvPr>
              <p:cNvSpPr/>
              <p:nvPr/>
            </p:nvSpPr>
            <p:spPr>
              <a:xfrm>
                <a:off x="5283779" y="1991506"/>
                <a:ext cx="1507308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Proposal</a:t>
                </a:r>
              </a:p>
            </p:txBody>
          </p:sp>
          <p:sp>
            <p:nvSpPr>
              <p:cNvPr id="22" name="Ellipse 21">
                <a:extLst>
                  <a:ext uri="{FF2B5EF4-FFF2-40B4-BE49-F238E27FC236}">
                    <a16:creationId xmlns:a16="http://schemas.microsoft.com/office/drawing/2014/main" id="{2063DA56-F4AD-AC48-CCFA-10F491C2F167}"/>
                  </a:ext>
                </a:extLst>
              </p:cNvPr>
              <p:cNvSpPr/>
              <p:nvPr/>
            </p:nvSpPr>
            <p:spPr>
              <a:xfrm>
                <a:off x="8806465" y="1912429"/>
                <a:ext cx="1507308" cy="74295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Decision</a:t>
                </a:r>
              </a:p>
            </p:txBody>
          </p:sp>
          <p:sp>
            <p:nvSpPr>
              <p:cNvPr id="23" name="Ellipse 22">
                <a:extLst>
                  <a:ext uri="{FF2B5EF4-FFF2-40B4-BE49-F238E27FC236}">
                    <a16:creationId xmlns:a16="http://schemas.microsoft.com/office/drawing/2014/main" id="{6BCAFD35-9659-BAB9-4F1B-2ACD5A03309D}"/>
                  </a:ext>
                </a:extLst>
              </p:cNvPr>
              <p:cNvSpPr/>
              <p:nvPr/>
            </p:nvSpPr>
            <p:spPr>
              <a:xfrm>
                <a:off x="8806465" y="3062454"/>
                <a:ext cx="1507308" cy="74295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Decision</a:t>
                </a:r>
              </a:p>
            </p:txBody>
          </p:sp>
          <p:sp>
            <p:nvSpPr>
              <p:cNvPr id="24" name="Ellipse 23">
                <a:extLst>
                  <a:ext uri="{FF2B5EF4-FFF2-40B4-BE49-F238E27FC236}">
                    <a16:creationId xmlns:a16="http://schemas.microsoft.com/office/drawing/2014/main" id="{57C1F23F-BCC7-4F6C-01C3-846DEC0EFEC0}"/>
                  </a:ext>
                </a:extLst>
              </p:cNvPr>
              <p:cNvSpPr/>
              <p:nvPr/>
            </p:nvSpPr>
            <p:spPr>
              <a:xfrm>
                <a:off x="8786282" y="4176879"/>
                <a:ext cx="1507308" cy="74295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Decision</a:t>
                </a:r>
              </a:p>
            </p:txBody>
          </p:sp>
          <p:pic>
            <p:nvPicPr>
              <p:cNvPr id="29" name="Grafik 28">
                <a:extLst>
                  <a:ext uri="{FF2B5EF4-FFF2-40B4-BE49-F238E27FC236}">
                    <a16:creationId xmlns:a16="http://schemas.microsoft.com/office/drawing/2014/main" id="{FD624151-C93A-C1A6-942A-96A2AF69FF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31976" y="5750805"/>
                <a:ext cx="953091" cy="953091"/>
              </a:xfrm>
              <a:prstGeom prst="rect">
                <a:avLst/>
              </a:prstGeom>
            </p:spPr>
          </p:pic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2D9EE726-1AF9-8340-FED4-B3EFF74430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70828" y="1330703"/>
                <a:ext cx="18730" cy="4038599"/>
              </a:xfrm>
              <a:prstGeom prst="line">
                <a:avLst/>
              </a:prstGeom>
              <a:ln w="762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952CADCB-1CB0-F1CA-741C-CB151AC44414}"/>
                  </a:ext>
                </a:extLst>
              </p:cNvPr>
              <p:cNvSpPr/>
              <p:nvPr/>
            </p:nvSpPr>
            <p:spPr>
              <a:xfrm>
                <a:off x="7461549" y="2590503"/>
                <a:ext cx="888973" cy="159010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7" name="Pfeil: nach links 26">
                <a:extLst>
                  <a:ext uri="{FF2B5EF4-FFF2-40B4-BE49-F238E27FC236}">
                    <a16:creationId xmlns:a16="http://schemas.microsoft.com/office/drawing/2014/main" id="{D78CB09B-750F-9588-B243-6B065C35AC72}"/>
                  </a:ext>
                </a:extLst>
              </p:cNvPr>
              <p:cNvSpPr/>
              <p:nvPr/>
            </p:nvSpPr>
            <p:spPr>
              <a:xfrm rot="10800000">
                <a:off x="7396254" y="3106178"/>
                <a:ext cx="1131789" cy="392399"/>
              </a:xfrm>
              <a:prstGeom prst="leftArrow">
                <a:avLst/>
              </a:prstGeom>
              <a:solidFill>
                <a:schemeClr val="accent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37" name="Grafik 36">
                <a:extLst>
                  <a:ext uri="{FF2B5EF4-FFF2-40B4-BE49-F238E27FC236}">
                    <a16:creationId xmlns:a16="http://schemas.microsoft.com/office/drawing/2014/main" id="{B265D967-E0F6-75E0-AD93-28D8EEA450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16635" y="2518542"/>
                <a:ext cx="660908" cy="660908"/>
              </a:xfrm>
              <a:prstGeom prst="rect">
                <a:avLst/>
              </a:prstGeom>
            </p:spPr>
          </p:pic>
          <p:pic>
            <p:nvPicPr>
              <p:cNvPr id="40" name="Grafik 39">
                <a:extLst>
                  <a:ext uri="{FF2B5EF4-FFF2-40B4-BE49-F238E27FC236}">
                    <a16:creationId xmlns:a16="http://schemas.microsoft.com/office/drawing/2014/main" id="{606A1F1B-FF16-5FB9-1B7C-71990D18D2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7509541" y="3243197"/>
                <a:ext cx="742950" cy="742950"/>
              </a:xfrm>
              <a:prstGeom prst="rect">
                <a:avLst/>
              </a:prstGeom>
            </p:spPr>
          </p:pic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76BD3CD9-1AA6-01F6-ECFD-1B3E54261B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05036" y="5386421"/>
                <a:ext cx="2245072" cy="0"/>
              </a:xfrm>
              <a:prstGeom prst="line">
                <a:avLst/>
              </a:prstGeom>
              <a:ln w="28575"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Pfeil: nach links 29">
                <a:extLst>
                  <a:ext uri="{FF2B5EF4-FFF2-40B4-BE49-F238E27FC236}">
                    <a16:creationId xmlns:a16="http://schemas.microsoft.com/office/drawing/2014/main" id="{23F6AB9C-6C3F-7896-F149-587F6EA65541}"/>
                  </a:ext>
                </a:extLst>
              </p:cNvPr>
              <p:cNvSpPr/>
              <p:nvPr/>
            </p:nvSpPr>
            <p:spPr>
              <a:xfrm rot="16200000">
                <a:off x="5701910" y="5135504"/>
                <a:ext cx="742952" cy="392399"/>
              </a:xfrm>
              <a:prstGeom prst="leftArrow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3" name="Ellipse 52">
                <a:extLst>
                  <a:ext uri="{FF2B5EF4-FFF2-40B4-BE49-F238E27FC236}">
                    <a16:creationId xmlns:a16="http://schemas.microsoft.com/office/drawing/2014/main" id="{4CE273E4-DACC-18FE-B1F2-F22205DF295C}"/>
                  </a:ext>
                </a:extLst>
              </p:cNvPr>
              <p:cNvSpPr/>
              <p:nvPr/>
            </p:nvSpPr>
            <p:spPr>
              <a:xfrm>
                <a:off x="2500189" y="2978527"/>
                <a:ext cx="1240011" cy="742950"/>
              </a:xfrm>
              <a:prstGeom prst="ellipse">
                <a:avLst/>
              </a:prstGeom>
              <a:solidFill>
                <a:schemeClr val="tx2">
                  <a:lumMod val="50000"/>
                  <a:lumOff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600" b="1"/>
                  <a:t>Raw</a:t>
                </a:r>
              </a:p>
            </p:txBody>
          </p:sp>
          <p:pic>
            <p:nvPicPr>
              <p:cNvPr id="54" name="Grafik 53">
                <a:extLst>
                  <a:ext uri="{FF2B5EF4-FFF2-40B4-BE49-F238E27FC236}">
                    <a16:creationId xmlns:a16="http://schemas.microsoft.com/office/drawing/2014/main" id="{F4B67388-3290-E097-0F90-89890F1565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5139109" y="4787658"/>
                <a:ext cx="742950" cy="742950"/>
              </a:xfrm>
              <a:prstGeom prst="rect">
                <a:avLst/>
              </a:prstGeom>
            </p:spPr>
          </p:pic>
          <p:pic>
            <p:nvPicPr>
              <p:cNvPr id="55" name="Grafik 54">
                <a:extLst>
                  <a:ext uri="{FF2B5EF4-FFF2-40B4-BE49-F238E27FC236}">
                    <a16:creationId xmlns:a16="http://schemas.microsoft.com/office/drawing/2014/main" id="{BB923A5B-0DCC-6EC9-543A-79CED09BB2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7540445" y="3566427"/>
                <a:ext cx="742950" cy="742950"/>
              </a:xfrm>
              <a:prstGeom prst="rect">
                <a:avLst/>
              </a:prstGeom>
            </p:spPr>
          </p:pic>
        </p:grpSp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5A5D133E-2F3E-D728-61FD-48C7E29F3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757477">
              <a:off x="794680" y="2579908"/>
              <a:ext cx="2182825" cy="21828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54884" y="1204601"/>
            <a:ext cx="6265164" cy="2351399"/>
            <a:chOff x="2900934" y="2068201"/>
            <a:chExt cx="6265164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00934" y="2068201"/>
              <a:ext cx="61375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one logical job-session-process in two separate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951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71015"/>
            <a:ext cx="841875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/>
              <a:t>Schaffung eines leichtgewichtigen </a:t>
            </a:r>
            <a:r>
              <a:rPr lang="de-DE" sz="1600" b="1" i="1"/>
              <a:t>one-to-one-IPC-Application-Protocols</a:t>
            </a:r>
            <a:r>
              <a:rPr lang="de-DE" sz="1600" b="1"/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</a:t>
            </a:r>
          </a:p>
          <a:p>
            <a:r>
              <a:rPr lang="de-DE" sz="1600"/>
              <a:t>Auf einer Maschine - unterhalb des Netzwerkstacks (keine Firewall, etc.)</a:t>
            </a:r>
          </a:p>
          <a:p>
            <a:endParaRPr lang="de-DE" sz="1800"/>
          </a:p>
          <a:p>
            <a:r>
              <a:rPr lang="de-DE" sz="1800" b="1">
                <a:solidFill>
                  <a:srgbClr val="0070C0"/>
                </a:solidFill>
              </a:rPr>
              <a:t>Zwei</a:t>
            </a:r>
            <a:r>
              <a:rPr lang="de-DE" sz="1800" b="1"/>
              <a:t> logisch, technologisch und architekturell getrennte </a:t>
            </a:r>
            <a:r>
              <a:rPr lang="de-DE" sz="1800" b="1" i="1">
                <a:solidFill>
                  <a:srgbClr val="0070C0"/>
                </a:solidFill>
              </a:rPr>
              <a:t>Domänen</a:t>
            </a:r>
            <a:r>
              <a:rPr lang="de-DE" sz="1800" b="1" i="1"/>
              <a:t>…</a:t>
            </a:r>
          </a:p>
          <a:p>
            <a:r>
              <a:rPr lang="de-DE" sz="1800"/>
              <a:t>…mit einer l</a:t>
            </a:r>
            <a:r>
              <a:rPr lang="de-DE"/>
              <a:t>eichtgewichtige Kopplung über das </a:t>
            </a:r>
            <a:r>
              <a:rPr lang="de-DE" b="1"/>
              <a:t>JAP-Protokoll</a:t>
            </a:r>
            <a:r>
              <a:rPr lang="de-DE"/>
              <a:t>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feld 41">
            <a:extLst>
              <a:ext uri="{FF2B5EF4-FFF2-40B4-BE49-F238E27FC236}">
                <a16:creationId xmlns:a16="http://schemas.microsoft.com/office/drawing/2014/main" id="{50C5CCA2-97C4-F1BE-3F7D-E940CEC2760C}"/>
              </a:ext>
            </a:extLst>
          </p:cNvPr>
          <p:cNvSpPr txBox="1"/>
          <p:nvPr/>
        </p:nvSpPr>
        <p:spPr>
          <a:xfrm>
            <a:off x="518868" y="181599"/>
            <a:ext cx="77120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(PoC/Proposal) | paramount perspective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DD36379-05F6-3345-4AD2-DB2E75B70F7E}"/>
              </a:ext>
            </a:extLst>
          </p:cNvPr>
          <p:cNvGrpSpPr/>
          <p:nvPr/>
        </p:nvGrpSpPr>
        <p:grpSpPr>
          <a:xfrm>
            <a:off x="876459" y="3796470"/>
            <a:ext cx="3276600" cy="2328105"/>
            <a:chOff x="4429125" y="1110420"/>
            <a:chExt cx="3276600" cy="2328105"/>
          </a:xfrm>
        </p:grpSpPr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4CB9E22E-A679-3625-A2E9-80C148B99629}"/>
                </a:ext>
              </a:extLst>
            </p:cNvPr>
            <p:cNvSpPr/>
            <p:nvPr/>
          </p:nvSpPr>
          <p:spPr>
            <a:xfrm>
              <a:off x="4429125" y="1323975"/>
              <a:ext cx="3276600" cy="2114550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0" name="Gruppieren 59">
              <a:extLst>
                <a:ext uri="{FF2B5EF4-FFF2-40B4-BE49-F238E27FC236}">
                  <a16:creationId xmlns:a16="http://schemas.microsoft.com/office/drawing/2014/main" id="{C76509CC-5BDF-2B15-D4B2-376C29E338EA}"/>
                </a:ext>
              </a:extLst>
            </p:cNvPr>
            <p:cNvGrpSpPr/>
            <p:nvPr/>
          </p:nvGrpSpPr>
          <p:grpSpPr>
            <a:xfrm>
              <a:off x="4568656" y="1536242"/>
              <a:ext cx="1013326" cy="1702258"/>
              <a:chOff x="1820150" y="924493"/>
              <a:chExt cx="1013326" cy="1681581"/>
            </a:xfrm>
          </p:grpSpPr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3E8347AF-8829-7A63-DC62-5C9AB8121017}"/>
                  </a:ext>
                </a:extLst>
              </p:cNvPr>
              <p:cNvSpPr/>
              <p:nvPr/>
            </p:nvSpPr>
            <p:spPr>
              <a:xfrm>
                <a:off x="1820150" y="924493"/>
                <a:ext cx="1013326" cy="168158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8" name="Grafik 27">
                <a:extLst>
                  <a:ext uri="{FF2B5EF4-FFF2-40B4-BE49-F238E27FC236}">
                    <a16:creationId xmlns:a16="http://schemas.microsoft.com/office/drawing/2014/main" id="{16202F63-A2FB-3668-081C-369352E559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8263" y="1330212"/>
                <a:ext cx="855213" cy="855212"/>
              </a:xfrm>
              <a:prstGeom prst="rect">
                <a:avLst/>
              </a:prstGeom>
            </p:spPr>
          </p:pic>
        </p:grp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B0D9FBAA-BCE2-2FF0-FFAB-6060B1DFB1BA}"/>
                </a:ext>
              </a:extLst>
            </p:cNvPr>
            <p:cNvSpPr txBox="1"/>
            <p:nvPr/>
          </p:nvSpPr>
          <p:spPr>
            <a:xfrm>
              <a:off x="4568656" y="1110420"/>
              <a:ext cx="696587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2060"/>
                  </a:solidFill>
                </a:rPr>
                <a:t>prod</a:t>
              </a:r>
              <a:endParaRPr lang="de-DE">
                <a:solidFill>
                  <a:srgbClr val="002060"/>
                </a:solidFill>
              </a:endParaRPr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E8653C20-8972-EC34-25A6-B089321287B6}"/>
                </a:ext>
              </a:extLst>
            </p:cNvPr>
            <p:cNvSpPr/>
            <p:nvPr/>
          </p:nvSpPr>
          <p:spPr>
            <a:xfrm>
              <a:off x="5716443" y="1536242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1AED45E9-3916-3984-E674-F11578A47931}"/>
                </a:ext>
              </a:extLst>
            </p:cNvPr>
            <p:cNvSpPr/>
            <p:nvPr/>
          </p:nvSpPr>
          <p:spPr>
            <a:xfrm>
              <a:off x="5716443" y="2139035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9B6DEE85-7BC1-53D6-9ACA-E05E1290F534}"/>
                </a:ext>
              </a:extLst>
            </p:cNvPr>
            <p:cNvSpPr/>
            <p:nvPr/>
          </p:nvSpPr>
          <p:spPr>
            <a:xfrm>
              <a:off x="5716442" y="2735364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57DB5F-8A73-70C4-46AD-A6915AF162EB}"/>
                </a:ext>
              </a:extLst>
            </p:cNvPr>
            <p:cNvSpPr txBox="1"/>
            <p:nvPr/>
          </p:nvSpPr>
          <p:spPr>
            <a:xfrm>
              <a:off x="5850900" y="1624215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p-01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916C6AF-5735-AD9B-5D3B-E6F4198E60C6}"/>
                </a:ext>
              </a:extLst>
            </p:cNvPr>
            <p:cNvSpPr txBox="1"/>
            <p:nvPr/>
          </p:nvSpPr>
          <p:spPr>
            <a:xfrm>
              <a:off x="5850900" y="2230354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p-02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F6FEFC5E-B681-FA39-B677-FA10127052A3}"/>
                </a:ext>
              </a:extLst>
            </p:cNvPr>
            <p:cNvSpPr txBox="1"/>
            <p:nvPr/>
          </p:nvSpPr>
          <p:spPr>
            <a:xfrm>
              <a:off x="5850900" y="2801973"/>
              <a:ext cx="16353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p-n…</a:t>
              </a:r>
            </a:p>
          </p:txBody>
        </p: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EE4963FB-A264-E120-0B48-FD97B4F6733F}"/>
              </a:ext>
            </a:extLst>
          </p:cNvPr>
          <p:cNvGrpSpPr/>
          <p:nvPr/>
        </p:nvGrpSpPr>
        <p:grpSpPr>
          <a:xfrm>
            <a:off x="4411341" y="3796470"/>
            <a:ext cx="3276600" cy="2328105"/>
            <a:chOff x="4429125" y="1110420"/>
            <a:chExt cx="3276600" cy="2328105"/>
          </a:xfrm>
        </p:grpSpPr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42E0F9F9-AB2E-BBB9-42C3-0FDB5AD82563}"/>
                </a:ext>
              </a:extLst>
            </p:cNvPr>
            <p:cNvSpPr/>
            <p:nvPr/>
          </p:nvSpPr>
          <p:spPr>
            <a:xfrm>
              <a:off x="4429125" y="1323975"/>
              <a:ext cx="3276600" cy="2114550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2C4302CE-B741-4526-8E63-153F56D6BC45}"/>
                </a:ext>
              </a:extLst>
            </p:cNvPr>
            <p:cNvGrpSpPr/>
            <p:nvPr/>
          </p:nvGrpSpPr>
          <p:grpSpPr>
            <a:xfrm>
              <a:off x="4568656" y="1536242"/>
              <a:ext cx="1013326" cy="1702258"/>
              <a:chOff x="1820150" y="924493"/>
              <a:chExt cx="1013326" cy="1681581"/>
            </a:xfrm>
          </p:grpSpPr>
          <p:sp>
            <p:nvSpPr>
              <p:cNvPr id="86" name="Rechteck 85">
                <a:extLst>
                  <a:ext uri="{FF2B5EF4-FFF2-40B4-BE49-F238E27FC236}">
                    <a16:creationId xmlns:a16="http://schemas.microsoft.com/office/drawing/2014/main" id="{CDF4E0B1-2D28-F2BB-6C23-A9D4F09D89B1}"/>
                  </a:ext>
                </a:extLst>
              </p:cNvPr>
              <p:cNvSpPr/>
              <p:nvPr/>
            </p:nvSpPr>
            <p:spPr>
              <a:xfrm>
                <a:off x="1820150" y="924493"/>
                <a:ext cx="1013326" cy="168158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87" name="Grafik 86">
                <a:extLst>
                  <a:ext uri="{FF2B5EF4-FFF2-40B4-BE49-F238E27FC236}">
                    <a16:creationId xmlns:a16="http://schemas.microsoft.com/office/drawing/2014/main" id="{E11E8A44-0E0B-1FFC-8DD7-1EF39AF065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8263" y="1330212"/>
                <a:ext cx="855213" cy="855212"/>
              </a:xfrm>
              <a:prstGeom prst="rect">
                <a:avLst/>
              </a:prstGeom>
            </p:spPr>
          </p:pic>
        </p:grp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376A21D2-038F-AEED-87CD-16482ACCEA85}"/>
                </a:ext>
              </a:extLst>
            </p:cNvPr>
            <p:cNvSpPr txBox="1"/>
            <p:nvPr/>
          </p:nvSpPr>
          <p:spPr>
            <a:xfrm>
              <a:off x="4568656" y="1110420"/>
              <a:ext cx="54484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2060"/>
                  </a:solidFill>
                </a:rPr>
                <a:t>int</a:t>
              </a:r>
              <a:endParaRPr lang="de-DE">
                <a:solidFill>
                  <a:srgbClr val="002060"/>
                </a:solidFill>
              </a:endParaRPr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903E0E31-6D1C-14CB-10A4-98A52811B2EF}"/>
                </a:ext>
              </a:extLst>
            </p:cNvPr>
            <p:cNvSpPr/>
            <p:nvPr/>
          </p:nvSpPr>
          <p:spPr>
            <a:xfrm>
              <a:off x="5716443" y="1536242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9E63DD4D-A10D-DEC7-D199-A4578F8CACCB}"/>
                </a:ext>
              </a:extLst>
            </p:cNvPr>
            <p:cNvSpPr/>
            <p:nvPr/>
          </p:nvSpPr>
          <p:spPr>
            <a:xfrm>
              <a:off x="5716443" y="2139035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Rechteck 81">
              <a:extLst>
                <a:ext uri="{FF2B5EF4-FFF2-40B4-BE49-F238E27FC236}">
                  <a16:creationId xmlns:a16="http://schemas.microsoft.com/office/drawing/2014/main" id="{6D74EE23-41B8-60FE-F242-FFF287168719}"/>
                </a:ext>
              </a:extLst>
            </p:cNvPr>
            <p:cNvSpPr/>
            <p:nvPr/>
          </p:nvSpPr>
          <p:spPr>
            <a:xfrm>
              <a:off x="5716442" y="2735364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054ED0B3-6854-2677-853F-42A117DE03C3}"/>
                </a:ext>
              </a:extLst>
            </p:cNvPr>
            <p:cNvSpPr txBox="1"/>
            <p:nvPr/>
          </p:nvSpPr>
          <p:spPr>
            <a:xfrm>
              <a:off x="5850900" y="162421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i-01</a:t>
              </a:r>
            </a:p>
          </p:txBody>
        </p:sp>
        <p:sp>
          <p:nvSpPr>
            <p:cNvPr id="84" name="Textfeld 83">
              <a:extLst>
                <a:ext uri="{FF2B5EF4-FFF2-40B4-BE49-F238E27FC236}">
                  <a16:creationId xmlns:a16="http://schemas.microsoft.com/office/drawing/2014/main" id="{B1A741D4-10F8-B2BB-3E86-7CDDEC7DF6D5}"/>
                </a:ext>
              </a:extLst>
            </p:cNvPr>
            <p:cNvSpPr txBox="1"/>
            <p:nvPr/>
          </p:nvSpPr>
          <p:spPr>
            <a:xfrm>
              <a:off x="5850900" y="2230354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i-02</a:t>
              </a:r>
            </a:p>
          </p:txBody>
        </p: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F44DE05C-5E2E-FE5D-2571-E3B5D5FA9728}"/>
                </a:ext>
              </a:extLst>
            </p:cNvPr>
            <p:cNvSpPr txBox="1"/>
            <p:nvPr/>
          </p:nvSpPr>
          <p:spPr>
            <a:xfrm>
              <a:off x="5850900" y="2801973"/>
              <a:ext cx="15600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i-n…</a:t>
              </a:r>
            </a:p>
          </p:txBody>
        </p:sp>
      </p:grp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F2C764CF-ED26-F5B0-866D-E42804B1FBEE}"/>
              </a:ext>
            </a:extLst>
          </p:cNvPr>
          <p:cNvGrpSpPr/>
          <p:nvPr/>
        </p:nvGrpSpPr>
        <p:grpSpPr>
          <a:xfrm>
            <a:off x="7974798" y="3796470"/>
            <a:ext cx="3276600" cy="2328105"/>
            <a:chOff x="4429125" y="1110420"/>
            <a:chExt cx="3276600" cy="2328105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5C4AAD48-7E7D-D14C-9309-279D0FB96342}"/>
                </a:ext>
              </a:extLst>
            </p:cNvPr>
            <p:cNvSpPr/>
            <p:nvPr/>
          </p:nvSpPr>
          <p:spPr>
            <a:xfrm>
              <a:off x="4429125" y="1323975"/>
              <a:ext cx="3276600" cy="2114550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E34142B9-CD46-8E11-6609-60F55464A347}"/>
                </a:ext>
              </a:extLst>
            </p:cNvPr>
            <p:cNvGrpSpPr/>
            <p:nvPr/>
          </p:nvGrpSpPr>
          <p:grpSpPr>
            <a:xfrm>
              <a:off x="4568656" y="1536242"/>
              <a:ext cx="1013326" cy="1702258"/>
              <a:chOff x="1820150" y="924493"/>
              <a:chExt cx="1013326" cy="1681581"/>
            </a:xfrm>
          </p:grpSpPr>
          <p:sp>
            <p:nvSpPr>
              <p:cNvPr id="98" name="Rechteck 97">
                <a:extLst>
                  <a:ext uri="{FF2B5EF4-FFF2-40B4-BE49-F238E27FC236}">
                    <a16:creationId xmlns:a16="http://schemas.microsoft.com/office/drawing/2014/main" id="{B6C7D4EA-0E05-2D0D-4018-7B4F42898C0F}"/>
                  </a:ext>
                </a:extLst>
              </p:cNvPr>
              <p:cNvSpPr/>
              <p:nvPr/>
            </p:nvSpPr>
            <p:spPr>
              <a:xfrm>
                <a:off x="1820150" y="924493"/>
                <a:ext cx="1013326" cy="168158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99" name="Grafik 98">
                <a:extLst>
                  <a:ext uri="{FF2B5EF4-FFF2-40B4-BE49-F238E27FC236}">
                    <a16:creationId xmlns:a16="http://schemas.microsoft.com/office/drawing/2014/main" id="{EA56D6D8-0873-0FF5-0493-01D608F0DB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8263" y="1330212"/>
                <a:ext cx="855213" cy="855212"/>
              </a:xfrm>
              <a:prstGeom prst="rect">
                <a:avLst/>
              </a:prstGeom>
            </p:spPr>
          </p:pic>
        </p:grpSp>
        <p:sp>
          <p:nvSpPr>
            <p:cNvPr id="91" name="Textfeld 90">
              <a:extLst>
                <a:ext uri="{FF2B5EF4-FFF2-40B4-BE49-F238E27FC236}">
                  <a16:creationId xmlns:a16="http://schemas.microsoft.com/office/drawing/2014/main" id="{107567DF-9219-EAF1-13E4-F84B16FA045C}"/>
                </a:ext>
              </a:extLst>
            </p:cNvPr>
            <p:cNvSpPr txBox="1"/>
            <p:nvPr/>
          </p:nvSpPr>
          <p:spPr>
            <a:xfrm>
              <a:off x="4568658" y="1110420"/>
              <a:ext cx="63898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2060"/>
                  </a:solidFill>
                </a:rPr>
                <a:t>dev</a:t>
              </a:r>
              <a:endParaRPr lang="de-DE">
                <a:solidFill>
                  <a:srgbClr val="002060"/>
                </a:solidFill>
              </a:endParaRPr>
            </a:p>
          </p:txBody>
        </p:sp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2CCA74BF-3293-AECA-C971-1243362D1AE7}"/>
                </a:ext>
              </a:extLst>
            </p:cNvPr>
            <p:cNvSpPr/>
            <p:nvPr/>
          </p:nvSpPr>
          <p:spPr>
            <a:xfrm>
              <a:off x="5716443" y="1536242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166D5F45-6124-CC15-B12A-EEFD35172EAE}"/>
                </a:ext>
              </a:extLst>
            </p:cNvPr>
            <p:cNvSpPr/>
            <p:nvPr/>
          </p:nvSpPr>
          <p:spPr>
            <a:xfrm>
              <a:off x="5716443" y="2139035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5F366AA7-423F-E0CE-7DF0-8AF2DC627312}"/>
                </a:ext>
              </a:extLst>
            </p:cNvPr>
            <p:cNvSpPr/>
            <p:nvPr/>
          </p:nvSpPr>
          <p:spPr>
            <a:xfrm>
              <a:off x="5716442" y="2735364"/>
              <a:ext cx="1827357" cy="529654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5" name="Textfeld 94">
              <a:extLst>
                <a:ext uri="{FF2B5EF4-FFF2-40B4-BE49-F238E27FC236}">
                  <a16:creationId xmlns:a16="http://schemas.microsoft.com/office/drawing/2014/main" id="{074E4030-D716-B2B4-5A74-15FC4412210C}"/>
                </a:ext>
              </a:extLst>
            </p:cNvPr>
            <p:cNvSpPr txBox="1"/>
            <p:nvPr/>
          </p:nvSpPr>
          <p:spPr>
            <a:xfrm>
              <a:off x="5850900" y="1624215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d-01</a:t>
              </a:r>
            </a:p>
          </p:txBody>
        </p:sp>
        <p:sp>
          <p:nvSpPr>
            <p:cNvPr id="96" name="Textfeld 95">
              <a:extLst>
                <a:ext uri="{FF2B5EF4-FFF2-40B4-BE49-F238E27FC236}">
                  <a16:creationId xmlns:a16="http://schemas.microsoft.com/office/drawing/2014/main" id="{8A15E1CF-E576-C90E-6B8F-7524A7D5F13D}"/>
                </a:ext>
              </a:extLst>
            </p:cNvPr>
            <p:cNvSpPr txBox="1"/>
            <p:nvPr/>
          </p:nvSpPr>
          <p:spPr>
            <a:xfrm>
              <a:off x="5850900" y="2230354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d-02</a:t>
              </a:r>
            </a:p>
          </p:txBody>
        </p:sp>
        <p:sp>
          <p:nvSpPr>
            <p:cNvPr id="97" name="Textfeld 96">
              <a:extLst>
                <a:ext uri="{FF2B5EF4-FFF2-40B4-BE49-F238E27FC236}">
                  <a16:creationId xmlns:a16="http://schemas.microsoft.com/office/drawing/2014/main" id="{31D3AC5B-EE0A-220D-2953-47545DE25B9E}"/>
                </a:ext>
              </a:extLst>
            </p:cNvPr>
            <p:cNvSpPr txBox="1"/>
            <p:nvPr/>
          </p:nvSpPr>
          <p:spPr>
            <a:xfrm>
              <a:off x="5850900" y="2801973"/>
              <a:ext cx="16353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/>
                <a:t>machine d-n…</a:t>
              </a:r>
            </a:p>
          </p:txBody>
        </p:sp>
      </p:grpSp>
      <p:sp>
        <p:nvSpPr>
          <p:cNvPr id="103" name="Rechteck 102">
            <a:extLst>
              <a:ext uri="{FF2B5EF4-FFF2-40B4-BE49-F238E27FC236}">
                <a16:creationId xmlns:a16="http://schemas.microsoft.com/office/drawing/2014/main" id="{BE8B31F0-3D7C-21FA-8743-F5C87A925FD5}"/>
              </a:ext>
            </a:extLst>
          </p:cNvPr>
          <p:cNvSpPr/>
          <p:nvPr/>
        </p:nvSpPr>
        <p:spPr>
          <a:xfrm>
            <a:off x="714533" y="1125781"/>
            <a:ext cx="9295418" cy="145945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04" name="Gruppieren 103">
            <a:extLst>
              <a:ext uri="{FF2B5EF4-FFF2-40B4-BE49-F238E27FC236}">
                <a16:creationId xmlns:a16="http://schemas.microsoft.com/office/drawing/2014/main" id="{AD91A5B5-C8A6-2FB6-DF17-EBFA34D56DBE}"/>
              </a:ext>
            </a:extLst>
          </p:cNvPr>
          <p:cNvGrpSpPr/>
          <p:nvPr/>
        </p:nvGrpSpPr>
        <p:grpSpPr>
          <a:xfrm>
            <a:off x="898218" y="1412926"/>
            <a:ext cx="1667177" cy="920997"/>
            <a:chOff x="1820149" y="924492"/>
            <a:chExt cx="1667177" cy="916340"/>
          </a:xfrm>
        </p:grpSpPr>
        <p:sp>
          <p:nvSpPr>
            <p:cNvPr id="112" name="Rechteck 111">
              <a:extLst>
                <a:ext uri="{FF2B5EF4-FFF2-40B4-BE49-F238E27FC236}">
                  <a16:creationId xmlns:a16="http://schemas.microsoft.com/office/drawing/2014/main" id="{973E445A-04D0-A221-AE3A-B7D0411F1F69}"/>
                </a:ext>
              </a:extLst>
            </p:cNvPr>
            <p:cNvSpPr/>
            <p:nvPr/>
          </p:nvSpPr>
          <p:spPr>
            <a:xfrm>
              <a:off x="1820149" y="924492"/>
              <a:ext cx="1667177" cy="9163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3" name="Grafik 112">
              <a:extLst>
                <a:ext uri="{FF2B5EF4-FFF2-40B4-BE49-F238E27FC236}">
                  <a16:creationId xmlns:a16="http://schemas.microsoft.com/office/drawing/2014/main" id="{B0524F46-216B-FE18-3C60-28CAE59FFD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05651" y="982919"/>
              <a:ext cx="551073" cy="551072"/>
            </a:xfrm>
            <a:prstGeom prst="rect">
              <a:avLst/>
            </a:prstGeom>
          </p:spPr>
        </p:pic>
      </p:grpSp>
      <p:sp>
        <p:nvSpPr>
          <p:cNvPr id="105" name="Textfeld 104">
            <a:extLst>
              <a:ext uri="{FF2B5EF4-FFF2-40B4-BE49-F238E27FC236}">
                <a16:creationId xmlns:a16="http://schemas.microsoft.com/office/drawing/2014/main" id="{D875A9FF-14FA-BD5C-9F79-534F63A0589A}"/>
              </a:ext>
            </a:extLst>
          </p:cNvPr>
          <p:cNvSpPr txBox="1"/>
          <p:nvPr/>
        </p:nvSpPr>
        <p:spPr>
          <a:xfrm>
            <a:off x="980746" y="928673"/>
            <a:ext cx="101332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70C0"/>
                </a:solidFill>
              </a:rPr>
              <a:t>surface</a:t>
            </a:r>
            <a:endParaRPr lang="de-DE">
              <a:solidFill>
                <a:srgbClr val="0070C0"/>
              </a:solidFill>
            </a:endParaRPr>
          </a:p>
        </p:txBody>
      </p:sp>
      <p:sp>
        <p:nvSpPr>
          <p:cNvPr id="117" name="Textfeld 116">
            <a:extLst>
              <a:ext uri="{FF2B5EF4-FFF2-40B4-BE49-F238E27FC236}">
                <a16:creationId xmlns:a16="http://schemas.microsoft.com/office/drawing/2014/main" id="{9C8ED44E-D5BC-9858-56C6-E0AF260DCC80}"/>
              </a:ext>
            </a:extLst>
          </p:cNvPr>
          <p:cNvSpPr txBox="1"/>
          <p:nvPr/>
        </p:nvSpPr>
        <p:spPr>
          <a:xfrm>
            <a:off x="3453127" y="2826667"/>
            <a:ext cx="2238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/>
              <a:t>HTTP | </a:t>
            </a:r>
            <a:r>
              <a:rPr lang="de-DE" sz="1600" b="1" i="1"/>
              <a:t>„</a:t>
            </a:r>
            <a:r>
              <a:rPr lang="de-DE" sz="1600" i="1"/>
              <a:t>RESTful CQRS“</a:t>
            </a:r>
          </a:p>
        </p:txBody>
      </p:sp>
      <p:sp>
        <p:nvSpPr>
          <p:cNvPr id="118" name="Rechteck 117">
            <a:extLst>
              <a:ext uri="{FF2B5EF4-FFF2-40B4-BE49-F238E27FC236}">
                <a16:creationId xmlns:a16="http://schemas.microsoft.com/office/drawing/2014/main" id="{4F8E0CC6-2221-A78D-B7C6-9962D37800BE}"/>
              </a:ext>
            </a:extLst>
          </p:cNvPr>
          <p:cNvSpPr/>
          <p:nvPr/>
        </p:nvSpPr>
        <p:spPr>
          <a:xfrm>
            <a:off x="714533" y="3651849"/>
            <a:ext cx="10724834" cy="2644176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38E01999-D87B-8334-4BC3-CF8F63EF3330}"/>
              </a:ext>
            </a:extLst>
          </p:cNvPr>
          <p:cNvSpPr txBox="1"/>
          <p:nvPr/>
        </p:nvSpPr>
        <p:spPr>
          <a:xfrm>
            <a:off x="965755" y="3435339"/>
            <a:ext cx="168219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area</a:t>
            </a:r>
            <a:endParaRPr lang="de-DE">
              <a:solidFill>
                <a:srgbClr val="002060"/>
              </a:solidFill>
            </a:endParaRP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4B7E8AA5-E7D8-99DE-40C2-701B6D8B773D}"/>
              </a:ext>
            </a:extLst>
          </p:cNvPr>
          <p:cNvSpPr txBox="1"/>
          <p:nvPr/>
        </p:nvSpPr>
        <p:spPr>
          <a:xfrm>
            <a:off x="3768942" y="1719823"/>
            <a:ext cx="45613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>
                <a:solidFill>
                  <a:srgbClr val="002060"/>
                </a:solidFill>
              </a:rPr>
              <a:t>superseeds the former „RemoteControl“…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>
                <a:solidFill>
                  <a:srgbClr val="002060"/>
                </a:solidFill>
              </a:rPr>
              <a:t>suspends all RDP needs…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>
                <a:solidFill>
                  <a:srgbClr val="002060"/>
                </a:solidFill>
              </a:rPr>
              <a:t>maybe a blazor-app </a:t>
            </a:r>
            <a:r>
              <a:rPr lang="de-DE" sz="1400" i="1">
                <a:solidFill>
                  <a:srgbClr val="002060"/>
                </a:solidFill>
              </a:rPr>
              <a:t>and</a:t>
            </a:r>
            <a:r>
              <a:rPr lang="de-DE" sz="1400">
                <a:solidFill>
                  <a:srgbClr val="002060"/>
                </a:solidFill>
              </a:rPr>
              <a:t> a set of maintainer-scripts…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C1592DBC-F813-61B3-2D7D-B7D57EFF4E51}"/>
              </a:ext>
            </a:extLst>
          </p:cNvPr>
          <p:cNvSpPr txBox="1"/>
          <p:nvPr/>
        </p:nvSpPr>
        <p:spPr>
          <a:xfrm>
            <a:off x="2873871" y="1319713"/>
            <a:ext cx="7136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de-DE" sz="2000" b="1" i="0">
                <a:solidFill>
                  <a:srgbClr val="0070C0"/>
                </a:solidFill>
                <a:effectLst/>
                <a:latin typeface="-apple-system"/>
              </a:rPr>
              <a:t>josyn-surface</a:t>
            </a:r>
            <a:r>
              <a:rPr lang="de-DE" sz="2000" b="1" i="0">
                <a:effectLst/>
                <a:latin typeface="-apple-system"/>
              </a:rPr>
              <a:t>: </a:t>
            </a:r>
            <a:r>
              <a:rPr lang="de-DE" sz="2000" i="1">
                <a:effectLst/>
                <a:latin typeface="-apple-system"/>
              </a:rPr>
              <a:t>the human window into a headless platform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28D79F58-3D43-8A57-D710-417F5DE2D833}"/>
              </a:ext>
            </a:extLst>
          </p:cNvPr>
          <p:cNvSpPr txBox="1"/>
          <p:nvPr/>
        </p:nvSpPr>
        <p:spPr>
          <a:xfrm>
            <a:off x="933609" y="1984443"/>
            <a:ext cx="15878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machine/env-registry</a:t>
            </a:r>
          </a:p>
        </p:txBody>
      </p:sp>
      <p:sp>
        <p:nvSpPr>
          <p:cNvPr id="128" name="Rechteck 127">
            <a:extLst>
              <a:ext uri="{FF2B5EF4-FFF2-40B4-BE49-F238E27FC236}">
                <a16:creationId xmlns:a16="http://schemas.microsoft.com/office/drawing/2014/main" id="{A2A13414-5EA5-9E8F-58E0-22A473AF6641}"/>
              </a:ext>
            </a:extLst>
          </p:cNvPr>
          <p:cNvSpPr/>
          <p:nvPr/>
        </p:nvSpPr>
        <p:spPr>
          <a:xfrm>
            <a:off x="10191230" y="1125781"/>
            <a:ext cx="1319401" cy="145945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0" name="Textfeld 129">
            <a:extLst>
              <a:ext uri="{FF2B5EF4-FFF2-40B4-BE49-F238E27FC236}">
                <a16:creationId xmlns:a16="http://schemas.microsoft.com/office/drawing/2014/main" id="{3CBCB20F-B13E-0255-8062-7C6EF7C749D1}"/>
              </a:ext>
            </a:extLst>
          </p:cNvPr>
          <p:cNvSpPr txBox="1"/>
          <p:nvPr/>
        </p:nvSpPr>
        <p:spPr>
          <a:xfrm>
            <a:off x="10247597" y="925032"/>
            <a:ext cx="118224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/>
              <a:t>pipelines</a:t>
            </a:r>
            <a:endParaRPr lang="de-DE"/>
          </a:p>
        </p:txBody>
      </p:sp>
      <p:pic>
        <p:nvPicPr>
          <p:cNvPr id="131" name="Grafik 130" descr="Azure DevOps Logo and symbol, meaning, history, PNG, brand">
            <a:extLst>
              <a:ext uri="{FF2B5EF4-FFF2-40B4-BE49-F238E27FC236}">
                <a16:creationId xmlns:a16="http://schemas.microsoft.com/office/drawing/2014/main" id="{6A3BD91A-5219-9F3A-7CE3-7A309B56D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5971" y="1399099"/>
            <a:ext cx="1661909" cy="934824"/>
          </a:xfrm>
          <a:prstGeom prst="rect">
            <a:avLst/>
          </a:prstGeom>
        </p:spPr>
      </p:pic>
      <p:sp>
        <p:nvSpPr>
          <p:cNvPr id="132" name="Pfeil: nach unten 131">
            <a:extLst>
              <a:ext uri="{FF2B5EF4-FFF2-40B4-BE49-F238E27FC236}">
                <a16:creationId xmlns:a16="http://schemas.microsoft.com/office/drawing/2014/main" id="{576641C9-365D-77E9-963D-35AA37547D38}"/>
              </a:ext>
            </a:extLst>
          </p:cNvPr>
          <p:cNvSpPr/>
          <p:nvPr/>
        </p:nvSpPr>
        <p:spPr>
          <a:xfrm>
            <a:off x="10557511" y="2746216"/>
            <a:ext cx="531961" cy="736070"/>
          </a:xfrm>
          <a:prstGeom prst="downArrow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3" name="Pfeil: nach unten 132">
            <a:extLst>
              <a:ext uri="{FF2B5EF4-FFF2-40B4-BE49-F238E27FC236}">
                <a16:creationId xmlns:a16="http://schemas.microsoft.com/office/drawing/2014/main" id="{B478007D-BFBB-FD6C-CE99-C85C9F7EF518}"/>
              </a:ext>
            </a:extLst>
          </p:cNvPr>
          <p:cNvSpPr/>
          <p:nvPr/>
        </p:nvSpPr>
        <p:spPr>
          <a:xfrm>
            <a:off x="5556886" y="2738769"/>
            <a:ext cx="531961" cy="733992"/>
          </a:xfrm>
          <a:prstGeom prst="downArrow">
            <a:avLst/>
          </a:prstGeom>
          <a:solidFill>
            <a:srgbClr val="FFE07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B6B5A38-C7D9-F3E4-BBCA-13B706702B2A}"/>
              </a:ext>
            </a:extLst>
          </p:cNvPr>
          <p:cNvSpPr txBox="1"/>
          <p:nvPr/>
        </p:nvSpPr>
        <p:spPr>
          <a:xfrm>
            <a:off x="1166826" y="5475673"/>
            <a:ext cx="75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josyn-db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29A42EA-1302-C5BB-E7F5-98137FE5C7FE}"/>
              </a:ext>
            </a:extLst>
          </p:cNvPr>
          <p:cNvSpPr txBox="1"/>
          <p:nvPr/>
        </p:nvSpPr>
        <p:spPr>
          <a:xfrm>
            <a:off x="8272442" y="5498728"/>
            <a:ext cx="75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josyn-db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F634CAE-426D-E3BA-C141-E67E010D4F10}"/>
              </a:ext>
            </a:extLst>
          </p:cNvPr>
          <p:cNvSpPr txBox="1"/>
          <p:nvPr/>
        </p:nvSpPr>
        <p:spPr>
          <a:xfrm>
            <a:off x="4715773" y="5498728"/>
            <a:ext cx="75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josyn-db</a:t>
            </a:r>
          </a:p>
        </p:txBody>
      </p: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589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064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92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(PoC/Proposal)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32231" y="48797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138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1038</Words>
  <Application>Microsoft Office PowerPoint</Application>
  <PresentationFormat>Breitbild</PresentationFormat>
  <Paragraphs>195</Paragraphs>
  <Slides>10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-apple-system</vt:lpstr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18</cp:revision>
  <dcterms:created xsi:type="dcterms:W3CDTF">2026-06-10T06:03:57Z</dcterms:created>
  <dcterms:modified xsi:type="dcterms:W3CDTF">2026-06-21T10:18:56Z</dcterms:modified>
</cp:coreProperties>
</file>